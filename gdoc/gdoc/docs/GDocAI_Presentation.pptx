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stacked"/>
        <c:varyColors val="0"/>
        <c:ser>
          <c:idx val="0"/>
          <c:order val="0"/>
          <c:tx>
            <c:strRef>
              <c:f>Sheet1!$B$1</c:f>
              <c:strCache>
                <c:ptCount val="1"/>
                <c:pt idx="0">
                  <c:v>Available</c:v>
                </c:pt>
              </c:strCache>
            </c:strRef>
          </c:tx>
          <c:spPr>
            <a:solidFill>
              <a:srgbClr val="22C5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Sheet1!$A$2:$A$15</c:f>
              <c:multiLvlStrCache>
                <c:ptCount val="14"/>
                <c:lvl>
                  <c:pt idx="0">
                    <c:v>1. Ingestion</c:v>
                  </c:pt>
                  <c:pt idx="1">
                    <c:v>2. OCR &amp; Extraction</c:v>
                  </c:pt>
                  <c:pt idx="2">
                    <c:v>3. AI Pipeline</c:v>
                  </c:pt>
                  <c:pt idx="3">
                    <c:v>4. GDoc DocType</c:v>
                  </c:pt>
                  <c:pt idx="4">
                    <c:v>5. Search</c:v>
                  </c:pt>
                  <c:pt idx="5">
                    <c:v>6. RAG Chat</c:v>
                  </c:pt>
                  <c:pt idx="6">
                    <c:v>7. Workflow</c:v>
                  </c:pt>
                  <c:pt idx="7">
                    <c:v>8. ERP Integration</c:v>
                  </c:pt>
                  <c:pt idx="8">
                    <c:v>9. Governance</c:v>
                  </c:pt>
                  <c:pt idx="9">
                    <c:v>10. Viewer</c:v>
                  </c:pt>
                  <c:pt idx="10">
                    <c:v>11. Notifications</c:v>
                  </c:pt>
                  <c:pt idx="11">
                    <c:v>12. Analytics</c:v>
                  </c:pt>
                  <c:pt idx="12">
                    <c:v>13. Mobile &amp; Desktop</c:v>
                  </c:pt>
                  <c:pt idx="13">
                    <c:v>14. Admin &amp; DevOps</c:v>
                  </c:pt>
                </c:lvl>
              </c:multiLvlStrCache>
            </c:multiLvlStrRef>
          </c:cat>
          <c:val>
            <c:numRef>
              <c:f>Sheet1!$B$2:$B$15</c:f>
              <c:numCache>
                <c:formatCode>General</c:formatCode>
                <c:ptCount val="14"/>
                <c:pt idx="0">
                  <c:v>1</c:v>
                </c:pt>
                <c:pt idx="1">
                  <c:v>0</c:v>
                </c:pt>
                <c:pt idx="2">
                  <c:v>0</c:v>
                </c:pt>
                <c:pt idx="3">
                  <c:v>1</c:v>
                </c:pt>
                <c:pt idx="4">
                  <c:v>1</c:v>
                </c:pt>
                <c:pt idx="5">
                  <c:v>0</c:v>
                </c:pt>
                <c:pt idx="6">
                  <c:v>4</c:v>
                </c:pt>
                <c:pt idx="7">
                  <c:v>1</c:v>
                </c:pt>
                <c:pt idx="8">
                  <c:v>1</c:v>
                </c:pt>
                <c:pt idx="9">
                  <c:v>1</c:v>
                </c:pt>
                <c:pt idx="10">
                  <c:v>2</c:v>
                </c:pt>
                <c:pt idx="11">
                  <c:v>2</c:v>
                </c:pt>
                <c:pt idx="12">
                  <c:v>1</c:v>
                </c:pt>
                <c:pt idx="13">
                  <c:v>3</c:v>
                </c:pt>
              </c:numCache>
            </c:numRef>
          </c:val>
        </c:ser>
        <c:ser>
          <c:idx val="1"/>
          <c:order val="1"/>
          <c:tx>
            <c:strRef>
              <c:f>Sheet1!$C$1</c:f>
              <c:strCache>
                <c:ptCount val="1"/>
                <c:pt idx="0">
                  <c:v>To Build</c:v>
                </c:pt>
              </c:strCache>
            </c:strRef>
          </c:tx>
          <c:spPr>
            <a:solidFill>
              <a:srgbClr val="EAB30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Sheet1!$A$2:$A$15</c:f>
              <c:multiLvlStrCache>
                <c:ptCount val="14"/>
                <c:lvl>
                  <c:pt idx="0">
                    <c:v>1. Ingestion</c:v>
                  </c:pt>
                  <c:pt idx="1">
                    <c:v>2. OCR &amp; Extraction</c:v>
                  </c:pt>
                  <c:pt idx="2">
                    <c:v>3. AI Pipeline</c:v>
                  </c:pt>
                  <c:pt idx="3">
                    <c:v>4. GDoc DocType</c:v>
                  </c:pt>
                  <c:pt idx="4">
                    <c:v>5. Search</c:v>
                  </c:pt>
                  <c:pt idx="5">
                    <c:v>6. RAG Chat</c:v>
                  </c:pt>
                  <c:pt idx="6">
                    <c:v>7. Workflow</c:v>
                  </c:pt>
                  <c:pt idx="7">
                    <c:v>8. ERP Integration</c:v>
                  </c:pt>
                  <c:pt idx="8">
                    <c:v>9. Governance</c:v>
                  </c:pt>
                  <c:pt idx="9">
                    <c:v>10. Viewer</c:v>
                  </c:pt>
                  <c:pt idx="10">
                    <c:v>11. Notifications</c:v>
                  </c:pt>
                  <c:pt idx="11">
                    <c:v>12. Analytics</c:v>
                  </c:pt>
                  <c:pt idx="12">
                    <c:v>13. Mobile &amp; Desktop</c:v>
                  </c:pt>
                  <c:pt idx="13">
                    <c:v>14. Admin &amp; DevOps</c:v>
                  </c:pt>
                </c:lvl>
              </c:multiLvlStrCache>
            </c:multiLvlStrRef>
          </c:cat>
          <c:val>
            <c:numRef>
              <c:f>Sheet1!$C$2:$C$15</c:f>
              <c:numCache>
                <c:formatCode>General</c:formatCode>
                <c:ptCount val="14"/>
                <c:pt idx="0">
                  <c:v>9</c:v>
                </c:pt>
                <c:pt idx="1">
                  <c:v>11</c:v>
                </c:pt>
                <c:pt idx="2">
                  <c:v>18</c:v>
                </c:pt>
                <c:pt idx="3">
                  <c:v>21</c:v>
                </c:pt>
                <c:pt idx="4">
                  <c:v>10</c:v>
                </c:pt>
                <c:pt idx="5">
                  <c:v>26</c:v>
                </c:pt>
                <c:pt idx="6">
                  <c:v>9</c:v>
                </c:pt>
                <c:pt idx="7">
                  <c:v>4</c:v>
                </c:pt>
                <c:pt idx="8">
                  <c:v>9</c:v>
                </c:pt>
                <c:pt idx="9">
                  <c:v>10</c:v>
                </c:pt>
                <c:pt idx="10">
                  <c:v>11</c:v>
                </c:pt>
                <c:pt idx="11">
                  <c:v>8</c:v>
                </c:pt>
                <c:pt idx="12">
                  <c:v>6</c:v>
                </c:pt>
                <c:pt idx="13">
                  <c:v>10</c:v>
                </c:pt>
              </c:numCache>
            </c:numRef>
          </c:val>
        </c:ser>
        <c:ser>
          <c:idx val="2"/>
          <c:order val="2"/>
          <c:tx>
            <c:strRef>
              <c:f>Sheet1!$D$1</c:f>
              <c:strCache>
                <c:ptCount val="1"/>
                <c:pt idx="0">
                  <c:v>Almost There</c:v>
                </c:pt>
              </c:strCache>
            </c:strRef>
          </c:tx>
          <c:spPr>
            <a:solidFill>
              <a:srgbClr val="3B82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Sheet1!$A$2:$A$15</c:f>
              <c:multiLvlStrCache>
                <c:ptCount val="14"/>
                <c:lvl>
                  <c:pt idx="0">
                    <c:v>1. Ingestion</c:v>
                  </c:pt>
                  <c:pt idx="1">
                    <c:v>2. OCR &amp; Extraction</c:v>
                  </c:pt>
                  <c:pt idx="2">
                    <c:v>3. AI Pipeline</c:v>
                  </c:pt>
                  <c:pt idx="3">
                    <c:v>4. GDoc DocType</c:v>
                  </c:pt>
                  <c:pt idx="4">
                    <c:v>5. Search</c:v>
                  </c:pt>
                  <c:pt idx="5">
                    <c:v>6. RAG Chat</c:v>
                  </c:pt>
                  <c:pt idx="6">
                    <c:v>7. Workflow</c:v>
                  </c:pt>
                  <c:pt idx="7">
                    <c:v>8. ERP Integration</c:v>
                  </c:pt>
                  <c:pt idx="8">
                    <c:v>9. Governance</c:v>
                  </c:pt>
                  <c:pt idx="9">
                    <c:v>10. Viewer</c:v>
                  </c:pt>
                  <c:pt idx="10">
                    <c:v>11. Notifications</c:v>
                  </c:pt>
                  <c:pt idx="11">
                    <c:v>12. Analytics</c:v>
                  </c:pt>
                  <c:pt idx="12">
                    <c:v>13. Mobile &amp; Desktop</c:v>
                  </c:pt>
                  <c:pt idx="13">
                    <c:v>14. Admin &amp; DevOps</c:v>
                  </c:pt>
                </c:lvl>
              </c:multiLvlStrCache>
            </c:multiLvlStrRef>
          </c:cat>
          <c:val>
            <c:numRef>
              <c:f>Sheet1!$D$2:$D$15</c:f>
              <c:numCache>
                <c:formatCode>General</c:formatCode>
                <c:ptCount val="14"/>
                <c:pt idx="0">
                  <c:v>1</c:v>
                </c:pt>
                <c:pt idx="1">
                  <c:v>1</c:v>
                </c:pt>
                <c:pt idx="2">
                  <c:v>0</c:v>
                </c:pt>
                <c:pt idx="3">
                  <c:v>3</c:v>
                </c:pt>
                <c:pt idx="4">
                  <c:v>3</c:v>
                </c:pt>
                <c:pt idx="5">
                  <c:v>1</c:v>
                </c:pt>
                <c:pt idx="6">
                  <c:v>1</c:v>
                </c:pt>
                <c:pt idx="7">
                  <c:v>3</c:v>
                </c:pt>
                <c:pt idx="8">
                  <c:v>4</c:v>
                </c:pt>
                <c:pt idx="9">
                  <c:v>1</c:v>
                </c:pt>
                <c:pt idx="10">
                  <c:v>2</c:v>
                </c:pt>
                <c:pt idx="11">
                  <c:v>2</c:v>
                </c:pt>
                <c:pt idx="12">
                  <c:v>1</c:v>
                </c:pt>
                <c:pt idx="13">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GDoc AI is an intelligent DMS built on top of Frappe Framework and Frappe Drive, extended by the changAI pipeline for OCR, vectorisation, RAG chat, and ERP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main sections. Start with screens to orient the client. Then flow for the dev team. Finally the feature matrix for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screens form the full user journey. Each screen hands off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upload screen is the front door. Frappe Drive handles the storage. changAI adds the 5 additional ingest channels, deduplication, and the AI queue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 detail page is the AI brain on display. Left = the file viewer. Right = the AI sidebar showing summary, extracted entities, ERP match suggestion, and inline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combines keyword (MeiliSearch on extracted text) and vector (pgvector semantic similarity), fused via Reciprocal Rank Fusion. Results show the actual text excerpt with matched terms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RAG chat is the flagship feature. The user asks a natural language question. The system retrieves relevant chunks from pgvector (filtered by Frappe permissions), assembles context, calls the LLM, and returns a cited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queue is built on top of native Frappe Workflow. changAI adds the AI tip per document (classifier confidence, ERP match status), SLA timer, and workload-balanced auto-assignment.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Frappe does the infrastructure. changAI does the intelligence. The two connect through the GDoc Document DocType.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is the bridge between the physical/scanned world and the AI world. Without it, scanned invoices are invisible to the system. Tesseract runs on the Ubuntu server — zero API cost. Cloud fallback only when confidence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changAI core. After OCR, every document goes through 5 AI steps. The results are stored as columns on the GDoc Document DocType — this is what we called 'putting changAI as a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three stages. Store is instant. User interaction happens whenever they want. The answer always comes back with full citations so users know exactly which document and page the answer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79% to-build figure is good news, not bad. It means changAI is the real value — the intelligence layer. Frappe handles everything boring so we can focus entirely on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stacked bar chart shows each module's breakdown. Use this slide with the dev team to prioritise build order. Suggested order: GDoc DocType first (unblocks everything), then OCR pipeline, then RAG chat, then workflow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maps the most important features to their build status. Share with the dev team as a starting-point backlog. The full 205-feature version is in the Excel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open source, all runs on the Ubuntu server. The only potential cost is the LLM API (OpenAI / Anthropic) — and even that is avoidable with Ollama running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recommended build order. GDoc Document DocType first because every subsequent step depends on it. Then OCR so content can enter. Then embeddings so it can be searched and chatted. Then the user-facing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5669280" y="-1828800"/>
            <a:ext cx="5486400" cy="5486400"/>
          </a:xfrm>
          <a:prstGeom prst="ellipse">
            <a:avLst/>
          </a:prstGeom>
          <a:solidFill>
            <a:srgbClr val="1D4ED8">
              <a:alpha val="18000"/>
            </a:srgbClr>
          </a:solidFill>
          <a:ln w="12700">
            <a:solidFill>
              <a:srgbClr val="1D4ED8">
                <a:alpha val="18000"/>
              </a:srgbClr>
            </a:solidFill>
            <a:prstDash val="solid"/>
          </a:ln>
        </p:spPr>
      </p:sp>
      <p:sp>
        <p:nvSpPr>
          <p:cNvPr id="3" name="Shape 1"/>
          <p:cNvSpPr/>
          <p:nvPr/>
        </p:nvSpPr>
        <p:spPr>
          <a:xfrm>
            <a:off x="7132320" y="3474720"/>
            <a:ext cx="3200400" cy="3200400"/>
          </a:xfrm>
          <a:prstGeom prst="ellipse">
            <a:avLst/>
          </a:prstGeom>
          <a:solidFill>
            <a:srgbClr val="0D9488">
              <a:alpha val="15000"/>
            </a:srgbClr>
          </a:solidFill>
          <a:ln w="12700">
            <a:solidFill>
              <a:srgbClr val="0D9488">
                <a:alpha val="15000"/>
              </a:srgbClr>
            </a:solidFill>
            <a:prstDash val="solid"/>
          </a:ln>
        </p:spPr>
      </p:sp>
      <p:sp>
        <p:nvSpPr>
          <p:cNvPr id="4" name="Shape 2"/>
          <p:cNvSpPr/>
          <p:nvPr/>
        </p:nvSpPr>
        <p:spPr>
          <a:xfrm>
            <a:off x="-914400" y="3200400"/>
            <a:ext cx="2743200" cy="2743200"/>
          </a:xfrm>
          <a:prstGeom prst="ellipse">
            <a:avLst/>
          </a:prstGeom>
          <a:solidFill>
            <a:srgbClr val="7C3AED">
              <a:alpha val="12000"/>
            </a:srgbClr>
          </a:solidFill>
          <a:ln w="12700">
            <a:solidFill>
              <a:srgbClr val="7C3AED">
                <a:alpha val="12000"/>
              </a:srgbClr>
            </a:solidFill>
            <a:prstDash val="solid"/>
          </a:ln>
        </p:spPr>
      </p:sp>
      <p:sp>
        <p:nvSpPr>
          <p:cNvPr id="5" name="Text 3"/>
          <p:cNvSpPr/>
          <p:nvPr/>
        </p:nvSpPr>
        <p:spPr>
          <a:xfrm>
            <a:off x="548640" y="822960"/>
            <a:ext cx="8229600" cy="1280160"/>
          </a:xfrm>
          <a:prstGeom prst="rect">
            <a:avLst/>
          </a:prstGeom>
          <a:noFill/>
          <a:ln/>
        </p:spPr>
        <p:txBody>
          <a:bodyPr wrap="square"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GDoc AI</a:t>
            </a:r>
            <a:endParaRPr lang="en-US" sz="6000" dirty="0"/>
          </a:p>
        </p:txBody>
      </p:sp>
      <p:sp>
        <p:nvSpPr>
          <p:cNvPr id="6" name="Text 4"/>
          <p:cNvSpPr/>
          <p:nvPr/>
        </p:nvSpPr>
        <p:spPr>
          <a:xfrm>
            <a:off x="548640" y="2194560"/>
            <a:ext cx="8229600" cy="548640"/>
          </a:xfrm>
          <a:prstGeom prst="rect">
            <a:avLst/>
          </a:prstGeom>
          <a:noFill/>
          <a:ln/>
        </p:spPr>
        <p:txBody>
          <a:bodyPr wrap="square" rtlCol="0" anchor="ctr"/>
          <a:lstStyle/>
          <a:p>
            <a:pPr indent="0" marL="0">
              <a:buNone/>
            </a:pPr>
            <a:r>
              <a:rPr lang="en-US" sz="2200" dirty="0">
                <a:solidFill>
                  <a:srgbClr val="93C5FD"/>
                </a:solidFill>
                <a:latin typeface="Calibri" pitchFamily="34" charset="0"/>
                <a:ea typeface="Calibri" pitchFamily="34" charset="-122"/>
                <a:cs typeface="Calibri" pitchFamily="34" charset="-120"/>
              </a:rPr>
              <a:t>Intelligent Document Management System</a:t>
            </a:r>
            <a:endParaRPr lang="en-US" sz="2200" dirty="0"/>
          </a:p>
        </p:txBody>
      </p:sp>
      <p:sp>
        <p:nvSpPr>
          <p:cNvPr id="7" name="Text 5"/>
          <p:cNvSpPr/>
          <p:nvPr/>
        </p:nvSpPr>
        <p:spPr>
          <a:xfrm>
            <a:off x="548640" y="2834640"/>
            <a:ext cx="8229600" cy="411480"/>
          </a:xfrm>
          <a:prstGeom prst="rect">
            <a:avLst/>
          </a:prstGeom>
          <a:noFill/>
          <a:ln/>
        </p:spPr>
        <p:txBody>
          <a:bodyPr wrap="square" rtlCol="0" anchor="ctr"/>
          <a:lstStyle/>
          <a:p>
            <a:pPr indent="0" marL="0">
              <a:buNone/>
            </a:pPr>
            <a:r>
              <a:rPr lang="en-US" sz="1400" dirty="0">
                <a:solidFill>
                  <a:srgbClr val="7DD3FC"/>
                </a:solidFill>
                <a:latin typeface="Calibri" pitchFamily="34" charset="0"/>
                <a:ea typeface="Calibri" pitchFamily="34" charset="-122"/>
                <a:cs typeface="Calibri" pitchFamily="34" charset="-120"/>
              </a:rPr>
              <a:t>Built on Ubuntu · Frappe Framework · Frappe Drive · changAI</a:t>
            </a:r>
            <a:endParaRPr lang="en-US" sz="1400" dirty="0"/>
          </a:p>
        </p:txBody>
      </p:sp>
      <p:sp>
        <p:nvSpPr>
          <p:cNvPr id="8" name="Shape 6"/>
          <p:cNvSpPr/>
          <p:nvPr/>
        </p:nvSpPr>
        <p:spPr>
          <a:xfrm>
            <a:off x="548640" y="3657600"/>
            <a:ext cx="1828800" cy="347472"/>
          </a:xfrm>
          <a:prstGeom prst="roundRect">
            <a:avLst>
              <a:gd name="adj" fmla="val 39474"/>
            </a:avLst>
          </a:prstGeom>
          <a:solidFill>
            <a:srgbClr val="0D9488">
              <a:alpha val="70000"/>
            </a:srgbClr>
          </a:solidFill>
          <a:ln w="12700">
            <a:solidFill>
              <a:srgbClr val="0D9488"/>
            </a:solidFill>
            <a:prstDash val="solid"/>
          </a:ln>
        </p:spPr>
      </p:sp>
      <p:sp>
        <p:nvSpPr>
          <p:cNvPr id="9" name="Text 7"/>
          <p:cNvSpPr/>
          <p:nvPr/>
        </p:nvSpPr>
        <p:spPr>
          <a:xfrm>
            <a:off x="548640" y="3675888"/>
            <a:ext cx="1828800"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Screens</a:t>
            </a:r>
            <a:endParaRPr lang="en-US" sz="1100" dirty="0"/>
          </a:p>
        </p:txBody>
      </p:sp>
      <p:sp>
        <p:nvSpPr>
          <p:cNvPr id="10" name="Shape 8"/>
          <p:cNvSpPr/>
          <p:nvPr/>
        </p:nvSpPr>
        <p:spPr>
          <a:xfrm>
            <a:off x="2560320" y="3657600"/>
            <a:ext cx="1828800" cy="347472"/>
          </a:xfrm>
          <a:prstGeom prst="roundRect">
            <a:avLst>
              <a:gd name="adj" fmla="val 39474"/>
            </a:avLst>
          </a:prstGeom>
          <a:solidFill>
            <a:srgbClr val="1D4ED8">
              <a:alpha val="70000"/>
            </a:srgbClr>
          </a:solidFill>
          <a:ln w="12700">
            <a:solidFill>
              <a:srgbClr val="1D4ED8"/>
            </a:solidFill>
            <a:prstDash val="solid"/>
          </a:ln>
        </p:spPr>
      </p:sp>
      <p:sp>
        <p:nvSpPr>
          <p:cNvPr id="11" name="Text 9"/>
          <p:cNvSpPr/>
          <p:nvPr/>
        </p:nvSpPr>
        <p:spPr>
          <a:xfrm>
            <a:off x="2560320" y="3675888"/>
            <a:ext cx="1828800"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System Flow</a:t>
            </a:r>
            <a:endParaRPr lang="en-US" sz="1100" dirty="0"/>
          </a:p>
        </p:txBody>
      </p:sp>
      <p:sp>
        <p:nvSpPr>
          <p:cNvPr id="12" name="Shape 10"/>
          <p:cNvSpPr/>
          <p:nvPr/>
        </p:nvSpPr>
        <p:spPr>
          <a:xfrm>
            <a:off x="4572000" y="3657600"/>
            <a:ext cx="1828800" cy="347472"/>
          </a:xfrm>
          <a:prstGeom prst="roundRect">
            <a:avLst>
              <a:gd name="adj" fmla="val 39474"/>
            </a:avLst>
          </a:prstGeom>
          <a:solidFill>
            <a:srgbClr val="7C3AED">
              <a:alpha val="70000"/>
            </a:srgbClr>
          </a:solidFill>
          <a:ln w="12700">
            <a:solidFill>
              <a:srgbClr val="7C3AED"/>
            </a:solidFill>
            <a:prstDash val="solid"/>
          </a:ln>
        </p:spPr>
      </p:sp>
      <p:sp>
        <p:nvSpPr>
          <p:cNvPr id="13" name="Text 11"/>
          <p:cNvSpPr/>
          <p:nvPr/>
        </p:nvSpPr>
        <p:spPr>
          <a:xfrm>
            <a:off x="4572000" y="3675888"/>
            <a:ext cx="1828800"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Matrix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What we will cover today</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188720"/>
            <a:ext cx="2651760" cy="2560320"/>
          </a:xfrm>
          <a:prstGeom prst="roundRect">
            <a:avLst>
              <a:gd name="adj" fmla="val 3571"/>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1463040" y="1463040"/>
            <a:ext cx="640080" cy="640080"/>
          </a:xfrm>
          <a:prstGeom prst="ellipse">
            <a:avLst/>
          </a:prstGeom>
          <a:solidFill>
            <a:srgbClr val="0D9488"/>
          </a:solidFill>
          <a:ln w="12700">
            <a:solidFill>
              <a:srgbClr val="0D9488"/>
            </a:solidFill>
            <a:prstDash val="solid"/>
          </a:ln>
        </p:spPr>
      </p:sp>
      <p:sp>
        <p:nvSpPr>
          <p:cNvPr id="6" name="Text 4"/>
          <p:cNvSpPr/>
          <p:nvPr/>
        </p:nvSpPr>
        <p:spPr>
          <a:xfrm>
            <a:off x="1463040" y="1490472"/>
            <a:ext cx="640080" cy="585216"/>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594360" y="2240280"/>
            <a:ext cx="2377440" cy="411480"/>
          </a:xfrm>
          <a:prstGeom prst="rect">
            <a:avLst/>
          </a:prstGeom>
          <a:noFill/>
          <a:ln/>
        </p:spPr>
        <p:txBody>
          <a:bodyPr wrap="square" rtlCol="0" anchor="ctr"/>
          <a:lstStyle/>
          <a:p>
            <a:pPr algn="ctr" indent="0" marL="0">
              <a:buNone/>
            </a:pPr>
            <a:r>
              <a:rPr lang="en-US" sz="1800" b="1" dirty="0">
                <a:solidFill>
                  <a:srgbClr val="0F1E3C"/>
                </a:solidFill>
                <a:latin typeface="Calibri" pitchFamily="34" charset="0"/>
                <a:ea typeface="Calibri" pitchFamily="34" charset="-122"/>
                <a:cs typeface="Calibri" pitchFamily="34" charset="-120"/>
              </a:rPr>
              <a:t>Screens</a:t>
            </a:r>
            <a:endParaRPr lang="en-US" sz="1800" dirty="0"/>
          </a:p>
        </p:txBody>
      </p:sp>
      <p:sp>
        <p:nvSpPr>
          <p:cNvPr id="8" name="Text 6"/>
          <p:cNvSpPr/>
          <p:nvPr/>
        </p:nvSpPr>
        <p:spPr>
          <a:xfrm>
            <a:off x="594360" y="2697480"/>
            <a:ext cx="2377440" cy="8229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5 key screens a user sees — upload, detail, search, chat, approvals</a:t>
            </a:r>
            <a:endParaRPr lang="en-US" sz="1100" dirty="0"/>
          </a:p>
        </p:txBody>
      </p:sp>
      <p:sp>
        <p:nvSpPr>
          <p:cNvPr id="9" name="Shape 7"/>
          <p:cNvSpPr/>
          <p:nvPr/>
        </p:nvSpPr>
        <p:spPr>
          <a:xfrm>
            <a:off x="3291840" y="1188720"/>
            <a:ext cx="2651760" cy="2560320"/>
          </a:xfrm>
          <a:prstGeom prst="roundRect">
            <a:avLst>
              <a:gd name="adj" fmla="val 3571"/>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0" name="Shape 8"/>
          <p:cNvSpPr/>
          <p:nvPr/>
        </p:nvSpPr>
        <p:spPr>
          <a:xfrm>
            <a:off x="4297680" y="1463040"/>
            <a:ext cx="640080" cy="640080"/>
          </a:xfrm>
          <a:prstGeom prst="ellipse">
            <a:avLst/>
          </a:prstGeom>
          <a:solidFill>
            <a:srgbClr val="1D4ED8"/>
          </a:solidFill>
          <a:ln w="12700">
            <a:solidFill>
              <a:srgbClr val="1D4ED8"/>
            </a:solidFill>
            <a:prstDash val="solid"/>
          </a:ln>
        </p:spPr>
      </p:sp>
      <p:sp>
        <p:nvSpPr>
          <p:cNvPr id="11" name="Text 9"/>
          <p:cNvSpPr/>
          <p:nvPr/>
        </p:nvSpPr>
        <p:spPr>
          <a:xfrm>
            <a:off x="4297680" y="1490472"/>
            <a:ext cx="640080" cy="585216"/>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3429000" y="2240280"/>
            <a:ext cx="2377440" cy="411480"/>
          </a:xfrm>
          <a:prstGeom prst="rect">
            <a:avLst/>
          </a:prstGeom>
          <a:noFill/>
          <a:ln/>
        </p:spPr>
        <p:txBody>
          <a:bodyPr wrap="square" rtlCol="0" anchor="ctr"/>
          <a:lstStyle/>
          <a:p>
            <a:pPr algn="ctr" indent="0" marL="0">
              <a:buNone/>
            </a:pPr>
            <a:r>
              <a:rPr lang="en-US" sz="1800" b="1" dirty="0">
                <a:solidFill>
                  <a:srgbClr val="0F1E3C"/>
                </a:solidFill>
                <a:latin typeface="Calibri" pitchFamily="34" charset="0"/>
                <a:ea typeface="Calibri" pitchFamily="34" charset="-122"/>
                <a:cs typeface="Calibri" pitchFamily="34" charset="-120"/>
              </a:rPr>
              <a:t>System Flow</a:t>
            </a:r>
            <a:endParaRPr lang="en-US" sz="1800" dirty="0"/>
          </a:p>
        </p:txBody>
      </p:sp>
      <p:sp>
        <p:nvSpPr>
          <p:cNvPr id="13" name="Text 11"/>
          <p:cNvSpPr/>
          <p:nvPr/>
        </p:nvSpPr>
        <p:spPr>
          <a:xfrm>
            <a:off x="3429000" y="2697480"/>
            <a:ext cx="2377440" cy="8229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End-to-end journey from file upload to AI answer</a:t>
            </a:r>
            <a:endParaRPr lang="en-US" sz="1100" dirty="0"/>
          </a:p>
        </p:txBody>
      </p:sp>
      <p:sp>
        <p:nvSpPr>
          <p:cNvPr id="14" name="Shape 12"/>
          <p:cNvSpPr/>
          <p:nvPr/>
        </p:nvSpPr>
        <p:spPr>
          <a:xfrm>
            <a:off x="6126480" y="1188720"/>
            <a:ext cx="2651760" cy="2560320"/>
          </a:xfrm>
          <a:prstGeom prst="roundRect">
            <a:avLst>
              <a:gd name="adj" fmla="val 3571"/>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5" name="Shape 13"/>
          <p:cNvSpPr/>
          <p:nvPr/>
        </p:nvSpPr>
        <p:spPr>
          <a:xfrm>
            <a:off x="7132320" y="1463040"/>
            <a:ext cx="640080" cy="640080"/>
          </a:xfrm>
          <a:prstGeom prst="ellipse">
            <a:avLst/>
          </a:prstGeom>
          <a:solidFill>
            <a:srgbClr val="7C3AED"/>
          </a:solidFill>
          <a:ln w="12700">
            <a:solidFill>
              <a:srgbClr val="7C3AED"/>
            </a:solidFill>
            <a:prstDash val="solid"/>
          </a:ln>
        </p:spPr>
      </p:sp>
      <p:sp>
        <p:nvSpPr>
          <p:cNvPr id="16" name="Text 14"/>
          <p:cNvSpPr/>
          <p:nvPr/>
        </p:nvSpPr>
        <p:spPr>
          <a:xfrm>
            <a:off x="7132320" y="1490472"/>
            <a:ext cx="640080" cy="585216"/>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6263640" y="2240280"/>
            <a:ext cx="2377440" cy="411480"/>
          </a:xfrm>
          <a:prstGeom prst="rect">
            <a:avLst/>
          </a:prstGeom>
          <a:noFill/>
          <a:ln/>
        </p:spPr>
        <p:txBody>
          <a:bodyPr wrap="square" rtlCol="0" anchor="ctr"/>
          <a:lstStyle/>
          <a:p>
            <a:pPr algn="ctr" indent="0" marL="0">
              <a:buNone/>
            </a:pPr>
            <a:r>
              <a:rPr lang="en-US" sz="1800" b="1" dirty="0">
                <a:solidFill>
                  <a:srgbClr val="0F1E3C"/>
                </a:solidFill>
                <a:latin typeface="Calibri" pitchFamily="34" charset="0"/>
                <a:ea typeface="Calibri" pitchFamily="34" charset="-122"/>
                <a:cs typeface="Calibri" pitchFamily="34" charset="-120"/>
              </a:rPr>
              <a:t>Feature Matrix</a:t>
            </a:r>
            <a:endParaRPr lang="en-US" sz="1800" dirty="0"/>
          </a:p>
        </p:txBody>
      </p:sp>
      <p:sp>
        <p:nvSpPr>
          <p:cNvPr id="18" name="Text 16"/>
          <p:cNvSpPr/>
          <p:nvPr/>
        </p:nvSpPr>
        <p:spPr>
          <a:xfrm>
            <a:off x="6263640" y="2697480"/>
            <a:ext cx="2377440" cy="8229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Every feature, its build status, and which OSS tools power 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Text 1"/>
          <p:cNvSpPr/>
          <p:nvPr/>
        </p:nvSpPr>
        <p:spPr>
          <a:xfrm>
            <a:off x="457200" y="731520"/>
            <a:ext cx="2743200" cy="1645920"/>
          </a:xfrm>
          <a:prstGeom prst="rect">
            <a:avLst/>
          </a:prstGeom>
          <a:noFill/>
          <a:ln/>
        </p:spPr>
        <p:txBody>
          <a:bodyPr wrap="square" rtlCol="0" anchor="ctr"/>
          <a:lstStyle/>
          <a:p>
            <a:pPr indent="0" marL="0">
              <a:buNone/>
            </a:pPr>
            <a:r>
              <a:rPr lang="en-US" sz="9600" b="1" dirty="0">
                <a:solidFill>
                  <a:srgbClr val="1D4ED8">
                    <a:alpha val="40000"/>
                  </a:srgbClr>
                </a:solidFill>
                <a:latin typeface="Calibri" pitchFamily="34" charset="0"/>
                <a:ea typeface="Calibri" pitchFamily="34" charset="-122"/>
                <a:cs typeface="Calibri" pitchFamily="34" charset="-120"/>
              </a:rPr>
              <a:t>01</a:t>
            </a:r>
            <a:endParaRPr lang="en-US" sz="9600" dirty="0"/>
          </a:p>
        </p:txBody>
      </p:sp>
      <p:sp>
        <p:nvSpPr>
          <p:cNvPr id="4" name="Text 2"/>
          <p:cNvSpPr/>
          <p:nvPr/>
        </p:nvSpPr>
        <p:spPr>
          <a:xfrm>
            <a:off x="457200" y="2468880"/>
            <a:ext cx="82296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The 5 Key Screens</a:t>
            </a:r>
            <a:endParaRPr lang="en-US" sz="3600" dirty="0"/>
          </a:p>
        </p:txBody>
      </p:sp>
      <p:sp>
        <p:nvSpPr>
          <p:cNvPr id="5" name="Text 3"/>
          <p:cNvSpPr/>
          <p:nvPr/>
        </p:nvSpPr>
        <p:spPr>
          <a:xfrm>
            <a:off x="457200" y="3291840"/>
            <a:ext cx="7772400" cy="640080"/>
          </a:xfrm>
          <a:prstGeom prst="rect">
            <a:avLst/>
          </a:prstGeom>
          <a:noFill/>
          <a:ln/>
        </p:spPr>
        <p:txBody>
          <a:bodyPr wrap="square" rtlCol="0" anchor="ctr"/>
          <a:lstStyle/>
          <a:p>
            <a:pPr indent="0" marL="0">
              <a:buNone/>
            </a:pPr>
            <a:r>
              <a:rPr lang="en-US" sz="1600" dirty="0">
                <a:solidFill>
                  <a:srgbClr val="93C5FD"/>
                </a:solidFill>
                <a:latin typeface="Calibri" pitchFamily="34" charset="0"/>
                <a:ea typeface="Calibri" pitchFamily="34" charset="-122"/>
                <a:cs typeface="Calibri" pitchFamily="34" charset="-120"/>
              </a:rPr>
              <a:t>What the user actually sees and interacts with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At a glance — 5 screens, one complete workflow</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97280"/>
            <a:ext cx="2651760" cy="1737360"/>
          </a:xfrm>
          <a:prstGeom prst="roundRect">
            <a:avLst>
              <a:gd name="adj" fmla="val 5263"/>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621792" y="1691640"/>
            <a:ext cx="502920" cy="502920"/>
          </a:xfrm>
          <a:prstGeom prst="ellipse">
            <a:avLst/>
          </a:prstGeom>
          <a:solidFill>
            <a:srgbClr val="0D9488"/>
          </a:solidFill>
          <a:ln w="12700">
            <a:solidFill>
              <a:srgbClr val="0D9488"/>
            </a:solidFill>
            <a:prstDash val="solid"/>
          </a:ln>
        </p:spPr>
      </p:sp>
      <p:sp>
        <p:nvSpPr>
          <p:cNvPr id="6" name="Text 4"/>
          <p:cNvSpPr/>
          <p:nvPr/>
        </p:nvSpPr>
        <p:spPr>
          <a:xfrm>
            <a:off x="621792" y="1709928"/>
            <a:ext cx="502920" cy="4663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1234440" y="1645920"/>
            <a:ext cx="1737360" cy="411480"/>
          </a:xfrm>
          <a:prstGeom prst="rect">
            <a:avLst/>
          </a:prstGeom>
          <a:noFill/>
          <a:ln/>
        </p:spPr>
        <p:txBody>
          <a:bodyPr wrap="square" rtlCol="0" anchor="ctr"/>
          <a:lstStyle/>
          <a:p>
            <a:pPr indent="0" marL="0">
              <a:buNone/>
            </a:pPr>
            <a:r>
              <a:rPr lang="en-US" sz="1500" b="1" dirty="0">
                <a:solidFill>
                  <a:srgbClr val="0F1E3C"/>
                </a:solidFill>
                <a:latin typeface="Calibri" pitchFamily="34" charset="0"/>
                <a:ea typeface="Calibri" pitchFamily="34" charset="-122"/>
                <a:cs typeface="Calibri" pitchFamily="34" charset="-120"/>
              </a:rPr>
              <a:t>Upload</a:t>
            </a:r>
            <a:endParaRPr lang="en-US" sz="1500" dirty="0"/>
          </a:p>
        </p:txBody>
      </p:sp>
      <p:sp>
        <p:nvSpPr>
          <p:cNvPr id="8" name="Text 6"/>
          <p:cNvSpPr/>
          <p:nvPr/>
        </p:nvSpPr>
        <p:spPr>
          <a:xfrm>
            <a:off x="1234440" y="2057400"/>
            <a:ext cx="173736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Any file, any source</a:t>
            </a:r>
            <a:endParaRPr lang="en-US" sz="1100" dirty="0"/>
          </a:p>
        </p:txBody>
      </p:sp>
      <p:sp>
        <p:nvSpPr>
          <p:cNvPr id="9" name="Shape 7"/>
          <p:cNvSpPr/>
          <p:nvPr/>
        </p:nvSpPr>
        <p:spPr>
          <a:xfrm>
            <a:off x="3291840" y="1097280"/>
            <a:ext cx="2651760" cy="1737360"/>
          </a:xfrm>
          <a:prstGeom prst="roundRect">
            <a:avLst>
              <a:gd name="adj" fmla="val 5263"/>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0" name="Shape 8"/>
          <p:cNvSpPr/>
          <p:nvPr/>
        </p:nvSpPr>
        <p:spPr>
          <a:xfrm>
            <a:off x="3456432" y="1691640"/>
            <a:ext cx="502920" cy="502920"/>
          </a:xfrm>
          <a:prstGeom prst="ellipse">
            <a:avLst/>
          </a:prstGeom>
          <a:solidFill>
            <a:srgbClr val="1D4ED8"/>
          </a:solidFill>
          <a:ln w="12700">
            <a:solidFill>
              <a:srgbClr val="1D4ED8"/>
            </a:solidFill>
            <a:prstDash val="solid"/>
          </a:ln>
        </p:spPr>
      </p:sp>
      <p:sp>
        <p:nvSpPr>
          <p:cNvPr id="11" name="Text 9"/>
          <p:cNvSpPr/>
          <p:nvPr/>
        </p:nvSpPr>
        <p:spPr>
          <a:xfrm>
            <a:off x="3456432" y="1709928"/>
            <a:ext cx="502920" cy="4663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2" name="Text 10"/>
          <p:cNvSpPr/>
          <p:nvPr/>
        </p:nvSpPr>
        <p:spPr>
          <a:xfrm>
            <a:off x="4069080" y="1645920"/>
            <a:ext cx="1737360" cy="411480"/>
          </a:xfrm>
          <a:prstGeom prst="rect">
            <a:avLst/>
          </a:prstGeom>
          <a:noFill/>
          <a:ln/>
        </p:spPr>
        <p:txBody>
          <a:bodyPr wrap="square" rtlCol="0" anchor="ctr"/>
          <a:lstStyle/>
          <a:p>
            <a:pPr indent="0" marL="0">
              <a:buNone/>
            </a:pPr>
            <a:r>
              <a:rPr lang="en-US" sz="1500" b="1" dirty="0">
                <a:solidFill>
                  <a:srgbClr val="0F1E3C"/>
                </a:solidFill>
                <a:latin typeface="Calibri" pitchFamily="34" charset="0"/>
                <a:ea typeface="Calibri" pitchFamily="34" charset="-122"/>
                <a:cs typeface="Calibri" pitchFamily="34" charset="-120"/>
              </a:rPr>
              <a:t>Document Detail</a:t>
            </a:r>
            <a:endParaRPr lang="en-US" sz="1500" dirty="0"/>
          </a:p>
        </p:txBody>
      </p:sp>
      <p:sp>
        <p:nvSpPr>
          <p:cNvPr id="13" name="Text 11"/>
          <p:cNvSpPr/>
          <p:nvPr/>
        </p:nvSpPr>
        <p:spPr>
          <a:xfrm>
            <a:off x="4069080" y="2057400"/>
            <a:ext cx="173736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AI sidebar + viewer</a:t>
            </a:r>
            <a:endParaRPr lang="en-US" sz="1100" dirty="0"/>
          </a:p>
        </p:txBody>
      </p:sp>
      <p:sp>
        <p:nvSpPr>
          <p:cNvPr id="14" name="Shape 12"/>
          <p:cNvSpPr/>
          <p:nvPr/>
        </p:nvSpPr>
        <p:spPr>
          <a:xfrm>
            <a:off x="6126480" y="1097280"/>
            <a:ext cx="2651760" cy="1737360"/>
          </a:xfrm>
          <a:prstGeom prst="roundRect">
            <a:avLst>
              <a:gd name="adj" fmla="val 5263"/>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5" name="Shape 13"/>
          <p:cNvSpPr/>
          <p:nvPr/>
        </p:nvSpPr>
        <p:spPr>
          <a:xfrm>
            <a:off x="6291072" y="1691640"/>
            <a:ext cx="502920" cy="502920"/>
          </a:xfrm>
          <a:prstGeom prst="ellipse">
            <a:avLst/>
          </a:prstGeom>
          <a:solidFill>
            <a:srgbClr val="7C3AED"/>
          </a:solidFill>
          <a:ln w="12700">
            <a:solidFill>
              <a:srgbClr val="7C3AED"/>
            </a:solidFill>
            <a:prstDash val="solid"/>
          </a:ln>
        </p:spPr>
      </p:sp>
      <p:sp>
        <p:nvSpPr>
          <p:cNvPr id="16" name="Text 14"/>
          <p:cNvSpPr/>
          <p:nvPr/>
        </p:nvSpPr>
        <p:spPr>
          <a:xfrm>
            <a:off x="6291072" y="1709928"/>
            <a:ext cx="502920" cy="4663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7" name="Text 15"/>
          <p:cNvSpPr/>
          <p:nvPr/>
        </p:nvSpPr>
        <p:spPr>
          <a:xfrm>
            <a:off x="6903720" y="1645920"/>
            <a:ext cx="1737360" cy="411480"/>
          </a:xfrm>
          <a:prstGeom prst="rect">
            <a:avLst/>
          </a:prstGeom>
          <a:noFill/>
          <a:ln/>
        </p:spPr>
        <p:txBody>
          <a:bodyPr wrap="square" rtlCol="0" anchor="ctr"/>
          <a:lstStyle/>
          <a:p>
            <a:pPr indent="0" marL="0">
              <a:buNone/>
            </a:pPr>
            <a:r>
              <a:rPr lang="en-US" sz="1500" b="1" dirty="0">
                <a:solidFill>
                  <a:srgbClr val="0F1E3C"/>
                </a:solidFill>
                <a:latin typeface="Calibri" pitchFamily="34" charset="0"/>
                <a:ea typeface="Calibri" pitchFamily="34" charset="-122"/>
                <a:cs typeface="Calibri" pitchFamily="34" charset="-120"/>
              </a:rPr>
              <a:t>Search</a:t>
            </a:r>
            <a:endParaRPr lang="en-US" sz="1500" dirty="0"/>
          </a:p>
        </p:txBody>
      </p:sp>
      <p:sp>
        <p:nvSpPr>
          <p:cNvPr id="18" name="Text 16"/>
          <p:cNvSpPr/>
          <p:nvPr/>
        </p:nvSpPr>
        <p:spPr>
          <a:xfrm>
            <a:off x="6903720" y="2057400"/>
            <a:ext cx="173736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Keyword + semantic</a:t>
            </a:r>
            <a:endParaRPr lang="en-US" sz="1100" dirty="0"/>
          </a:p>
        </p:txBody>
      </p:sp>
      <p:sp>
        <p:nvSpPr>
          <p:cNvPr id="19" name="Shape 17"/>
          <p:cNvSpPr/>
          <p:nvPr/>
        </p:nvSpPr>
        <p:spPr>
          <a:xfrm>
            <a:off x="457200" y="3108960"/>
            <a:ext cx="4160520" cy="1737360"/>
          </a:xfrm>
          <a:prstGeom prst="roundRect">
            <a:avLst>
              <a:gd name="adj" fmla="val 5263"/>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20" name="Shape 18"/>
          <p:cNvSpPr/>
          <p:nvPr/>
        </p:nvSpPr>
        <p:spPr>
          <a:xfrm>
            <a:off x="621792" y="3703320"/>
            <a:ext cx="502920" cy="502920"/>
          </a:xfrm>
          <a:prstGeom prst="ellipse">
            <a:avLst/>
          </a:prstGeom>
          <a:solidFill>
            <a:srgbClr val="D97706"/>
          </a:solidFill>
          <a:ln w="12700">
            <a:solidFill>
              <a:srgbClr val="D97706"/>
            </a:solidFill>
            <a:prstDash val="solid"/>
          </a:ln>
        </p:spPr>
      </p:sp>
      <p:sp>
        <p:nvSpPr>
          <p:cNvPr id="21" name="Text 19"/>
          <p:cNvSpPr/>
          <p:nvPr/>
        </p:nvSpPr>
        <p:spPr>
          <a:xfrm>
            <a:off x="621792" y="3721608"/>
            <a:ext cx="502920" cy="4663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2" name="Text 20"/>
          <p:cNvSpPr/>
          <p:nvPr/>
        </p:nvSpPr>
        <p:spPr>
          <a:xfrm>
            <a:off x="1234440" y="3657600"/>
            <a:ext cx="3246120" cy="411480"/>
          </a:xfrm>
          <a:prstGeom prst="rect">
            <a:avLst/>
          </a:prstGeom>
          <a:noFill/>
          <a:ln/>
        </p:spPr>
        <p:txBody>
          <a:bodyPr wrap="square" rtlCol="0" anchor="ctr"/>
          <a:lstStyle/>
          <a:p>
            <a:pPr indent="0" marL="0">
              <a:buNone/>
            </a:pPr>
            <a:r>
              <a:rPr lang="en-US" sz="1500" b="1" dirty="0">
                <a:solidFill>
                  <a:srgbClr val="0F1E3C"/>
                </a:solidFill>
                <a:latin typeface="Calibri" pitchFamily="34" charset="0"/>
                <a:ea typeface="Calibri" pitchFamily="34" charset="-122"/>
                <a:cs typeface="Calibri" pitchFamily="34" charset="-120"/>
              </a:rPr>
              <a:t>Chat (RAG)</a:t>
            </a:r>
            <a:endParaRPr lang="en-US" sz="1500" dirty="0"/>
          </a:p>
        </p:txBody>
      </p:sp>
      <p:sp>
        <p:nvSpPr>
          <p:cNvPr id="23" name="Text 21"/>
          <p:cNvSpPr/>
          <p:nvPr/>
        </p:nvSpPr>
        <p:spPr>
          <a:xfrm>
            <a:off x="1234440" y="4069080"/>
            <a:ext cx="324612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Ask anything</a:t>
            </a:r>
            <a:endParaRPr lang="en-US" sz="1100" dirty="0"/>
          </a:p>
        </p:txBody>
      </p:sp>
      <p:sp>
        <p:nvSpPr>
          <p:cNvPr id="24" name="Shape 22"/>
          <p:cNvSpPr/>
          <p:nvPr/>
        </p:nvSpPr>
        <p:spPr>
          <a:xfrm>
            <a:off x="4892040" y="3108960"/>
            <a:ext cx="4160520" cy="1737360"/>
          </a:xfrm>
          <a:prstGeom prst="roundRect">
            <a:avLst>
              <a:gd name="adj" fmla="val 5263"/>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25" name="Shape 23"/>
          <p:cNvSpPr/>
          <p:nvPr/>
        </p:nvSpPr>
        <p:spPr>
          <a:xfrm>
            <a:off x="5056632" y="3703320"/>
            <a:ext cx="502920" cy="502920"/>
          </a:xfrm>
          <a:prstGeom prst="ellipse">
            <a:avLst/>
          </a:prstGeom>
          <a:solidFill>
            <a:srgbClr val="15803D"/>
          </a:solidFill>
          <a:ln w="12700">
            <a:solidFill>
              <a:srgbClr val="15803D"/>
            </a:solidFill>
            <a:prstDash val="solid"/>
          </a:ln>
        </p:spPr>
      </p:sp>
      <p:sp>
        <p:nvSpPr>
          <p:cNvPr id="26" name="Text 24"/>
          <p:cNvSpPr/>
          <p:nvPr/>
        </p:nvSpPr>
        <p:spPr>
          <a:xfrm>
            <a:off x="5056632" y="3721608"/>
            <a:ext cx="502920" cy="4663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7" name="Text 25"/>
          <p:cNvSpPr/>
          <p:nvPr/>
        </p:nvSpPr>
        <p:spPr>
          <a:xfrm>
            <a:off x="5669280" y="3657600"/>
            <a:ext cx="3246120" cy="411480"/>
          </a:xfrm>
          <a:prstGeom prst="rect">
            <a:avLst/>
          </a:prstGeom>
          <a:noFill/>
          <a:ln/>
        </p:spPr>
        <p:txBody>
          <a:bodyPr wrap="square" rtlCol="0" anchor="ctr"/>
          <a:lstStyle/>
          <a:p>
            <a:pPr indent="0" marL="0">
              <a:buNone/>
            </a:pPr>
            <a:r>
              <a:rPr lang="en-US" sz="1500" b="1" dirty="0">
                <a:solidFill>
                  <a:srgbClr val="0F1E3C"/>
                </a:solidFill>
                <a:latin typeface="Calibri" pitchFamily="34" charset="0"/>
                <a:ea typeface="Calibri" pitchFamily="34" charset="-122"/>
                <a:cs typeface="Calibri" pitchFamily="34" charset="-120"/>
              </a:rPr>
              <a:t>Approvals</a:t>
            </a:r>
            <a:endParaRPr lang="en-US" sz="1500" dirty="0"/>
          </a:p>
        </p:txBody>
      </p:sp>
      <p:sp>
        <p:nvSpPr>
          <p:cNvPr id="28" name="Text 26"/>
          <p:cNvSpPr/>
          <p:nvPr/>
        </p:nvSpPr>
        <p:spPr>
          <a:xfrm>
            <a:off x="5669280" y="4069080"/>
            <a:ext cx="324612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Workflow + SLA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Screen 1 — Upload &amp; ingest</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05840"/>
            <a:ext cx="5029200" cy="3749040"/>
          </a:xfrm>
          <a:prstGeom prst="roundRect">
            <a:avLst>
              <a:gd name="adj" fmla="val 2439"/>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457200" y="1005840"/>
            <a:ext cx="5029200" cy="365760"/>
          </a:xfrm>
          <a:prstGeom prst="rect">
            <a:avLst/>
          </a:prstGeom>
          <a:solidFill>
            <a:srgbClr val="F1F5F9"/>
          </a:solidFill>
          <a:ln w="12700">
            <a:solidFill>
              <a:srgbClr val="E2E8F0"/>
            </a:solidFill>
            <a:prstDash val="solid"/>
          </a:ln>
        </p:spPr>
      </p:sp>
      <p:sp>
        <p:nvSpPr>
          <p:cNvPr id="6" name="Text 4"/>
          <p:cNvSpPr/>
          <p:nvPr/>
        </p:nvSpPr>
        <p:spPr>
          <a:xfrm>
            <a:off x="640080" y="1033272"/>
            <a:ext cx="1828800" cy="310896"/>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GDoc AI</a:t>
            </a:r>
            <a:endParaRPr lang="en-US" sz="1100" dirty="0"/>
          </a:p>
        </p:txBody>
      </p:sp>
      <p:sp>
        <p:nvSpPr>
          <p:cNvPr id="7" name="Shape 5"/>
          <p:cNvSpPr/>
          <p:nvPr/>
        </p:nvSpPr>
        <p:spPr>
          <a:xfrm>
            <a:off x="457200" y="1371600"/>
            <a:ext cx="1005840" cy="3383280"/>
          </a:xfrm>
          <a:prstGeom prst="rect">
            <a:avLst/>
          </a:prstGeom>
          <a:solidFill>
            <a:srgbClr val="F8FAFC"/>
          </a:solidFill>
          <a:ln w="12700">
            <a:solidFill>
              <a:srgbClr val="E2E8F0"/>
            </a:solidFill>
            <a:prstDash val="solid"/>
          </a:ln>
        </p:spPr>
      </p:sp>
      <p:sp>
        <p:nvSpPr>
          <p:cNvPr id="8" name="Shape 6"/>
          <p:cNvSpPr/>
          <p:nvPr/>
        </p:nvSpPr>
        <p:spPr>
          <a:xfrm>
            <a:off x="502920" y="1481328"/>
            <a:ext cx="914400" cy="347472"/>
          </a:xfrm>
          <a:prstGeom prst="roundRect">
            <a:avLst>
              <a:gd name="adj" fmla="val 15789"/>
            </a:avLst>
          </a:prstGeom>
          <a:solidFill>
            <a:srgbClr val="DBEAFE"/>
          </a:solidFill>
          <a:ln w="12700">
            <a:solidFill>
              <a:srgbClr val="DBEAFE"/>
            </a:solidFill>
            <a:prstDash val="solid"/>
          </a:ln>
        </p:spPr>
      </p:sp>
      <p:sp>
        <p:nvSpPr>
          <p:cNvPr id="9" name="Text 7"/>
          <p:cNvSpPr/>
          <p:nvPr/>
        </p:nvSpPr>
        <p:spPr>
          <a:xfrm>
            <a:off x="502920" y="1499616"/>
            <a:ext cx="914400" cy="310896"/>
          </a:xfrm>
          <a:prstGeom prst="rect">
            <a:avLst/>
          </a:prstGeom>
          <a:noFill/>
          <a:ln/>
        </p:spPr>
        <p:txBody>
          <a:bodyPr wrap="square" rtlCol="0" anchor="ctr"/>
          <a:lstStyle/>
          <a:p>
            <a:pPr algn="ctr" indent="0" marL="0">
              <a:buNone/>
            </a:pPr>
            <a:r>
              <a:rPr lang="en-US" sz="900" b="1" dirty="0">
                <a:solidFill>
                  <a:srgbClr val="1E40AF"/>
                </a:solidFill>
                <a:latin typeface="Calibri" pitchFamily="34" charset="0"/>
                <a:ea typeface="Calibri" pitchFamily="34" charset="-122"/>
                <a:cs typeface="Calibri" pitchFamily="34" charset="-120"/>
              </a:rPr>
              <a:t>Upload</a:t>
            </a:r>
            <a:endParaRPr lang="en-US" sz="900" dirty="0"/>
          </a:p>
        </p:txBody>
      </p:sp>
      <p:sp>
        <p:nvSpPr>
          <p:cNvPr id="10" name="Text 8"/>
          <p:cNvSpPr/>
          <p:nvPr/>
        </p:nvSpPr>
        <p:spPr>
          <a:xfrm>
            <a:off x="502920" y="2011680"/>
            <a:ext cx="914400" cy="310896"/>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Files</a:t>
            </a:r>
            <a:endParaRPr lang="en-US" sz="900" dirty="0"/>
          </a:p>
        </p:txBody>
      </p:sp>
      <p:sp>
        <p:nvSpPr>
          <p:cNvPr id="11" name="Text 9"/>
          <p:cNvSpPr/>
          <p:nvPr/>
        </p:nvSpPr>
        <p:spPr>
          <a:xfrm>
            <a:off x="502920" y="2523744"/>
            <a:ext cx="914400" cy="310896"/>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Search</a:t>
            </a:r>
            <a:endParaRPr lang="en-US" sz="900" dirty="0"/>
          </a:p>
        </p:txBody>
      </p:sp>
      <p:sp>
        <p:nvSpPr>
          <p:cNvPr id="12" name="Text 10"/>
          <p:cNvSpPr/>
          <p:nvPr/>
        </p:nvSpPr>
        <p:spPr>
          <a:xfrm>
            <a:off x="502920" y="3035808"/>
            <a:ext cx="914400" cy="310896"/>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Chat</a:t>
            </a:r>
            <a:endParaRPr lang="en-US" sz="900" dirty="0"/>
          </a:p>
        </p:txBody>
      </p:sp>
      <p:sp>
        <p:nvSpPr>
          <p:cNvPr id="13" name="Text 11"/>
          <p:cNvSpPr/>
          <p:nvPr/>
        </p:nvSpPr>
        <p:spPr>
          <a:xfrm>
            <a:off x="502920" y="3547872"/>
            <a:ext cx="914400" cy="310896"/>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Approve</a:t>
            </a:r>
            <a:endParaRPr lang="en-US" sz="900" dirty="0"/>
          </a:p>
        </p:txBody>
      </p:sp>
      <p:sp>
        <p:nvSpPr>
          <p:cNvPr id="14" name="Shape 12"/>
          <p:cNvSpPr/>
          <p:nvPr/>
        </p:nvSpPr>
        <p:spPr>
          <a:xfrm>
            <a:off x="1600200" y="1463040"/>
            <a:ext cx="3749040" cy="1097280"/>
          </a:xfrm>
          <a:prstGeom prst="roundRect">
            <a:avLst>
              <a:gd name="adj" fmla="val 8333"/>
            </a:avLst>
          </a:prstGeom>
          <a:solidFill>
            <a:srgbClr val="F8FAFC"/>
          </a:solidFill>
          <a:ln w="12700">
            <a:solidFill>
              <a:srgbClr val="CBD5E1"/>
            </a:solidFill>
            <a:prstDash val="solid"/>
          </a:ln>
        </p:spPr>
      </p:sp>
      <p:sp>
        <p:nvSpPr>
          <p:cNvPr id="15" name="Text 13"/>
          <p:cNvSpPr/>
          <p:nvPr/>
        </p:nvSpPr>
        <p:spPr>
          <a:xfrm>
            <a:off x="1600200" y="1600200"/>
            <a:ext cx="3749040" cy="320040"/>
          </a:xfrm>
          <a:prstGeom prst="rect">
            <a:avLst/>
          </a:prstGeom>
          <a:noFill/>
          <a:ln/>
        </p:spPr>
        <p:txBody>
          <a:bodyPr wrap="square" rtlCol="0" anchor="ctr"/>
          <a:lstStyle/>
          <a:p>
            <a:pPr algn="ctr" indent="0" marL="0">
              <a:buNone/>
            </a:pPr>
            <a:r>
              <a:rPr lang="en-US" sz="1100" b="1" dirty="0">
                <a:solidFill>
                  <a:srgbClr val="334155"/>
                </a:solidFill>
                <a:latin typeface="Calibri" pitchFamily="34" charset="0"/>
                <a:ea typeface="Calibri" pitchFamily="34" charset="-122"/>
                <a:cs typeface="Calibri" pitchFamily="34" charset="-120"/>
              </a:rPr>
              <a:t>Drag files here or click to browse</a:t>
            </a:r>
            <a:endParaRPr lang="en-US" sz="1100" dirty="0"/>
          </a:p>
        </p:txBody>
      </p:sp>
      <p:sp>
        <p:nvSpPr>
          <p:cNvPr id="16" name="Text 14"/>
          <p:cNvSpPr/>
          <p:nvPr/>
        </p:nvSpPr>
        <p:spPr>
          <a:xfrm>
            <a:off x="1600200" y="1920240"/>
            <a:ext cx="374904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PDF · DOCX · XLSX · Images · Emails — any format</a:t>
            </a:r>
            <a:endParaRPr lang="en-US" sz="900" dirty="0"/>
          </a:p>
        </p:txBody>
      </p:sp>
      <p:sp>
        <p:nvSpPr>
          <p:cNvPr id="17" name="Text 15"/>
          <p:cNvSpPr/>
          <p:nvPr/>
        </p:nvSpPr>
        <p:spPr>
          <a:xfrm>
            <a:off x="1600200" y="2194560"/>
            <a:ext cx="3749040" cy="22860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Or send to: invoices@company.com · Drop in /mnt/scanner</a:t>
            </a:r>
            <a:endParaRPr lang="en-US" sz="800" dirty="0"/>
          </a:p>
        </p:txBody>
      </p:sp>
      <p:sp>
        <p:nvSpPr>
          <p:cNvPr id="18" name="Shape 16"/>
          <p:cNvSpPr/>
          <p:nvPr/>
        </p:nvSpPr>
        <p:spPr>
          <a:xfrm>
            <a:off x="1600200" y="2697480"/>
            <a:ext cx="3749040" cy="457200"/>
          </a:xfrm>
          <a:prstGeom prst="roundRect">
            <a:avLst>
              <a:gd name="adj" fmla="val 12000"/>
            </a:avLst>
          </a:prstGeom>
          <a:solidFill>
            <a:srgbClr val="FFFFFF"/>
          </a:solidFill>
          <a:ln w="12700">
            <a:solidFill>
              <a:srgbClr val="E2E8F0"/>
            </a:solidFill>
            <a:prstDash val="solid"/>
          </a:ln>
        </p:spPr>
      </p:sp>
      <p:sp>
        <p:nvSpPr>
          <p:cNvPr id="19" name="Shape 17"/>
          <p:cNvSpPr/>
          <p:nvPr/>
        </p:nvSpPr>
        <p:spPr>
          <a:xfrm>
            <a:off x="1664208" y="2770632"/>
            <a:ext cx="310896" cy="310896"/>
          </a:xfrm>
          <a:prstGeom prst="roundRect">
            <a:avLst>
              <a:gd name="adj" fmla="val 14706"/>
            </a:avLst>
          </a:prstGeom>
          <a:solidFill>
            <a:srgbClr val="EFF6FF"/>
          </a:solidFill>
          <a:ln w="12700">
            <a:solidFill>
              <a:srgbClr val="E2E8F0"/>
            </a:solidFill>
            <a:prstDash val="solid"/>
          </a:ln>
        </p:spPr>
      </p:sp>
      <p:sp>
        <p:nvSpPr>
          <p:cNvPr id="20" name="Text 18"/>
          <p:cNvSpPr/>
          <p:nvPr/>
        </p:nvSpPr>
        <p:spPr>
          <a:xfrm>
            <a:off x="2057400" y="2743200"/>
            <a:ext cx="2377440" cy="201168"/>
          </a:xfrm>
          <a:prstGeom prst="rect">
            <a:avLst/>
          </a:prstGeom>
          <a:noFill/>
          <a:ln/>
        </p:spPr>
        <p:txBody>
          <a:bodyPr wrap="square" lIns="0" tIns="0" rIns="0" bIns="0" rtlCol="0" anchor="ctr"/>
          <a:lstStyle/>
          <a:p>
            <a:pPr indent="0" marL="0">
              <a:buNone/>
            </a:pPr>
            <a:r>
              <a:rPr lang="en-US" sz="900" b="1" dirty="0">
                <a:solidFill>
                  <a:srgbClr val="0F1E3C"/>
                </a:solidFill>
                <a:latin typeface="Calibri" pitchFamily="34" charset="0"/>
                <a:ea typeface="Calibri" pitchFamily="34" charset="-122"/>
                <a:cs typeface="Calibri" pitchFamily="34" charset="-120"/>
              </a:rPr>
              <a:t>Acme_Invoice_1042.pdf</a:t>
            </a:r>
            <a:endParaRPr lang="en-US" sz="900" dirty="0"/>
          </a:p>
        </p:txBody>
      </p:sp>
      <p:sp>
        <p:nvSpPr>
          <p:cNvPr id="21" name="Text 19"/>
          <p:cNvSpPr/>
          <p:nvPr/>
        </p:nvSpPr>
        <p:spPr>
          <a:xfrm>
            <a:off x="2057400" y="2935224"/>
            <a:ext cx="210312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Uploaded just now · 284 KB</a:t>
            </a:r>
            <a:endParaRPr lang="en-US" sz="800" dirty="0"/>
          </a:p>
        </p:txBody>
      </p:sp>
      <p:sp>
        <p:nvSpPr>
          <p:cNvPr id="22" name="Shape 20"/>
          <p:cNvSpPr/>
          <p:nvPr/>
        </p:nvSpPr>
        <p:spPr>
          <a:xfrm>
            <a:off x="4251960" y="2788920"/>
            <a:ext cx="960120" cy="274320"/>
          </a:xfrm>
          <a:prstGeom prst="roundRect">
            <a:avLst>
              <a:gd name="adj" fmla="val 40000"/>
            </a:avLst>
          </a:prstGeom>
          <a:solidFill>
            <a:srgbClr val="FEF9C3"/>
          </a:solidFill>
          <a:ln w="12700">
            <a:solidFill>
              <a:srgbClr val="FEF9C3"/>
            </a:solidFill>
            <a:prstDash val="solid"/>
          </a:ln>
        </p:spPr>
      </p:sp>
      <p:sp>
        <p:nvSpPr>
          <p:cNvPr id="23" name="Text 21"/>
          <p:cNvSpPr/>
          <p:nvPr/>
        </p:nvSpPr>
        <p:spPr>
          <a:xfrm>
            <a:off x="4251960" y="2798064"/>
            <a:ext cx="960120" cy="256032"/>
          </a:xfrm>
          <a:prstGeom prst="rect">
            <a:avLst/>
          </a:prstGeom>
          <a:noFill/>
          <a:ln/>
        </p:spPr>
        <p:txBody>
          <a:bodyPr wrap="square" rtlCol="0" anchor="ctr"/>
          <a:lstStyle/>
          <a:p>
            <a:pPr algn="ctr" indent="0" marL="0">
              <a:buNone/>
            </a:pPr>
            <a:r>
              <a:rPr lang="en-US" sz="750" b="1" dirty="0">
                <a:solidFill>
                  <a:srgbClr val="92400E"/>
                </a:solidFill>
                <a:latin typeface="Calibri" pitchFamily="34" charset="0"/>
                <a:ea typeface="Calibri" pitchFamily="34" charset="-122"/>
                <a:cs typeface="Calibri" pitchFamily="34" charset="-120"/>
              </a:rPr>
              <a:t>Queued for OCR</a:t>
            </a:r>
            <a:endParaRPr lang="en-US" sz="750" dirty="0"/>
          </a:p>
        </p:txBody>
      </p:sp>
      <p:sp>
        <p:nvSpPr>
          <p:cNvPr id="24" name="Shape 22"/>
          <p:cNvSpPr/>
          <p:nvPr/>
        </p:nvSpPr>
        <p:spPr>
          <a:xfrm>
            <a:off x="1600200" y="3227832"/>
            <a:ext cx="3749040" cy="457200"/>
          </a:xfrm>
          <a:prstGeom prst="roundRect">
            <a:avLst>
              <a:gd name="adj" fmla="val 12000"/>
            </a:avLst>
          </a:prstGeom>
          <a:solidFill>
            <a:srgbClr val="FFFFFF"/>
          </a:solidFill>
          <a:ln w="12700">
            <a:solidFill>
              <a:srgbClr val="E2E8F0"/>
            </a:solidFill>
            <a:prstDash val="solid"/>
          </a:ln>
        </p:spPr>
      </p:sp>
      <p:sp>
        <p:nvSpPr>
          <p:cNvPr id="25" name="Shape 23"/>
          <p:cNvSpPr/>
          <p:nvPr/>
        </p:nvSpPr>
        <p:spPr>
          <a:xfrm>
            <a:off x="1664208" y="3300984"/>
            <a:ext cx="310896" cy="310896"/>
          </a:xfrm>
          <a:prstGeom prst="roundRect">
            <a:avLst>
              <a:gd name="adj" fmla="val 14706"/>
            </a:avLst>
          </a:prstGeom>
          <a:solidFill>
            <a:srgbClr val="EFF6FF"/>
          </a:solidFill>
          <a:ln w="12700">
            <a:solidFill>
              <a:srgbClr val="E2E8F0"/>
            </a:solidFill>
            <a:prstDash val="solid"/>
          </a:ln>
        </p:spPr>
      </p:sp>
      <p:sp>
        <p:nvSpPr>
          <p:cNvPr id="26" name="Text 24"/>
          <p:cNvSpPr/>
          <p:nvPr/>
        </p:nvSpPr>
        <p:spPr>
          <a:xfrm>
            <a:off x="2057400" y="3273552"/>
            <a:ext cx="2377440" cy="201168"/>
          </a:xfrm>
          <a:prstGeom prst="rect">
            <a:avLst/>
          </a:prstGeom>
          <a:noFill/>
          <a:ln/>
        </p:spPr>
        <p:txBody>
          <a:bodyPr wrap="square" lIns="0" tIns="0" rIns="0" bIns="0" rtlCol="0" anchor="ctr"/>
          <a:lstStyle/>
          <a:p>
            <a:pPr indent="0" marL="0">
              <a:buNone/>
            </a:pPr>
            <a:r>
              <a:rPr lang="en-US" sz="900" b="1" dirty="0">
                <a:solidFill>
                  <a:srgbClr val="0F1E3C"/>
                </a:solidFill>
                <a:latin typeface="Calibri" pitchFamily="34" charset="0"/>
                <a:ea typeface="Calibri" pitchFamily="34" charset="-122"/>
                <a:cs typeface="Calibri" pitchFamily="34" charset="-120"/>
              </a:rPr>
              <a:t>Supplier_Contract_v3.docx</a:t>
            </a:r>
            <a:endParaRPr lang="en-US" sz="900" dirty="0"/>
          </a:p>
        </p:txBody>
      </p:sp>
      <p:sp>
        <p:nvSpPr>
          <p:cNvPr id="27" name="Text 25"/>
          <p:cNvSpPr/>
          <p:nvPr/>
        </p:nvSpPr>
        <p:spPr>
          <a:xfrm>
            <a:off x="2057400" y="3465576"/>
            <a:ext cx="210312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2 min ago · 118 KB</a:t>
            </a:r>
            <a:endParaRPr lang="en-US" sz="800" dirty="0"/>
          </a:p>
        </p:txBody>
      </p:sp>
      <p:sp>
        <p:nvSpPr>
          <p:cNvPr id="28" name="Shape 26"/>
          <p:cNvSpPr/>
          <p:nvPr/>
        </p:nvSpPr>
        <p:spPr>
          <a:xfrm>
            <a:off x="4251960" y="3319272"/>
            <a:ext cx="960120" cy="274320"/>
          </a:xfrm>
          <a:prstGeom prst="roundRect">
            <a:avLst>
              <a:gd name="adj" fmla="val 40000"/>
            </a:avLst>
          </a:prstGeom>
          <a:solidFill>
            <a:srgbClr val="DBEAFE"/>
          </a:solidFill>
          <a:ln w="12700">
            <a:solidFill>
              <a:srgbClr val="DBEAFE"/>
            </a:solidFill>
            <a:prstDash val="solid"/>
          </a:ln>
        </p:spPr>
      </p:sp>
      <p:sp>
        <p:nvSpPr>
          <p:cNvPr id="29" name="Text 27"/>
          <p:cNvSpPr/>
          <p:nvPr/>
        </p:nvSpPr>
        <p:spPr>
          <a:xfrm>
            <a:off x="4251960" y="3328416"/>
            <a:ext cx="960120" cy="256032"/>
          </a:xfrm>
          <a:prstGeom prst="rect">
            <a:avLst/>
          </a:prstGeom>
          <a:noFill/>
          <a:ln/>
        </p:spPr>
        <p:txBody>
          <a:bodyPr wrap="square" rtlCol="0" anchor="ctr"/>
          <a:lstStyle/>
          <a:p>
            <a:pPr algn="ctr" indent="0" marL="0">
              <a:buNone/>
            </a:pPr>
            <a:r>
              <a:rPr lang="en-US" sz="750" b="1" dirty="0">
                <a:solidFill>
                  <a:srgbClr val="1E40AF"/>
                </a:solidFill>
                <a:latin typeface="Calibri" pitchFamily="34" charset="0"/>
                <a:ea typeface="Calibri" pitchFamily="34" charset="-122"/>
                <a:cs typeface="Calibri" pitchFamily="34" charset="-120"/>
              </a:rPr>
              <a:t>Processing…</a:t>
            </a:r>
            <a:endParaRPr lang="en-US" sz="750" dirty="0"/>
          </a:p>
        </p:txBody>
      </p:sp>
      <p:sp>
        <p:nvSpPr>
          <p:cNvPr id="30" name="Shape 28"/>
          <p:cNvSpPr/>
          <p:nvPr/>
        </p:nvSpPr>
        <p:spPr>
          <a:xfrm>
            <a:off x="1600200" y="3758184"/>
            <a:ext cx="3749040" cy="457200"/>
          </a:xfrm>
          <a:prstGeom prst="roundRect">
            <a:avLst>
              <a:gd name="adj" fmla="val 12000"/>
            </a:avLst>
          </a:prstGeom>
          <a:solidFill>
            <a:srgbClr val="FFFFFF"/>
          </a:solidFill>
          <a:ln w="12700">
            <a:solidFill>
              <a:srgbClr val="E2E8F0"/>
            </a:solidFill>
            <a:prstDash val="solid"/>
          </a:ln>
        </p:spPr>
      </p:sp>
      <p:sp>
        <p:nvSpPr>
          <p:cNvPr id="31" name="Shape 29"/>
          <p:cNvSpPr/>
          <p:nvPr/>
        </p:nvSpPr>
        <p:spPr>
          <a:xfrm>
            <a:off x="1664208" y="3831336"/>
            <a:ext cx="310896" cy="310896"/>
          </a:xfrm>
          <a:prstGeom prst="roundRect">
            <a:avLst>
              <a:gd name="adj" fmla="val 14706"/>
            </a:avLst>
          </a:prstGeom>
          <a:solidFill>
            <a:srgbClr val="EFF6FF"/>
          </a:solidFill>
          <a:ln w="12700">
            <a:solidFill>
              <a:srgbClr val="E2E8F0"/>
            </a:solidFill>
            <a:prstDash val="solid"/>
          </a:ln>
        </p:spPr>
      </p:sp>
      <p:sp>
        <p:nvSpPr>
          <p:cNvPr id="32" name="Text 30"/>
          <p:cNvSpPr/>
          <p:nvPr/>
        </p:nvSpPr>
        <p:spPr>
          <a:xfrm>
            <a:off x="2057400" y="3803904"/>
            <a:ext cx="2377440" cy="201168"/>
          </a:xfrm>
          <a:prstGeom prst="rect">
            <a:avLst/>
          </a:prstGeom>
          <a:noFill/>
          <a:ln/>
        </p:spPr>
        <p:txBody>
          <a:bodyPr wrap="square" lIns="0" tIns="0" rIns="0" bIns="0" rtlCol="0" anchor="ctr"/>
          <a:lstStyle/>
          <a:p>
            <a:pPr indent="0" marL="0">
              <a:buNone/>
            </a:pPr>
            <a:r>
              <a:rPr lang="en-US" sz="900" b="1" dirty="0">
                <a:solidFill>
                  <a:srgbClr val="0F1E3C"/>
                </a:solidFill>
                <a:latin typeface="Calibri" pitchFamily="34" charset="0"/>
                <a:ea typeface="Calibri" pitchFamily="34" charset="-122"/>
                <a:cs typeface="Calibri" pitchFamily="34" charset="-120"/>
              </a:rPr>
              <a:t>Q2_Report_Final.pdf</a:t>
            </a:r>
            <a:endParaRPr lang="en-US" sz="900" dirty="0"/>
          </a:p>
        </p:txBody>
      </p:sp>
      <p:sp>
        <p:nvSpPr>
          <p:cNvPr id="33" name="Text 31"/>
          <p:cNvSpPr/>
          <p:nvPr/>
        </p:nvSpPr>
        <p:spPr>
          <a:xfrm>
            <a:off x="2057400" y="3995928"/>
            <a:ext cx="210312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10 min ago · 2.1 MB</a:t>
            </a:r>
            <a:endParaRPr lang="en-US" sz="800" dirty="0"/>
          </a:p>
        </p:txBody>
      </p:sp>
      <p:sp>
        <p:nvSpPr>
          <p:cNvPr id="34" name="Shape 32"/>
          <p:cNvSpPr/>
          <p:nvPr/>
        </p:nvSpPr>
        <p:spPr>
          <a:xfrm>
            <a:off x="4251960" y="3849624"/>
            <a:ext cx="960120" cy="274320"/>
          </a:xfrm>
          <a:prstGeom prst="roundRect">
            <a:avLst>
              <a:gd name="adj" fmla="val 40000"/>
            </a:avLst>
          </a:prstGeom>
          <a:solidFill>
            <a:srgbClr val="DCFCE7"/>
          </a:solidFill>
          <a:ln w="12700">
            <a:solidFill>
              <a:srgbClr val="DCFCE7"/>
            </a:solidFill>
            <a:prstDash val="solid"/>
          </a:ln>
        </p:spPr>
      </p:sp>
      <p:sp>
        <p:nvSpPr>
          <p:cNvPr id="35" name="Text 33"/>
          <p:cNvSpPr/>
          <p:nvPr/>
        </p:nvSpPr>
        <p:spPr>
          <a:xfrm>
            <a:off x="4251960" y="3858768"/>
            <a:ext cx="960120" cy="256032"/>
          </a:xfrm>
          <a:prstGeom prst="rect">
            <a:avLst/>
          </a:prstGeom>
          <a:noFill/>
          <a:ln/>
        </p:spPr>
        <p:txBody>
          <a:bodyPr wrap="square" rtlCol="0" anchor="ctr"/>
          <a:lstStyle/>
          <a:p>
            <a:pPr algn="ctr" indent="0" marL="0">
              <a:buNone/>
            </a:pPr>
            <a:r>
              <a:rPr lang="en-US" sz="750" b="1" dirty="0">
                <a:solidFill>
                  <a:srgbClr val="166534"/>
                </a:solidFill>
                <a:latin typeface="Calibri" pitchFamily="34" charset="0"/>
                <a:ea typeface="Calibri" pitchFamily="34" charset="-122"/>
                <a:cs typeface="Calibri" pitchFamily="34" charset="-120"/>
              </a:rPr>
              <a:t>Ready — indexed</a:t>
            </a:r>
            <a:endParaRPr lang="en-US" sz="750" dirty="0"/>
          </a:p>
        </p:txBody>
      </p:sp>
      <p:sp>
        <p:nvSpPr>
          <p:cNvPr id="36" name="Shape 34"/>
          <p:cNvSpPr/>
          <p:nvPr/>
        </p:nvSpPr>
        <p:spPr>
          <a:xfrm>
            <a:off x="5715000" y="1097280"/>
            <a:ext cx="3108960" cy="777240"/>
          </a:xfrm>
          <a:prstGeom prst="roundRect">
            <a:avLst>
              <a:gd name="adj" fmla="val 11765"/>
            </a:avLst>
          </a:prstGeom>
          <a:solidFill>
            <a:srgbClr val="FFFFFF"/>
          </a:solidFill>
          <a:ln w="6350">
            <a:solidFill>
              <a:srgbClr val="E2E8F0"/>
            </a:solidFill>
            <a:prstDash val="solid"/>
          </a:ln>
        </p:spPr>
      </p:sp>
      <p:sp>
        <p:nvSpPr>
          <p:cNvPr id="37" name="Shape 35"/>
          <p:cNvSpPr/>
          <p:nvPr/>
        </p:nvSpPr>
        <p:spPr>
          <a:xfrm>
            <a:off x="5806440" y="1261872"/>
            <a:ext cx="384048" cy="384048"/>
          </a:xfrm>
          <a:prstGeom prst="ellipse">
            <a:avLst/>
          </a:prstGeom>
          <a:solidFill>
            <a:srgbClr val="0D9488"/>
          </a:solidFill>
          <a:ln w="12700">
            <a:solidFill>
              <a:srgbClr val="0D9488"/>
            </a:solidFill>
            <a:prstDash val="solid"/>
          </a:ln>
        </p:spPr>
      </p:sp>
      <p:sp>
        <p:nvSpPr>
          <p:cNvPr id="38" name="Text 36"/>
          <p:cNvSpPr/>
          <p:nvPr/>
        </p:nvSpPr>
        <p:spPr>
          <a:xfrm>
            <a:off x="6291072" y="1188720"/>
            <a:ext cx="2423160"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5 ingest channels</a:t>
            </a:r>
            <a:endParaRPr lang="en-US" sz="1100" dirty="0"/>
          </a:p>
        </p:txBody>
      </p:sp>
      <p:sp>
        <p:nvSpPr>
          <p:cNvPr id="39" name="Text 37"/>
          <p:cNvSpPr/>
          <p:nvPr/>
        </p:nvSpPr>
        <p:spPr>
          <a:xfrm>
            <a:off x="6291072" y="1472184"/>
            <a:ext cx="242316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Web upload, email, scanner folder, API push, cloud sync</a:t>
            </a:r>
            <a:endParaRPr lang="en-US" sz="900" dirty="0"/>
          </a:p>
        </p:txBody>
      </p:sp>
      <p:sp>
        <p:nvSpPr>
          <p:cNvPr id="40" name="Shape 38"/>
          <p:cNvSpPr/>
          <p:nvPr/>
        </p:nvSpPr>
        <p:spPr>
          <a:xfrm>
            <a:off x="5715000" y="2057400"/>
            <a:ext cx="3108960" cy="777240"/>
          </a:xfrm>
          <a:prstGeom prst="roundRect">
            <a:avLst>
              <a:gd name="adj" fmla="val 11765"/>
            </a:avLst>
          </a:prstGeom>
          <a:solidFill>
            <a:srgbClr val="FFFFFF"/>
          </a:solidFill>
          <a:ln w="6350">
            <a:solidFill>
              <a:srgbClr val="E2E8F0"/>
            </a:solidFill>
            <a:prstDash val="solid"/>
          </a:ln>
        </p:spPr>
      </p:sp>
      <p:sp>
        <p:nvSpPr>
          <p:cNvPr id="41" name="Shape 39"/>
          <p:cNvSpPr/>
          <p:nvPr/>
        </p:nvSpPr>
        <p:spPr>
          <a:xfrm>
            <a:off x="5806440" y="2221992"/>
            <a:ext cx="384048" cy="384048"/>
          </a:xfrm>
          <a:prstGeom prst="ellipse">
            <a:avLst/>
          </a:prstGeom>
          <a:solidFill>
            <a:srgbClr val="1D4ED8"/>
          </a:solidFill>
          <a:ln w="12700">
            <a:solidFill>
              <a:srgbClr val="1D4ED8"/>
            </a:solidFill>
            <a:prstDash val="solid"/>
          </a:ln>
        </p:spPr>
      </p:sp>
      <p:sp>
        <p:nvSpPr>
          <p:cNvPr id="42" name="Text 40"/>
          <p:cNvSpPr/>
          <p:nvPr/>
        </p:nvSpPr>
        <p:spPr>
          <a:xfrm>
            <a:off x="6291072" y="2148840"/>
            <a:ext cx="2423160"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Auto deduplication</a:t>
            </a:r>
            <a:endParaRPr lang="en-US" sz="1100" dirty="0"/>
          </a:p>
        </p:txBody>
      </p:sp>
      <p:sp>
        <p:nvSpPr>
          <p:cNvPr id="43" name="Text 41"/>
          <p:cNvSpPr/>
          <p:nvPr/>
        </p:nvSpPr>
        <p:spPr>
          <a:xfrm>
            <a:off x="6291072" y="2432304"/>
            <a:ext cx="242316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SHA-256 hash check prevents duplicate files</a:t>
            </a:r>
            <a:endParaRPr lang="en-US" sz="900" dirty="0"/>
          </a:p>
        </p:txBody>
      </p:sp>
      <p:sp>
        <p:nvSpPr>
          <p:cNvPr id="44" name="Shape 42"/>
          <p:cNvSpPr/>
          <p:nvPr/>
        </p:nvSpPr>
        <p:spPr>
          <a:xfrm>
            <a:off x="5715000" y="3017520"/>
            <a:ext cx="3108960" cy="777240"/>
          </a:xfrm>
          <a:prstGeom prst="roundRect">
            <a:avLst>
              <a:gd name="adj" fmla="val 11765"/>
            </a:avLst>
          </a:prstGeom>
          <a:solidFill>
            <a:srgbClr val="FFFFFF"/>
          </a:solidFill>
          <a:ln w="6350">
            <a:solidFill>
              <a:srgbClr val="E2E8F0"/>
            </a:solidFill>
            <a:prstDash val="solid"/>
          </a:ln>
        </p:spPr>
      </p:sp>
      <p:sp>
        <p:nvSpPr>
          <p:cNvPr id="45" name="Shape 43"/>
          <p:cNvSpPr/>
          <p:nvPr/>
        </p:nvSpPr>
        <p:spPr>
          <a:xfrm>
            <a:off x="5806440" y="3182112"/>
            <a:ext cx="384048" cy="384048"/>
          </a:xfrm>
          <a:prstGeom prst="ellipse">
            <a:avLst/>
          </a:prstGeom>
          <a:solidFill>
            <a:srgbClr val="7C3AED"/>
          </a:solidFill>
          <a:ln w="12700">
            <a:solidFill>
              <a:srgbClr val="7C3AED"/>
            </a:solidFill>
            <a:prstDash val="solid"/>
          </a:ln>
        </p:spPr>
      </p:sp>
      <p:sp>
        <p:nvSpPr>
          <p:cNvPr id="46" name="Text 44"/>
          <p:cNvSpPr/>
          <p:nvPr/>
        </p:nvSpPr>
        <p:spPr>
          <a:xfrm>
            <a:off x="6291072" y="3108960"/>
            <a:ext cx="2423160"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Status tracking</a:t>
            </a:r>
            <a:endParaRPr lang="en-US" sz="1100" dirty="0"/>
          </a:p>
        </p:txBody>
      </p:sp>
      <p:sp>
        <p:nvSpPr>
          <p:cNvPr id="47" name="Text 45"/>
          <p:cNvSpPr/>
          <p:nvPr/>
        </p:nvSpPr>
        <p:spPr>
          <a:xfrm>
            <a:off x="6291072" y="3392424"/>
            <a:ext cx="242316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Queued → Processing → Ready — live status badges</a:t>
            </a:r>
            <a:endParaRPr lang="en-US" sz="900" dirty="0"/>
          </a:p>
        </p:txBody>
      </p:sp>
      <p:sp>
        <p:nvSpPr>
          <p:cNvPr id="48" name="Shape 46"/>
          <p:cNvSpPr/>
          <p:nvPr/>
        </p:nvSpPr>
        <p:spPr>
          <a:xfrm>
            <a:off x="5715000" y="3977640"/>
            <a:ext cx="3108960" cy="777240"/>
          </a:xfrm>
          <a:prstGeom prst="roundRect">
            <a:avLst>
              <a:gd name="adj" fmla="val 11765"/>
            </a:avLst>
          </a:prstGeom>
          <a:solidFill>
            <a:srgbClr val="FFFFFF"/>
          </a:solidFill>
          <a:ln w="6350">
            <a:solidFill>
              <a:srgbClr val="E2E8F0"/>
            </a:solidFill>
            <a:prstDash val="solid"/>
          </a:ln>
        </p:spPr>
      </p:sp>
      <p:sp>
        <p:nvSpPr>
          <p:cNvPr id="49" name="Shape 47"/>
          <p:cNvSpPr/>
          <p:nvPr/>
        </p:nvSpPr>
        <p:spPr>
          <a:xfrm>
            <a:off x="5806440" y="4142232"/>
            <a:ext cx="384048" cy="384048"/>
          </a:xfrm>
          <a:prstGeom prst="ellipse">
            <a:avLst/>
          </a:prstGeom>
          <a:solidFill>
            <a:srgbClr val="D97706"/>
          </a:solidFill>
          <a:ln w="12700">
            <a:solidFill>
              <a:srgbClr val="D97706"/>
            </a:solidFill>
            <a:prstDash val="solid"/>
          </a:ln>
        </p:spPr>
      </p:sp>
      <p:sp>
        <p:nvSpPr>
          <p:cNvPr id="50" name="Text 48"/>
          <p:cNvSpPr/>
          <p:nvPr/>
        </p:nvSpPr>
        <p:spPr>
          <a:xfrm>
            <a:off x="6291072" y="4069080"/>
            <a:ext cx="2423160"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AI queued instantly</a:t>
            </a:r>
            <a:endParaRPr lang="en-US" sz="1100" dirty="0"/>
          </a:p>
        </p:txBody>
      </p:sp>
      <p:sp>
        <p:nvSpPr>
          <p:cNvPr id="51" name="Text 49"/>
          <p:cNvSpPr/>
          <p:nvPr/>
        </p:nvSpPr>
        <p:spPr>
          <a:xfrm>
            <a:off x="6291072" y="4352544"/>
            <a:ext cx="242316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GDoc Document record created; OCR pipeline starts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Screen 2 — Document detail with AI sidebar</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05840"/>
            <a:ext cx="3840480" cy="3749040"/>
          </a:xfrm>
          <a:prstGeom prst="roundRect">
            <a:avLst>
              <a:gd name="adj" fmla="val 2439"/>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457200" y="1005840"/>
            <a:ext cx="3840480" cy="347472"/>
          </a:xfrm>
          <a:prstGeom prst="rect">
            <a:avLst/>
          </a:prstGeom>
          <a:solidFill>
            <a:srgbClr val="F1F5F9"/>
          </a:solidFill>
          <a:ln w="12700">
            <a:solidFill>
              <a:srgbClr val="E2E8F0"/>
            </a:solidFill>
            <a:prstDash val="solid"/>
          </a:ln>
        </p:spPr>
      </p:sp>
      <p:sp>
        <p:nvSpPr>
          <p:cNvPr id="6" name="Text 4"/>
          <p:cNvSpPr/>
          <p:nvPr/>
        </p:nvSpPr>
        <p:spPr>
          <a:xfrm>
            <a:off x="594360" y="1024128"/>
            <a:ext cx="2743200" cy="31089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Acme_Invoice_1042.pdf  ·  Page 1 of 2</a:t>
            </a:r>
            <a:endParaRPr lang="en-US" sz="900" dirty="0"/>
          </a:p>
        </p:txBody>
      </p:sp>
      <p:sp>
        <p:nvSpPr>
          <p:cNvPr id="7" name="Shape 5"/>
          <p:cNvSpPr/>
          <p:nvPr/>
        </p:nvSpPr>
        <p:spPr>
          <a:xfrm>
            <a:off x="3383280" y="1051560"/>
            <a:ext cx="822960" cy="246888"/>
          </a:xfrm>
          <a:prstGeom prst="roundRect">
            <a:avLst>
              <a:gd name="adj" fmla="val 37037"/>
            </a:avLst>
          </a:prstGeom>
          <a:solidFill>
            <a:srgbClr val="DCFCE7"/>
          </a:solidFill>
          <a:ln w="12700">
            <a:solidFill>
              <a:srgbClr val="DCFCE7"/>
            </a:solidFill>
            <a:prstDash val="solid"/>
          </a:ln>
        </p:spPr>
      </p:sp>
      <p:sp>
        <p:nvSpPr>
          <p:cNvPr id="8" name="Text 6"/>
          <p:cNvSpPr/>
          <p:nvPr/>
        </p:nvSpPr>
        <p:spPr>
          <a:xfrm>
            <a:off x="3383280" y="1060704"/>
            <a:ext cx="822960" cy="228600"/>
          </a:xfrm>
          <a:prstGeom prst="rect">
            <a:avLst/>
          </a:prstGeom>
          <a:noFill/>
          <a:ln/>
        </p:spPr>
        <p:txBody>
          <a:bodyPr wrap="square" rtlCol="0" anchor="ctr"/>
          <a:lstStyle/>
          <a:p>
            <a:pPr algn="ctr" indent="0" marL="0">
              <a:buNone/>
            </a:pPr>
            <a:r>
              <a:rPr lang="en-US" sz="800" b="1" dirty="0">
                <a:solidFill>
                  <a:srgbClr val="166534"/>
                </a:solidFill>
                <a:latin typeface="Calibri" pitchFamily="34" charset="0"/>
                <a:ea typeface="Calibri" pitchFamily="34" charset="-122"/>
                <a:cs typeface="Calibri" pitchFamily="34" charset="-120"/>
              </a:rPr>
              <a:t>Indexed</a:t>
            </a:r>
            <a:endParaRPr lang="en-US" sz="800" dirty="0"/>
          </a:p>
        </p:txBody>
      </p:sp>
      <p:sp>
        <p:nvSpPr>
          <p:cNvPr id="9" name="Shape 7"/>
          <p:cNvSpPr/>
          <p:nvPr/>
        </p:nvSpPr>
        <p:spPr>
          <a:xfrm>
            <a:off x="640080" y="1508760"/>
            <a:ext cx="1975104" cy="118872"/>
          </a:xfrm>
          <a:prstGeom prst="roundRect">
            <a:avLst>
              <a:gd name="adj" fmla="val 30769"/>
            </a:avLst>
          </a:prstGeom>
          <a:solidFill>
            <a:srgbClr val="E2E8F0"/>
          </a:solidFill>
          <a:ln w="12700">
            <a:solidFill>
              <a:srgbClr val="E2E8F0"/>
            </a:solidFill>
            <a:prstDash val="solid"/>
          </a:ln>
        </p:spPr>
      </p:sp>
      <p:sp>
        <p:nvSpPr>
          <p:cNvPr id="10" name="Shape 8"/>
          <p:cNvSpPr/>
          <p:nvPr/>
        </p:nvSpPr>
        <p:spPr>
          <a:xfrm>
            <a:off x="640080" y="1783080"/>
            <a:ext cx="3072384" cy="118872"/>
          </a:xfrm>
          <a:prstGeom prst="roundRect">
            <a:avLst>
              <a:gd name="adj" fmla="val 30769"/>
            </a:avLst>
          </a:prstGeom>
          <a:solidFill>
            <a:srgbClr val="E2E8F0"/>
          </a:solidFill>
          <a:ln w="12700">
            <a:solidFill>
              <a:srgbClr val="E2E8F0"/>
            </a:solidFill>
            <a:prstDash val="solid"/>
          </a:ln>
        </p:spPr>
      </p:sp>
      <p:sp>
        <p:nvSpPr>
          <p:cNvPr id="11" name="Shape 9"/>
          <p:cNvSpPr/>
          <p:nvPr/>
        </p:nvSpPr>
        <p:spPr>
          <a:xfrm>
            <a:off x="640080" y="2057400"/>
            <a:ext cx="2194560" cy="118872"/>
          </a:xfrm>
          <a:prstGeom prst="roundRect">
            <a:avLst>
              <a:gd name="adj" fmla="val 30769"/>
            </a:avLst>
          </a:prstGeom>
          <a:solidFill>
            <a:srgbClr val="E2E8F0"/>
          </a:solidFill>
          <a:ln w="12700">
            <a:solidFill>
              <a:srgbClr val="E2E8F0"/>
            </a:solidFill>
            <a:prstDash val="solid"/>
          </a:ln>
        </p:spPr>
      </p:sp>
      <p:sp>
        <p:nvSpPr>
          <p:cNvPr id="12" name="Shape 10"/>
          <p:cNvSpPr/>
          <p:nvPr/>
        </p:nvSpPr>
        <p:spPr>
          <a:xfrm>
            <a:off x="640080" y="2331720"/>
            <a:ext cx="2962656" cy="118872"/>
          </a:xfrm>
          <a:prstGeom prst="roundRect">
            <a:avLst>
              <a:gd name="adj" fmla="val 30769"/>
            </a:avLst>
          </a:prstGeom>
          <a:solidFill>
            <a:srgbClr val="E2E8F0"/>
          </a:solidFill>
          <a:ln w="12700">
            <a:solidFill>
              <a:srgbClr val="E2E8F0"/>
            </a:solidFill>
            <a:prstDash val="solid"/>
          </a:ln>
        </p:spPr>
      </p:sp>
      <p:sp>
        <p:nvSpPr>
          <p:cNvPr id="13" name="Shape 11"/>
          <p:cNvSpPr/>
          <p:nvPr/>
        </p:nvSpPr>
        <p:spPr>
          <a:xfrm>
            <a:off x="640080" y="2606040"/>
            <a:ext cx="1536192" cy="118872"/>
          </a:xfrm>
          <a:prstGeom prst="roundRect">
            <a:avLst>
              <a:gd name="adj" fmla="val 30769"/>
            </a:avLst>
          </a:prstGeom>
          <a:solidFill>
            <a:srgbClr val="FEF9C3"/>
          </a:solidFill>
          <a:ln w="12700">
            <a:solidFill>
              <a:srgbClr val="FDE68A"/>
            </a:solidFill>
            <a:prstDash val="solid"/>
          </a:ln>
        </p:spPr>
      </p:sp>
      <p:sp>
        <p:nvSpPr>
          <p:cNvPr id="14" name="Shape 12"/>
          <p:cNvSpPr/>
          <p:nvPr/>
        </p:nvSpPr>
        <p:spPr>
          <a:xfrm>
            <a:off x="640080" y="2880360"/>
            <a:ext cx="3072384" cy="118872"/>
          </a:xfrm>
          <a:prstGeom prst="roundRect">
            <a:avLst>
              <a:gd name="adj" fmla="val 30769"/>
            </a:avLst>
          </a:prstGeom>
          <a:solidFill>
            <a:srgbClr val="FEF9C3"/>
          </a:solidFill>
          <a:ln w="12700">
            <a:solidFill>
              <a:srgbClr val="FDE68A"/>
            </a:solidFill>
            <a:prstDash val="solid"/>
          </a:ln>
        </p:spPr>
      </p:sp>
      <p:sp>
        <p:nvSpPr>
          <p:cNvPr id="15" name="Shape 13"/>
          <p:cNvSpPr/>
          <p:nvPr/>
        </p:nvSpPr>
        <p:spPr>
          <a:xfrm>
            <a:off x="640080" y="3154680"/>
            <a:ext cx="2414016" cy="118872"/>
          </a:xfrm>
          <a:prstGeom prst="roundRect">
            <a:avLst>
              <a:gd name="adj" fmla="val 30769"/>
            </a:avLst>
          </a:prstGeom>
          <a:solidFill>
            <a:srgbClr val="E2E8F0"/>
          </a:solidFill>
          <a:ln w="12700">
            <a:solidFill>
              <a:srgbClr val="E2E8F0"/>
            </a:solidFill>
            <a:prstDash val="solid"/>
          </a:ln>
        </p:spPr>
      </p:sp>
      <p:sp>
        <p:nvSpPr>
          <p:cNvPr id="16" name="Shape 14"/>
          <p:cNvSpPr/>
          <p:nvPr/>
        </p:nvSpPr>
        <p:spPr>
          <a:xfrm>
            <a:off x="640080" y="3429000"/>
            <a:ext cx="1755648" cy="118872"/>
          </a:xfrm>
          <a:prstGeom prst="roundRect">
            <a:avLst>
              <a:gd name="adj" fmla="val 30769"/>
            </a:avLst>
          </a:prstGeom>
          <a:solidFill>
            <a:srgbClr val="E2E8F0"/>
          </a:solidFill>
          <a:ln w="12700">
            <a:solidFill>
              <a:srgbClr val="E2E8F0"/>
            </a:solidFill>
            <a:prstDash val="solid"/>
          </a:ln>
        </p:spPr>
      </p:sp>
      <p:sp>
        <p:nvSpPr>
          <p:cNvPr id="17" name="Shape 15"/>
          <p:cNvSpPr/>
          <p:nvPr/>
        </p:nvSpPr>
        <p:spPr>
          <a:xfrm>
            <a:off x="640080" y="3703320"/>
            <a:ext cx="2962656" cy="118872"/>
          </a:xfrm>
          <a:prstGeom prst="roundRect">
            <a:avLst>
              <a:gd name="adj" fmla="val 30769"/>
            </a:avLst>
          </a:prstGeom>
          <a:solidFill>
            <a:srgbClr val="E2E8F0"/>
          </a:solidFill>
          <a:ln w="12700">
            <a:solidFill>
              <a:srgbClr val="E2E8F0"/>
            </a:solidFill>
            <a:prstDash val="solid"/>
          </a:ln>
        </p:spPr>
      </p:sp>
      <p:sp>
        <p:nvSpPr>
          <p:cNvPr id="18" name="Shape 16"/>
          <p:cNvSpPr/>
          <p:nvPr/>
        </p:nvSpPr>
        <p:spPr>
          <a:xfrm>
            <a:off x="640080" y="3977640"/>
            <a:ext cx="1975104" cy="118872"/>
          </a:xfrm>
          <a:prstGeom prst="roundRect">
            <a:avLst>
              <a:gd name="adj" fmla="val 30769"/>
            </a:avLst>
          </a:prstGeom>
          <a:solidFill>
            <a:srgbClr val="E2E8F0"/>
          </a:solidFill>
          <a:ln w="12700">
            <a:solidFill>
              <a:srgbClr val="E2E8F0"/>
            </a:solidFill>
            <a:prstDash val="solid"/>
          </a:ln>
        </p:spPr>
      </p:sp>
      <p:sp>
        <p:nvSpPr>
          <p:cNvPr id="19" name="Text 17"/>
          <p:cNvSpPr/>
          <p:nvPr/>
        </p:nvSpPr>
        <p:spPr>
          <a:xfrm>
            <a:off x="640080" y="4297680"/>
            <a:ext cx="2743200" cy="228600"/>
          </a:xfrm>
          <a:prstGeom prst="rect">
            <a:avLst/>
          </a:prstGeom>
          <a:noFill/>
          <a:ln/>
        </p:spPr>
        <p:txBody>
          <a:bodyPr wrap="square" lIns="0" tIns="0" rIns="0" bIns="0" rtlCol="0" anchor="ctr"/>
          <a:lstStyle/>
          <a:p>
            <a:pPr indent="0" marL="0">
              <a:buNone/>
            </a:pPr>
            <a:r>
              <a:rPr lang="en-US" sz="800" dirty="0">
                <a:solidFill>
                  <a:srgbClr val="92400E"/>
                </a:solidFill>
                <a:latin typeface="Calibri" pitchFamily="34" charset="0"/>
                <a:ea typeface="Calibri" pitchFamily="34" charset="-122"/>
                <a:cs typeface="Calibri" pitchFamily="34" charset="-120"/>
              </a:rPr>
              <a:t>Highlighted: "Total Amount"</a:t>
            </a:r>
            <a:endParaRPr lang="en-US" sz="800" dirty="0"/>
          </a:p>
        </p:txBody>
      </p:sp>
      <p:sp>
        <p:nvSpPr>
          <p:cNvPr id="20" name="Shape 18"/>
          <p:cNvSpPr/>
          <p:nvPr/>
        </p:nvSpPr>
        <p:spPr>
          <a:xfrm>
            <a:off x="4434840" y="1005840"/>
            <a:ext cx="4389120" cy="3749040"/>
          </a:xfrm>
          <a:prstGeom prst="roundRect">
            <a:avLst>
              <a:gd name="adj" fmla="val 2439"/>
            </a:avLst>
          </a:prstGeom>
          <a:solidFill>
            <a:srgbClr val="F8FAFC"/>
          </a:solidFill>
          <a:ln w="6350">
            <a:solidFill>
              <a:srgbClr val="E2E8F0"/>
            </a:solidFill>
            <a:prstDash val="solid"/>
          </a:ln>
        </p:spPr>
      </p:sp>
      <p:sp>
        <p:nvSpPr>
          <p:cNvPr id="21" name="Text 19"/>
          <p:cNvSpPr/>
          <p:nvPr/>
        </p:nvSpPr>
        <p:spPr>
          <a:xfrm>
            <a:off x="4572000" y="1097280"/>
            <a:ext cx="1828800" cy="25603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AI Summary</a:t>
            </a:r>
            <a:endParaRPr lang="en-US" sz="900" dirty="0"/>
          </a:p>
        </p:txBody>
      </p:sp>
      <p:sp>
        <p:nvSpPr>
          <p:cNvPr id="22" name="Shape 20"/>
          <p:cNvSpPr/>
          <p:nvPr/>
        </p:nvSpPr>
        <p:spPr>
          <a:xfrm>
            <a:off x="4572000" y="1389888"/>
            <a:ext cx="731520" cy="237744"/>
          </a:xfrm>
          <a:prstGeom prst="roundRect">
            <a:avLst>
              <a:gd name="adj" fmla="val 38462"/>
            </a:avLst>
          </a:prstGeom>
          <a:solidFill>
            <a:srgbClr val="DBEAFE"/>
          </a:solidFill>
          <a:ln w="12700">
            <a:solidFill>
              <a:srgbClr val="DBEAFE"/>
            </a:solidFill>
            <a:prstDash val="solid"/>
          </a:ln>
        </p:spPr>
      </p:sp>
      <p:sp>
        <p:nvSpPr>
          <p:cNvPr id="23" name="Text 21"/>
          <p:cNvSpPr/>
          <p:nvPr/>
        </p:nvSpPr>
        <p:spPr>
          <a:xfrm>
            <a:off x="4572000" y="1399032"/>
            <a:ext cx="731520" cy="219456"/>
          </a:xfrm>
          <a:prstGeom prst="rect">
            <a:avLst/>
          </a:prstGeom>
          <a:noFill/>
          <a:ln/>
        </p:spPr>
        <p:txBody>
          <a:bodyPr wrap="square" rtlCol="0" anchor="ctr"/>
          <a:lstStyle/>
          <a:p>
            <a:pPr algn="ctr" indent="0" marL="0">
              <a:buNone/>
            </a:pPr>
            <a:r>
              <a:rPr lang="en-US" sz="800" b="1" dirty="0">
                <a:solidFill>
                  <a:srgbClr val="1E40AF"/>
                </a:solidFill>
                <a:latin typeface="Calibri" pitchFamily="34" charset="0"/>
                <a:ea typeface="Calibri" pitchFamily="34" charset="-122"/>
                <a:cs typeface="Calibri" pitchFamily="34" charset="-120"/>
              </a:rPr>
              <a:t>Invoice</a:t>
            </a:r>
            <a:endParaRPr lang="en-US" sz="800" dirty="0"/>
          </a:p>
        </p:txBody>
      </p:sp>
      <p:sp>
        <p:nvSpPr>
          <p:cNvPr id="24" name="Text 22"/>
          <p:cNvSpPr/>
          <p:nvPr/>
        </p:nvSpPr>
        <p:spPr>
          <a:xfrm>
            <a:off x="4572000" y="1691640"/>
            <a:ext cx="4069080" cy="4114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Tax invoice from Acme Ltd for IT equipment supply. Payment due within 30 days.</a:t>
            </a:r>
            <a:endParaRPr lang="en-US" sz="900" dirty="0"/>
          </a:p>
        </p:txBody>
      </p:sp>
      <p:sp>
        <p:nvSpPr>
          <p:cNvPr id="25" name="Shape 23"/>
          <p:cNvSpPr/>
          <p:nvPr/>
        </p:nvSpPr>
        <p:spPr>
          <a:xfrm>
            <a:off x="4434840" y="2176272"/>
            <a:ext cx="4389120" cy="0"/>
          </a:xfrm>
          <a:prstGeom prst="line">
            <a:avLst/>
          </a:prstGeom>
          <a:noFill/>
          <a:ln w="6350">
            <a:solidFill>
              <a:srgbClr val="E2E8F0"/>
            </a:solidFill>
            <a:prstDash val="solid"/>
          </a:ln>
        </p:spPr>
      </p:sp>
      <p:sp>
        <p:nvSpPr>
          <p:cNvPr id="26" name="Text 24"/>
          <p:cNvSpPr/>
          <p:nvPr/>
        </p:nvSpPr>
        <p:spPr>
          <a:xfrm>
            <a:off x="4572000" y="2240280"/>
            <a:ext cx="1828800" cy="237744"/>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Extracted data</a:t>
            </a:r>
            <a:endParaRPr lang="en-US" sz="900" dirty="0"/>
          </a:p>
        </p:txBody>
      </p:sp>
      <p:sp>
        <p:nvSpPr>
          <p:cNvPr id="27" name="Text 25"/>
          <p:cNvSpPr/>
          <p:nvPr/>
        </p:nvSpPr>
        <p:spPr>
          <a:xfrm>
            <a:off x="4572000" y="2523744"/>
            <a:ext cx="128016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Vendor</a:t>
            </a:r>
            <a:endParaRPr lang="en-US" sz="900" dirty="0"/>
          </a:p>
        </p:txBody>
      </p:sp>
      <p:sp>
        <p:nvSpPr>
          <p:cNvPr id="28" name="Text 26"/>
          <p:cNvSpPr/>
          <p:nvPr/>
        </p:nvSpPr>
        <p:spPr>
          <a:xfrm>
            <a:off x="6766560" y="2523744"/>
            <a:ext cx="1828800" cy="201168"/>
          </a:xfrm>
          <a:prstGeom prst="rect">
            <a:avLst/>
          </a:prstGeom>
          <a:noFill/>
          <a:ln/>
        </p:spPr>
        <p:txBody>
          <a:bodyPr wrap="square" lIns="0" tIns="0" rIns="0" bIns="0" rtlCol="0" anchor="ctr"/>
          <a:lstStyle/>
          <a:p>
            <a:pPr algn="r" indent="0" marL="0">
              <a:buNone/>
            </a:pPr>
            <a:r>
              <a:rPr lang="en-US" sz="900" b="1" dirty="0">
                <a:solidFill>
                  <a:srgbClr val="0F1E3C"/>
                </a:solidFill>
                <a:latin typeface="Calibri" pitchFamily="34" charset="0"/>
                <a:ea typeface="Calibri" pitchFamily="34" charset="-122"/>
                <a:cs typeface="Calibri" pitchFamily="34" charset="-120"/>
              </a:rPr>
              <a:t>Acme Ltd</a:t>
            </a:r>
            <a:endParaRPr lang="en-US" sz="900" dirty="0"/>
          </a:p>
        </p:txBody>
      </p:sp>
      <p:sp>
        <p:nvSpPr>
          <p:cNvPr id="29" name="Text 27"/>
          <p:cNvSpPr/>
          <p:nvPr/>
        </p:nvSpPr>
        <p:spPr>
          <a:xfrm>
            <a:off x="4572000" y="2761488"/>
            <a:ext cx="128016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Invoice no.</a:t>
            </a:r>
            <a:endParaRPr lang="en-US" sz="900" dirty="0"/>
          </a:p>
        </p:txBody>
      </p:sp>
      <p:sp>
        <p:nvSpPr>
          <p:cNvPr id="30" name="Text 28"/>
          <p:cNvSpPr/>
          <p:nvPr/>
        </p:nvSpPr>
        <p:spPr>
          <a:xfrm>
            <a:off x="6766560" y="2761488"/>
            <a:ext cx="1828800" cy="201168"/>
          </a:xfrm>
          <a:prstGeom prst="rect">
            <a:avLst/>
          </a:prstGeom>
          <a:noFill/>
          <a:ln/>
        </p:spPr>
        <p:txBody>
          <a:bodyPr wrap="square" lIns="0" tIns="0" rIns="0" bIns="0" rtlCol="0" anchor="ctr"/>
          <a:lstStyle/>
          <a:p>
            <a:pPr algn="r" indent="0" marL="0">
              <a:buNone/>
            </a:pPr>
            <a:r>
              <a:rPr lang="en-US" sz="900" b="1" dirty="0">
                <a:solidFill>
                  <a:srgbClr val="0F1E3C"/>
                </a:solidFill>
                <a:latin typeface="Calibri" pitchFamily="34" charset="0"/>
                <a:ea typeface="Calibri" pitchFamily="34" charset="-122"/>
                <a:cs typeface="Calibri" pitchFamily="34" charset="-120"/>
              </a:rPr>
              <a:t>INV-1042</a:t>
            </a:r>
            <a:endParaRPr lang="en-US" sz="900" dirty="0"/>
          </a:p>
        </p:txBody>
      </p:sp>
      <p:sp>
        <p:nvSpPr>
          <p:cNvPr id="31" name="Text 29"/>
          <p:cNvSpPr/>
          <p:nvPr/>
        </p:nvSpPr>
        <p:spPr>
          <a:xfrm>
            <a:off x="4572000" y="2999232"/>
            <a:ext cx="128016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Date</a:t>
            </a:r>
            <a:endParaRPr lang="en-US" sz="900" dirty="0"/>
          </a:p>
        </p:txBody>
      </p:sp>
      <p:sp>
        <p:nvSpPr>
          <p:cNvPr id="32" name="Text 30"/>
          <p:cNvSpPr/>
          <p:nvPr/>
        </p:nvSpPr>
        <p:spPr>
          <a:xfrm>
            <a:off x="6766560" y="2999232"/>
            <a:ext cx="1828800" cy="201168"/>
          </a:xfrm>
          <a:prstGeom prst="rect">
            <a:avLst/>
          </a:prstGeom>
          <a:noFill/>
          <a:ln/>
        </p:spPr>
        <p:txBody>
          <a:bodyPr wrap="square" lIns="0" tIns="0" rIns="0" bIns="0" rtlCol="0" anchor="ctr"/>
          <a:lstStyle/>
          <a:p>
            <a:pPr algn="r" indent="0" marL="0">
              <a:buNone/>
            </a:pPr>
            <a:r>
              <a:rPr lang="en-US" sz="900" b="1" dirty="0">
                <a:solidFill>
                  <a:srgbClr val="0F1E3C"/>
                </a:solidFill>
                <a:latin typeface="Calibri" pitchFamily="34" charset="0"/>
                <a:ea typeface="Calibri" pitchFamily="34" charset="-122"/>
                <a:cs typeface="Calibri" pitchFamily="34" charset="-120"/>
              </a:rPr>
              <a:t>10 Jun 2026</a:t>
            </a:r>
            <a:endParaRPr lang="en-US" sz="900" dirty="0"/>
          </a:p>
        </p:txBody>
      </p:sp>
      <p:sp>
        <p:nvSpPr>
          <p:cNvPr id="33" name="Text 31"/>
          <p:cNvSpPr/>
          <p:nvPr/>
        </p:nvSpPr>
        <p:spPr>
          <a:xfrm>
            <a:off x="4572000" y="3236976"/>
            <a:ext cx="128016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Total</a:t>
            </a:r>
            <a:endParaRPr lang="en-US" sz="900" dirty="0"/>
          </a:p>
        </p:txBody>
      </p:sp>
      <p:sp>
        <p:nvSpPr>
          <p:cNvPr id="34" name="Text 32"/>
          <p:cNvSpPr/>
          <p:nvPr/>
        </p:nvSpPr>
        <p:spPr>
          <a:xfrm>
            <a:off x="6766560" y="3236976"/>
            <a:ext cx="1828800" cy="201168"/>
          </a:xfrm>
          <a:prstGeom prst="rect">
            <a:avLst/>
          </a:prstGeom>
          <a:noFill/>
          <a:ln/>
        </p:spPr>
        <p:txBody>
          <a:bodyPr wrap="square" lIns="0" tIns="0" rIns="0" bIns="0" rtlCol="0" anchor="ctr"/>
          <a:lstStyle/>
          <a:p>
            <a:pPr algn="r" indent="0" marL="0">
              <a:buNone/>
            </a:pPr>
            <a:r>
              <a:rPr lang="en-US" sz="900" b="1" dirty="0">
                <a:solidFill>
                  <a:srgbClr val="0F1E3C"/>
                </a:solidFill>
                <a:latin typeface="Calibri" pitchFamily="34" charset="0"/>
                <a:ea typeface="Calibri" pitchFamily="34" charset="-122"/>
                <a:cs typeface="Calibri" pitchFamily="34" charset="-120"/>
              </a:rPr>
              <a:t>$4,500.00</a:t>
            </a:r>
            <a:endParaRPr lang="en-US" sz="900" dirty="0"/>
          </a:p>
        </p:txBody>
      </p:sp>
      <p:sp>
        <p:nvSpPr>
          <p:cNvPr id="35" name="Shape 33"/>
          <p:cNvSpPr/>
          <p:nvPr/>
        </p:nvSpPr>
        <p:spPr>
          <a:xfrm>
            <a:off x="4434840" y="3520440"/>
            <a:ext cx="4389120" cy="0"/>
          </a:xfrm>
          <a:prstGeom prst="line">
            <a:avLst/>
          </a:prstGeom>
          <a:noFill/>
          <a:ln w="6350">
            <a:solidFill>
              <a:srgbClr val="E2E8F0"/>
            </a:solidFill>
            <a:prstDash val="solid"/>
          </a:ln>
        </p:spPr>
      </p:sp>
      <p:sp>
        <p:nvSpPr>
          <p:cNvPr id="36" name="Text 34"/>
          <p:cNvSpPr/>
          <p:nvPr/>
        </p:nvSpPr>
        <p:spPr>
          <a:xfrm>
            <a:off x="4572000" y="3584448"/>
            <a:ext cx="3474720" cy="22860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ERP match — PO-2026-0087  ·  $4,500</a:t>
            </a:r>
            <a:endParaRPr lang="en-US" sz="900" dirty="0"/>
          </a:p>
        </p:txBody>
      </p:sp>
      <p:sp>
        <p:nvSpPr>
          <p:cNvPr id="37" name="Shape 35"/>
          <p:cNvSpPr/>
          <p:nvPr/>
        </p:nvSpPr>
        <p:spPr>
          <a:xfrm>
            <a:off x="4572000" y="3877056"/>
            <a:ext cx="1280160" cy="274320"/>
          </a:xfrm>
          <a:prstGeom prst="roundRect">
            <a:avLst>
              <a:gd name="adj" fmla="val 33333"/>
            </a:avLst>
          </a:prstGeom>
          <a:solidFill>
            <a:srgbClr val="DCFCE7"/>
          </a:solidFill>
          <a:ln w="12700">
            <a:solidFill>
              <a:srgbClr val="DCFCE7"/>
            </a:solidFill>
            <a:prstDash val="solid"/>
          </a:ln>
        </p:spPr>
      </p:sp>
      <p:sp>
        <p:nvSpPr>
          <p:cNvPr id="38" name="Text 36"/>
          <p:cNvSpPr/>
          <p:nvPr/>
        </p:nvSpPr>
        <p:spPr>
          <a:xfrm>
            <a:off x="4572000" y="3886200"/>
            <a:ext cx="1280160" cy="256032"/>
          </a:xfrm>
          <a:prstGeom prst="rect">
            <a:avLst/>
          </a:prstGeom>
          <a:noFill/>
          <a:ln/>
        </p:spPr>
        <p:txBody>
          <a:bodyPr wrap="square" rtlCol="0" anchor="ctr"/>
          <a:lstStyle/>
          <a:p>
            <a:pPr algn="ctr" indent="0" marL="0">
              <a:buNone/>
            </a:pPr>
            <a:r>
              <a:rPr lang="en-US" sz="900" b="1" dirty="0">
                <a:solidFill>
                  <a:srgbClr val="166534"/>
                </a:solidFill>
                <a:latin typeface="Calibri" pitchFamily="34" charset="0"/>
                <a:ea typeface="Calibri" pitchFamily="34" charset="-122"/>
                <a:cs typeface="Calibri" pitchFamily="34" charset="-120"/>
              </a:rPr>
              <a:t>Confirm link</a:t>
            </a:r>
            <a:endParaRPr lang="en-US" sz="900" dirty="0"/>
          </a:p>
        </p:txBody>
      </p:sp>
      <p:sp>
        <p:nvSpPr>
          <p:cNvPr id="39" name="Shape 37"/>
          <p:cNvSpPr/>
          <p:nvPr/>
        </p:nvSpPr>
        <p:spPr>
          <a:xfrm>
            <a:off x="5989320" y="3877056"/>
            <a:ext cx="914400" cy="274320"/>
          </a:xfrm>
          <a:prstGeom prst="roundRect">
            <a:avLst>
              <a:gd name="adj" fmla="val 33333"/>
            </a:avLst>
          </a:prstGeom>
          <a:solidFill>
            <a:srgbClr val="FFFFFF"/>
          </a:solidFill>
          <a:ln w="12700">
            <a:solidFill>
              <a:srgbClr val="E2E8F0"/>
            </a:solidFill>
            <a:prstDash val="solid"/>
          </a:ln>
        </p:spPr>
      </p:sp>
      <p:sp>
        <p:nvSpPr>
          <p:cNvPr id="40" name="Text 38"/>
          <p:cNvSpPr/>
          <p:nvPr/>
        </p:nvSpPr>
        <p:spPr>
          <a:xfrm>
            <a:off x="5989320" y="3886200"/>
            <a:ext cx="914400"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Dismiss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Screen 3 — Search</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05840"/>
            <a:ext cx="8229600" cy="502920"/>
          </a:xfrm>
          <a:prstGeom prst="roundRect">
            <a:avLst>
              <a:gd name="adj" fmla="val 18182"/>
            </a:avLst>
          </a:prstGeom>
          <a:solidFill>
            <a:srgbClr val="FFFFFF"/>
          </a:solidFill>
          <a:ln w="6350">
            <a:solidFill>
              <a:srgbClr val="E2E8F0"/>
            </a:solidFill>
            <a:prstDash val="solid"/>
          </a:ln>
        </p:spPr>
      </p:sp>
      <p:sp>
        <p:nvSpPr>
          <p:cNvPr id="5" name="Text 3"/>
          <p:cNvSpPr/>
          <p:nvPr/>
        </p:nvSpPr>
        <p:spPr>
          <a:xfrm>
            <a:off x="777240" y="1042416"/>
            <a:ext cx="5943600" cy="384048"/>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invoices from Acme 2026</a:t>
            </a:r>
            <a:endParaRPr lang="en-US" sz="1200" dirty="0"/>
          </a:p>
        </p:txBody>
      </p:sp>
      <p:sp>
        <p:nvSpPr>
          <p:cNvPr id="6" name="Shape 4"/>
          <p:cNvSpPr/>
          <p:nvPr/>
        </p:nvSpPr>
        <p:spPr>
          <a:xfrm>
            <a:off x="7086600" y="1088136"/>
            <a:ext cx="1371600" cy="274320"/>
          </a:xfrm>
          <a:prstGeom prst="roundRect">
            <a:avLst>
              <a:gd name="adj" fmla="val 33333"/>
            </a:avLst>
          </a:prstGeom>
          <a:solidFill>
            <a:srgbClr val="EFF6FF"/>
          </a:solidFill>
          <a:ln w="12700">
            <a:solidFill>
              <a:srgbClr val="DBEAFE"/>
            </a:solidFill>
            <a:prstDash val="solid"/>
          </a:ln>
        </p:spPr>
      </p:sp>
      <p:sp>
        <p:nvSpPr>
          <p:cNvPr id="7" name="Text 5"/>
          <p:cNvSpPr/>
          <p:nvPr/>
        </p:nvSpPr>
        <p:spPr>
          <a:xfrm>
            <a:off x="7086600" y="1097280"/>
            <a:ext cx="1371600" cy="256032"/>
          </a:xfrm>
          <a:prstGeom prst="rect">
            <a:avLst/>
          </a:prstGeom>
          <a:noFill/>
          <a:ln/>
        </p:spPr>
        <p:txBody>
          <a:bodyPr wrap="square" rtlCol="0" anchor="ctr"/>
          <a:lstStyle/>
          <a:p>
            <a:pPr algn="ctr" indent="0" marL="0">
              <a:buNone/>
            </a:pPr>
            <a:r>
              <a:rPr lang="en-US" sz="800" dirty="0">
                <a:solidFill>
                  <a:srgbClr val="1E40AF"/>
                </a:solidFill>
                <a:latin typeface="Calibri" pitchFamily="34" charset="0"/>
                <a:ea typeface="Calibri" pitchFamily="34" charset="-122"/>
                <a:cs typeface="Calibri" pitchFamily="34" charset="-120"/>
              </a:rPr>
              <a:t>hybrid search</a:t>
            </a:r>
            <a:endParaRPr lang="en-US" sz="800" dirty="0"/>
          </a:p>
        </p:txBody>
      </p:sp>
      <p:sp>
        <p:nvSpPr>
          <p:cNvPr id="8" name="Shape 6"/>
          <p:cNvSpPr/>
          <p:nvPr/>
        </p:nvSpPr>
        <p:spPr>
          <a:xfrm>
            <a:off x="457200" y="1645920"/>
            <a:ext cx="1645920" cy="3108960"/>
          </a:xfrm>
          <a:prstGeom prst="roundRect">
            <a:avLst>
              <a:gd name="adj" fmla="val 5556"/>
            </a:avLst>
          </a:prstGeom>
          <a:solidFill>
            <a:srgbClr val="F8FAFC"/>
          </a:solidFill>
          <a:ln w="6350">
            <a:solidFill>
              <a:srgbClr val="E2E8F0"/>
            </a:solidFill>
            <a:prstDash val="solid"/>
          </a:ln>
        </p:spPr>
      </p:sp>
      <p:sp>
        <p:nvSpPr>
          <p:cNvPr id="9" name="Text 7"/>
          <p:cNvSpPr/>
          <p:nvPr/>
        </p:nvSpPr>
        <p:spPr>
          <a:xfrm>
            <a:off x="594360" y="1737360"/>
            <a:ext cx="1371600" cy="274320"/>
          </a:xfrm>
          <a:prstGeom prst="rect">
            <a:avLst/>
          </a:prstGeom>
          <a:noFill/>
          <a:ln/>
        </p:spPr>
        <p:txBody>
          <a:bodyPr wrap="square"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Filters</a:t>
            </a:r>
            <a:endParaRPr lang="en-US" sz="1000" dirty="0"/>
          </a:p>
        </p:txBody>
      </p:sp>
      <p:sp>
        <p:nvSpPr>
          <p:cNvPr id="10" name="Text 8"/>
          <p:cNvSpPr/>
          <p:nvPr/>
        </p:nvSpPr>
        <p:spPr>
          <a:xfrm>
            <a:off x="594360" y="2084832"/>
            <a:ext cx="1371600" cy="201168"/>
          </a:xfrm>
          <a:prstGeom prst="rect">
            <a:avLst/>
          </a:prstGeom>
          <a:noFill/>
          <a:ln/>
        </p:spPr>
        <p:txBody>
          <a:bodyPr wrap="square" lIns="0" tIns="0" rIns="0" bIns="0" rtlCol="0" anchor="ctr"/>
          <a:lstStyle/>
          <a:p>
            <a:pPr indent="0" marL="0">
              <a:buNone/>
            </a:pPr>
            <a:r>
              <a:rPr lang="en-US" sz="800" b="1" dirty="0">
                <a:solidFill>
                  <a:srgbClr val="64748B"/>
                </a:solidFill>
                <a:latin typeface="Calibri" pitchFamily="34" charset="0"/>
                <a:ea typeface="Calibri" pitchFamily="34" charset="-122"/>
                <a:cs typeface="Calibri" pitchFamily="34" charset="-120"/>
              </a:rPr>
              <a:t>Type</a:t>
            </a:r>
            <a:endParaRPr lang="en-US" sz="800" dirty="0"/>
          </a:p>
        </p:txBody>
      </p:sp>
      <p:sp>
        <p:nvSpPr>
          <p:cNvPr id="11" name="Shape 9"/>
          <p:cNvSpPr/>
          <p:nvPr/>
        </p:nvSpPr>
        <p:spPr>
          <a:xfrm>
            <a:off x="548640" y="2295144"/>
            <a:ext cx="1463040" cy="219456"/>
          </a:xfrm>
          <a:prstGeom prst="roundRect">
            <a:avLst>
              <a:gd name="adj" fmla="val 20833"/>
            </a:avLst>
          </a:prstGeom>
          <a:solidFill>
            <a:srgbClr val="DBEAFE"/>
          </a:solidFill>
          <a:ln w="12700">
            <a:solidFill>
              <a:srgbClr val="DBEAFE"/>
            </a:solidFill>
            <a:prstDash val="solid"/>
          </a:ln>
        </p:spPr>
      </p:sp>
      <p:sp>
        <p:nvSpPr>
          <p:cNvPr id="12" name="Text 10"/>
          <p:cNvSpPr/>
          <p:nvPr/>
        </p:nvSpPr>
        <p:spPr>
          <a:xfrm>
            <a:off x="621792" y="2304288"/>
            <a:ext cx="1325880" cy="201168"/>
          </a:xfrm>
          <a:prstGeom prst="rect">
            <a:avLst/>
          </a:prstGeom>
          <a:noFill/>
          <a:ln/>
        </p:spPr>
        <p:txBody>
          <a:bodyPr wrap="square" lIns="0" tIns="0" rIns="0" bIns="0" rtlCol="0" anchor="ctr"/>
          <a:lstStyle/>
          <a:p>
            <a:pPr indent="0" marL="0">
              <a:buNone/>
            </a:pPr>
            <a:r>
              <a:rPr lang="en-US" sz="800" b="1" dirty="0">
                <a:solidFill>
                  <a:srgbClr val="1E40AF"/>
                </a:solidFill>
                <a:latin typeface="Calibri" pitchFamily="34" charset="0"/>
                <a:ea typeface="Calibri" pitchFamily="34" charset="-122"/>
                <a:cs typeface="Calibri" pitchFamily="34" charset="-120"/>
              </a:rPr>
              <a:t>Invoice</a:t>
            </a:r>
            <a:endParaRPr lang="en-US" sz="800" dirty="0"/>
          </a:p>
        </p:txBody>
      </p:sp>
      <p:sp>
        <p:nvSpPr>
          <p:cNvPr id="13" name="Text 11"/>
          <p:cNvSpPr/>
          <p:nvPr/>
        </p:nvSpPr>
        <p:spPr>
          <a:xfrm>
            <a:off x="621792" y="2542032"/>
            <a:ext cx="132588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Contract</a:t>
            </a:r>
            <a:endParaRPr lang="en-US" sz="800" dirty="0"/>
          </a:p>
        </p:txBody>
      </p:sp>
      <p:sp>
        <p:nvSpPr>
          <p:cNvPr id="14" name="Text 12"/>
          <p:cNvSpPr/>
          <p:nvPr/>
        </p:nvSpPr>
        <p:spPr>
          <a:xfrm>
            <a:off x="621792" y="2779776"/>
            <a:ext cx="132588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PO</a:t>
            </a:r>
            <a:endParaRPr lang="en-US" sz="800" dirty="0"/>
          </a:p>
        </p:txBody>
      </p:sp>
      <p:sp>
        <p:nvSpPr>
          <p:cNvPr id="15" name="Text 13"/>
          <p:cNvSpPr/>
          <p:nvPr/>
        </p:nvSpPr>
        <p:spPr>
          <a:xfrm>
            <a:off x="594360" y="3108960"/>
            <a:ext cx="1371600" cy="201168"/>
          </a:xfrm>
          <a:prstGeom prst="rect">
            <a:avLst/>
          </a:prstGeom>
          <a:noFill/>
          <a:ln/>
        </p:spPr>
        <p:txBody>
          <a:bodyPr wrap="square" lIns="0" tIns="0" rIns="0" bIns="0" rtlCol="0" anchor="ctr"/>
          <a:lstStyle/>
          <a:p>
            <a:pPr indent="0" marL="0">
              <a:buNone/>
            </a:pPr>
            <a:r>
              <a:rPr lang="en-US" sz="800" b="1" dirty="0">
                <a:solidFill>
                  <a:srgbClr val="64748B"/>
                </a:solidFill>
                <a:latin typeface="Calibri" pitchFamily="34" charset="0"/>
                <a:ea typeface="Calibri" pitchFamily="34" charset="-122"/>
                <a:cs typeface="Calibri" pitchFamily="34" charset="-120"/>
              </a:rPr>
              <a:t>Status</a:t>
            </a:r>
            <a:endParaRPr lang="en-US" sz="800" dirty="0"/>
          </a:p>
        </p:txBody>
      </p:sp>
      <p:sp>
        <p:nvSpPr>
          <p:cNvPr id="16" name="Shape 14"/>
          <p:cNvSpPr/>
          <p:nvPr/>
        </p:nvSpPr>
        <p:spPr>
          <a:xfrm>
            <a:off x="548640" y="3319272"/>
            <a:ext cx="1463040" cy="219456"/>
          </a:xfrm>
          <a:prstGeom prst="roundRect">
            <a:avLst>
              <a:gd name="adj" fmla="val 20833"/>
            </a:avLst>
          </a:prstGeom>
          <a:solidFill>
            <a:srgbClr val="DBEAFE"/>
          </a:solidFill>
          <a:ln w="12700">
            <a:solidFill>
              <a:srgbClr val="DBEAFE"/>
            </a:solidFill>
            <a:prstDash val="solid"/>
          </a:ln>
        </p:spPr>
      </p:sp>
      <p:sp>
        <p:nvSpPr>
          <p:cNvPr id="17" name="Text 15"/>
          <p:cNvSpPr/>
          <p:nvPr/>
        </p:nvSpPr>
        <p:spPr>
          <a:xfrm>
            <a:off x="621792" y="3328416"/>
            <a:ext cx="1325880" cy="201168"/>
          </a:xfrm>
          <a:prstGeom prst="rect">
            <a:avLst/>
          </a:prstGeom>
          <a:noFill/>
          <a:ln/>
        </p:spPr>
        <p:txBody>
          <a:bodyPr wrap="square" lIns="0" tIns="0" rIns="0" bIns="0" rtlCol="0" anchor="ctr"/>
          <a:lstStyle/>
          <a:p>
            <a:pPr indent="0" marL="0">
              <a:buNone/>
            </a:pPr>
            <a:r>
              <a:rPr lang="en-US" sz="800" b="1" dirty="0">
                <a:solidFill>
                  <a:srgbClr val="1E40AF"/>
                </a:solidFill>
                <a:latin typeface="Calibri" pitchFamily="34" charset="0"/>
                <a:ea typeface="Calibri" pitchFamily="34" charset="-122"/>
                <a:cs typeface="Calibri" pitchFamily="34" charset="-120"/>
              </a:rPr>
              <a:t>Approved</a:t>
            </a:r>
            <a:endParaRPr lang="en-US" sz="800" dirty="0"/>
          </a:p>
        </p:txBody>
      </p:sp>
      <p:sp>
        <p:nvSpPr>
          <p:cNvPr id="18" name="Text 16"/>
          <p:cNvSpPr/>
          <p:nvPr/>
        </p:nvSpPr>
        <p:spPr>
          <a:xfrm>
            <a:off x="621792" y="3566160"/>
            <a:ext cx="132588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In review</a:t>
            </a:r>
            <a:endParaRPr lang="en-US" sz="800" dirty="0"/>
          </a:p>
        </p:txBody>
      </p:sp>
      <p:sp>
        <p:nvSpPr>
          <p:cNvPr id="19" name="Text 17"/>
          <p:cNvSpPr/>
          <p:nvPr/>
        </p:nvSpPr>
        <p:spPr>
          <a:xfrm>
            <a:off x="594360" y="3895344"/>
            <a:ext cx="1371600" cy="201168"/>
          </a:xfrm>
          <a:prstGeom prst="rect">
            <a:avLst/>
          </a:prstGeom>
          <a:noFill/>
          <a:ln/>
        </p:spPr>
        <p:txBody>
          <a:bodyPr wrap="square" lIns="0" tIns="0" rIns="0" bIns="0" rtlCol="0" anchor="ctr"/>
          <a:lstStyle/>
          <a:p>
            <a:pPr indent="0" marL="0">
              <a:buNone/>
            </a:pPr>
            <a:r>
              <a:rPr lang="en-US" sz="800" b="1" dirty="0">
                <a:solidFill>
                  <a:srgbClr val="64748B"/>
                </a:solidFill>
                <a:latin typeface="Calibri" pitchFamily="34" charset="0"/>
                <a:ea typeface="Calibri" pitchFamily="34" charset="-122"/>
                <a:cs typeface="Calibri" pitchFamily="34" charset="-120"/>
              </a:rPr>
              <a:t>Vendor</a:t>
            </a:r>
            <a:endParaRPr lang="en-US" sz="800" dirty="0"/>
          </a:p>
        </p:txBody>
      </p:sp>
      <p:sp>
        <p:nvSpPr>
          <p:cNvPr id="20" name="Shape 18"/>
          <p:cNvSpPr/>
          <p:nvPr/>
        </p:nvSpPr>
        <p:spPr>
          <a:xfrm>
            <a:off x="548640" y="4105656"/>
            <a:ext cx="1463040" cy="219456"/>
          </a:xfrm>
          <a:prstGeom prst="roundRect">
            <a:avLst>
              <a:gd name="adj" fmla="val 20833"/>
            </a:avLst>
          </a:prstGeom>
          <a:solidFill>
            <a:srgbClr val="DBEAFE"/>
          </a:solidFill>
          <a:ln w="12700">
            <a:solidFill>
              <a:srgbClr val="DBEAFE"/>
            </a:solidFill>
            <a:prstDash val="solid"/>
          </a:ln>
        </p:spPr>
      </p:sp>
      <p:sp>
        <p:nvSpPr>
          <p:cNvPr id="21" name="Text 19"/>
          <p:cNvSpPr/>
          <p:nvPr/>
        </p:nvSpPr>
        <p:spPr>
          <a:xfrm>
            <a:off x="621792" y="4114800"/>
            <a:ext cx="1325880" cy="201168"/>
          </a:xfrm>
          <a:prstGeom prst="rect">
            <a:avLst/>
          </a:prstGeom>
          <a:noFill/>
          <a:ln/>
        </p:spPr>
        <p:txBody>
          <a:bodyPr wrap="square" lIns="0" tIns="0" rIns="0" bIns="0" rtlCol="0" anchor="ctr"/>
          <a:lstStyle/>
          <a:p>
            <a:pPr indent="0" marL="0">
              <a:buNone/>
            </a:pPr>
            <a:r>
              <a:rPr lang="en-US" sz="800" b="1" dirty="0">
                <a:solidFill>
                  <a:srgbClr val="1E40AF"/>
                </a:solidFill>
                <a:latin typeface="Calibri" pitchFamily="34" charset="0"/>
                <a:ea typeface="Calibri" pitchFamily="34" charset="-122"/>
                <a:cs typeface="Calibri" pitchFamily="34" charset="-120"/>
              </a:rPr>
              <a:t>Acme Ltd</a:t>
            </a:r>
            <a:endParaRPr lang="en-US" sz="800" dirty="0"/>
          </a:p>
        </p:txBody>
      </p:sp>
      <p:sp>
        <p:nvSpPr>
          <p:cNvPr id="22" name="Text 20"/>
          <p:cNvSpPr/>
          <p:nvPr/>
        </p:nvSpPr>
        <p:spPr>
          <a:xfrm>
            <a:off x="621792" y="4352544"/>
            <a:ext cx="132588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Beta Corp</a:t>
            </a:r>
            <a:endParaRPr lang="en-US" sz="800" dirty="0"/>
          </a:p>
        </p:txBody>
      </p:sp>
      <p:sp>
        <p:nvSpPr>
          <p:cNvPr id="23" name="Shape 21"/>
          <p:cNvSpPr/>
          <p:nvPr/>
        </p:nvSpPr>
        <p:spPr>
          <a:xfrm>
            <a:off x="2240280" y="1691640"/>
            <a:ext cx="6446520" cy="914400"/>
          </a:xfrm>
          <a:prstGeom prst="roundRect">
            <a:avLst>
              <a:gd name="adj" fmla="val 10000"/>
            </a:avLst>
          </a:prstGeom>
          <a:solidFill>
            <a:srgbClr val="FFFFFF"/>
          </a:solidFill>
          <a:ln w="6350">
            <a:solidFill>
              <a:srgbClr val="E2E8F0"/>
            </a:solidFill>
            <a:prstDash val="solid"/>
          </a:ln>
        </p:spPr>
      </p:sp>
      <p:sp>
        <p:nvSpPr>
          <p:cNvPr id="24" name="Text 22"/>
          <p:cNvSpPr/>
          <p:nvPr/>
        </p:nvSpPr>
        <p:spPr>
          <a:xfrm>
            <a:off x="2377440" y="1783080"/>
            <a:ext cx="4572000" cy="274320"/>
          </a:xfrm>
          <a:prstGeom prst="rect">
            <a:avLst/>
          </a:prstGeom>
          <a:noFill/>
          <a:ln/>
        </p:spPr>
        <p:txBody>
          <a:bodyPr wrap="square" lIns="0" tIns="0" rIns="0" bIns="0" rtlCol="0" anchor="ctr"/>
          <a:lstStyle/>
          <a:p>
            <a:pPr indent="0" marL="0">
              <a:buNone/>
            </a:pPr>
            <a:r>
              <a:rPr lang="en-US" sz="1200" b="1" dirty="0">
                <a:solidFill>
                  <a:srgbClr val="1D4ED8"/>
                </a:solidFill>
                <a:latin typeface="Calibri" pitchFamily="34" charset="0"/>
                <a:ea typeface="Calibri" pitchFamily="34" charset="-122"/>
                <a:cs typeface="Calibri" pitchFamily="34" charset="-120"/>
              </a:rPr>
              <a:t>Acme_Invoice_1042.pdf</a:t>
            </a:r>
            <a:endParaRPr lang="en-US" sz="1200" dirty="0"/>
          </a:p>
        </p:txBody>
      </p:sp>
      <p:sp>
        <p:nvSpPr>
          <p:cNvPr id="25" name="Text 23"/>
          <p:cNvSpPr/>
          <p:nvPr/>
        </p:nvSpPr>
        <p:spPr>
          <a:xfrm>
            <a:off x="2377440" y="2057400"/>
            <a:ext cx="5577840" cy="25603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…total amount $4,500.00 due within 30 days. Acme Ltd, dated 10 Jun 2026…</a:t>
            </a:r>
            <a:endParaRPr lang="en-US" sz="850" dirty="0"/>
          </a:p>
        </p:txBody>
      </p:sp>
      <p:sp>
        <p:nvSpPr>
          <p:cNvPr id="26" name="Shape 24"/>
          <p:cNvSpPr/>
          <p:nvPr/>
        </p:nvSpPr>
        <p:spPr>
          <a:xfrm>
            <a:off x="2377440" y="2350008"/>
            <a:ext cx="960120" cy="182880"/>
          </a:xfrm>
          <a:prstGeom prst="roundRect">
            <a:avLst>
              <a:gd name="adj" fmla="val 40000"/>
            </a:avLst>
          </a:prstGeom>
          <a:solidFill>
            <a:srgbClr val="EFF6FF"/>
          </a:solidFill>
          <a:ln w="12700">
            <a:solidFill>
              <a:srgbClr val="DBEAFE"/>
            </a:solidFill>
            <a:prstDash val="solid"/>
          </a:ln>
        </p:spPr>
      </p:sp>
      <p:sp>
        <p:nvSpPr>
          <p:cNvPr id="27" name="Text 25"/>
          <p:cNvSpPr/>
          <p:nvPr/>
        </p:nvSpPr>
        <p:spPr>
          <a:xfrm>
            <a:off x="2377440" y="2350008"/>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Invoice</a:t>
            </a:r>
            <a:endParaRPr lang="en-US" sz="750" dirty="0"/>
          </a:p>
        </p:txBody>
      </p:sp>
      <p:sp>
        <p:nvSpPr>
          <p:cNvPr id="28" name="Shape 26"/>
          <p:cNvSpPr/>
          <p:nvPr/>
        </p:nvSpPr>
        <p:spPr>
          <a:xfrm>
            <a:off x="3429000" y="2350008"/>
            <a:ext cx="960120" cy="182880"/>
          </a:xfrm>
          <a:prstGeom prst="roundRect">
            <a:avLst>
              <a:gd name="adj" fmla="val 40000"/>
            </a:avLst>
          </a:prstGeom>
          <a:solidFill>
            <a:srgbClr val="EFF6FF"/>
          </a:solidFill>
          <a:ln w="12700">
            <a:solidFill>
              <a:srgbClr val="DBEAFE"/>
            </a:solidFill>
            <a:prstDash val="solid"/>
          </a:ln>
        </p:spPr>
      </p:sp>
      <p:sp>
        <p:nvSpPr>
          <p:cNvPr id="29" name="Text 27"/>
          <p:cNvSpPr/>
          <p:nvPr/>
        </p:nvSpPr>
        <p:spPr>
          <a:xfrm>
            <a:off x="3429000" y="2350008"/>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Approved</a:t>
            </a:r>
            <a:endParaRPr lang="en-US" sz="750" dirty="0"/>
          </a:p>
        </p:txBody>
      </p:sp>
      <p:sp>
        <p:nvSpPr>
          <p:cNvPr id="30" name="Shape 28"/>
          <p:cNvSpPr/>
          <p:nvPr/>
        </p:nvSpPr>
        <p:spPr>
          <a:xfrm>
            <a:off x="4480560" y="2350008"/>
            <a:ext cx="960120" cy="182880"/>
          </a:xfrm>
          <a:prstGeom prst="roundRect">
            <a:avLst>
              <a:gd name="adj" fmla="val 40000"/>
            </a:avLst>
          </a:prstGeom>
          <a:solidFill>
            <a:srgbClr val="EFF6FF"/>
          </a:solidFill>
          <a:ln w="12700">
            <a:solidFill>
              <a:srgbClr val="DBEAFE"/>
            </a:solidFill>
            <a:prstDash val="solid"/>
          </a:ln>
        </p:spPr>
      </p:sp>
      <p:sp>
        <p:nvSpPr>
          <p:cNvPr id="31" name="Text 29"/>
          <p:cNvSpPr/>
          <p:nvPr/>
        </p:nvSpPr>
        <p:spPr>
          <a:xfrm>
            <a:off x="4480560" y="2350008"/>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$4,500</a:t>
            </a:r>
            <a:endParaRPr lang="en-US" sz="750" dirty="0"/>
          </a:p>
        </p:txBody>
      </p:sp>
      <p:sp>
        <p:nvSpPr>
          <p:cNvPr id="32" name="Text 30"/>
          <p:cNvSpPr/>
          <p:nvPr/>
        </p:nvSpPr>
        <p:spPr>
          <a:xfrm>
            <a:off x="7863840" y="178308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96% match</a:t>
            </a:r>
            <a:endParaRPr lang="en-US" sz="900" dirty="0"/>
          </a:p>
        </p:txBody>
      </p:sp>
      <p:sp>
        <p:nvSpPr>
          <p:cNvPr id="33" name="Shape 31"/>
          <p:cNvSpPr/>
          <p:nvPr/>
        </p:nvSpPr>
        <p:spPr>
          <a:xfrm>
            <a:off x="2240280" y="2715768"/>
            <a:ext cx="6446520" cy="914400"/>
          </a:xfrm>
          <a:prstGeom prst="roundRect">
            <a:avLst>
              <a:gd name="adj" fmla="val 10000"/>
            </a:avLst>
          </a:prstGeom>
          <a:solidFill>
            <a:srgbClr val="FFFFFF"/>
          </a:solidFill>
          <a:ln w="6350">
            <a:solidFill>
              <a:srgbClr val="E2E8F0"/>
            </a:solidFill>
            <a:prstDash val="solid"/>
          </a:ln>
        </p:spPr>
      </p:sp>
      <p:sp>
        <p:nvSpPr>
          <p:cNvPr id="34" name="Text 32"/>
          <p:cNvSpPr/>
          <p:nvPr/>
        </p:nvSpPr>
        <p:spPr>
          <a:xfrm>
            <a:off x="2377440" y="2807208"/>
            <a:ext cx="4572000" cy="274320"/>
          </a:xfrm>
          <a:prstGeom prst="rect">
            <a:avLst/>
          </a:prstGeom>
          <a:noFill/>
          <a:ln/>
        </p:spPr>
        <p:txBody>
          <a:bodyPr wrap="square" lIns="0" tIns="0" rIns="0" bIns="0" rtlCol="0" anchor="ctr"/>
          <a:lstStyle/>
          <a:p>
            <a:pPr indent="0" marL="0">
              <a:buNone/>
            </a:pPr>
            <a:r>
              <a:rPr lang="en-US" sz="1200" b="1" dirty="0">
                <a:solidFill>
                  <a:srgbClr val="1D4ED8"/>
                </a:solidFill>
                <a:latin typeface="Calibri" pitchFamily="34" charset="0"/>
                <a:ea typeface="Calibri" pitchFamily="34" charset="-122"/>
                <a:cs typeface="Calibri" pitchFamily="34" charset="-120"/>
              </a:rPr>
              <a:t>Acme_Invoice_0988.pdf</a:t>
            </a:r>
            <a:endParaRPr lang="en-US" sz="1200" dirty="0"/>
          </a:p>
        </p:txBody>
      </p:sp>
      <p:sp>
        <p:nvSpPr>
          <p:cNvPr id="35" name="Text 33"/>
          <p:cNvSpPr/>
          <p:nvPr/>
        </p:nvSpPr>
        <p:spPr>
          <a:xfrm>
            <a:off x="2377440" y="3081528"/>
            <a:ext cx="5577840" cy="25603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…monthly maintenance retainer. Acme Ltd · INV-0988 · 2026-03-01…</a:t>
            </a:r>
            <a:endParaRPr lang="en-US" sz="850" dirty="0"/>
          </a:p>
        </p:txBody>
      </p:sp>
      <p:sp>
        <p:nvSpPr>
          <p:cNvPr id="36" name="Shape 34"/>
          <p:cNvSpPr/>
          <p:nvPr/>
        </p:nvSpPr>
        <p:spPr>
          <a:xfrm>
            <a:off x="2377440" y="3374136"/>
            <a:ext cx="960120" cy="182880"/>
          </a:xfrm>
          <a:prstGeom prst="roundRect">
            <a:avLst>
              <a:gd name="adj" fmla="val 40000"/>
            </a:avLst>
          </a:prstGeom>
          <a:solidFill>
            <a:srgbClr val="EFF6FF"/>
          </a:solidFill>
          <a:ln w="12700">
            <a:solidFill>
              <a:srgbClr val="DBEAFE"/>
            </a:solidFill>
            <a:prstDash val="solid"/>
          </a:ln>
        </p:spPr>
      </p:sp>
      <p:sp>
        <p:nvSpPr>
          <p:cNvPr id="37" name="Text 35"/>
          <p:cNvSpPr/>
          <p:nvPr/>
        </p:nvSpPr>
        <p:spPr>
          <a:xfrm>
            <a:off x="2377440" y="3374136"/>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Invoice</a:t>
            </a:r>
            <a:endParaRPr lang="en-US" sz="750" dirty="0"/>
          </a:p>
        </p:txBody>
      </p:sp>
      <p:sp>
        <p:nvSpPr>
          <p:cNvPr id="38" name="Shape 36"/>
          <p:cNvSpPr/>
          <p:nvPr/>
        </p:nvSpPr>
        <p:spPr>
          <a:xfrm>
            <a:off x="3429000" y="3374136"/>
            <a:ext cx="960120" cy="182880"/>
          </a:xfrm>
          <a:prstGeom prst="roundRect">
            <a:avLst>
              <a:gd name="adj" fmla="val 40000"/>
            </a:avLst>
          </a:prstGeom>
          <a:solidFill>
            <a:srgbClr val="EFF6FF"/>
          </a:solidFill>
          <a:ln w="12700">
            <a:solidFill>
              <a:srgbClr val="DBEAFE"/>
            </a:solidFill>
            <a:prstDash val="solid"/>
          </a:ln>
        </p:spPr>
      </p:sp>
      <p:sp>
        <p:nvSpPr>
          <p:cNvPr id="39" name="Text 37"/>
          <p:cNvSpPr/>
          <p:nvPr/>
        </p:nvSpPr>
        <p:spPr>
          <a:xfrm>
            <a:off x="3429000" y="3374136"/>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Approved</a:t>
            </a:r>
            <a:endParaRPr lang="en-US" sz="750" dirty="0"/>
          </a:p>
        </p:txBody>
      </p:sp>
      <p:sp>
        <p:nvSpPr>
          <p:cNvPr id="40" name="Shape 38"/>
          <p:cNvSpPr/>
          <p:nvPr/>
        </p:nvSpPr>
        <p:spPr>
          <a:xfrm>
            <a:off x="4480560" y="3374136"/>
            <a:ext cx="960120" cy="182880"/>
          </a:xfrm>
          <a:prstGeom prst="roundRect">
            <a:avLst>
              <a:gd name="adj" fmla="val 40000"/>
            </a:avLst>
          </a:prstGeom>
          <a:solidFill>
            <a:srgbClr val="EFF6FF"/>
          </a:solidFill>
          <a:ln w="12700">
            <a:solidFill>
              <a:srgbClr val="DBEAFE"/>
            </a:solidFill>
            <a:prstDash val="solid"/>
          </a:ln>
        </p:spPr>
      </p:sp>
      <p:sp>
        <p:nvSpPr>
          <p:cNvPr id="41" name="Text 39"/>
          <p:cNvSpPr/>
          <p:nvPr/>
        </p:nvSpPr>
        <p:spPr>
          <a:xfrm>
            <a:off x="4480560" y="3374136"/>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$1,200</a:t>
            </a:r>
            <a:endParaRPr lang="en-US" sz="750" dirty="0"/>
          </a:p>
        </p:txBody>
      </p:sp>
      <p:sp>
        <p:nvSpPr>
          <p:cNvPr id="42" name="Text 40"/>
          <p:cNvSpPr/>
          <p:nvPr/>
        </p:nvSpPr>
        <p:spPr>
          <a:xfrm>
            <a:off x="7863840" y="2807208"/>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88% match</a:t>
            </a:r>
            <a:endParaRPr lang="en-US" sz="900" dirty="0"/>
          </a:p>
        </p:txBody>
      </p:sp>
      <p:sp>
        <p:nvSpPr>
          <p:cNvPr id="43" name="Shape 41"/>
          <p:cNvSpPr/>
          <p:nvPr/>
        </p:nvSpPr>
        <p:spPr>
          <a:xfrm>
            <a:off x="2240280" y="3739896"/>
            <a:ext cx="6446520" cy="914400"/>
          </a:xfrm>
          <a:prstGeom prst="roundRect">
            <a:avLst>
              <a:gd name="adj" fmla="val 10000"/>
            </a:avLst>
          </a:prstGeom>
          <a:solidFill>
            <a:srgbClr val="FFFFFF"/>
          </a:solidFill>
          <a:ln w="6350">
            <a:solidFill>
              <a:srgbClr val="E2E8F0"/>
            </a:solidFill>
            <a:prstDash val="solid"/>
          </a:ln>
        </p:spPr>
      </p:sp>
      <p:sp>
        <p:nvSpPr>
          <p:cNvPr id="44" name="Text 42"/>
          <p:cNvSpPr/>
          <p:nvPr/>
        </p:nvSpPr>
        <p:spPr>
          <a:xfrm>
            <a:off x="2377440" y="3831336"/>
            <a:ext cx="4572000" cy="274320"/>
          </a:xfrm>
          <a:prstGeom prst="rect">
            <a:avLst/>
          </a:prstGeom>
          <a:noFill/>
          <a:ln/>
        </p:spPr>
        <p:txBody>
          <a:bodyPr wrap="square" lIns="0" tIns="0" rIns="0" bIns="0" rtlCol="0" anchor="ctr"/>
          <a:lstStyle/>
          <a:p>
            <a:pPr indent="0" marL="0">
              <a:buNone/>
            </a:pPr>
            <a:r>
              <a:rPr lang="en-US" sz="1200" b="1" dirty="0">
                <a:solidFill>
                  <a:srgbClr val="1D4ED8"/>
                </a:solidFill>
                <a:latin typeface="Calibri" pitchFamily="34" charset="0"/>
                <a:ea typeface="Calibri" pitchFamily="34" charset="-122"/>
                <a:cs typeface="Calibri" pitchFamily="34" charset="-120"/>
              </a:rPr>
              <a:t>Acme_Invoice_0901.pdf</a:t>
            </a:r>
            <a:endParaRPr lang="en-US" sz="1200" dirty="0"/>
          </a:p>
        </p:txBody>
      </p:sp>
      <p:sp>
        <p:nvSpPr>
          <p:cNvPr id="45" name="Text 43"/>
          <p:cNvSpPr/>
          <p:nvPr/>
        </p:nvSpPr>
        <p:spPr>
          <a:xfrm>
            <a:off x="2377440" y="4105656"/>
            <a:ext cx="5577840" cy="25603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…annual software licence renewal. Acme Ltd · January 2026. Total $8,000…</a:t>
            </a:r>
            <a:endParaRPr lang="en-US" sz="850" dirty="0"/>
          </a:p>
        </p:txBody>
      </p:sp>
      <p:sp>
        <p:nvSpPr>
          <p:cNvPr id="46" name="Shape 44"/>
          <p:cNvSpPr/>
          <p:nvPr/>
        </p:nvSpPr>
        <p:spPr>
          <a:xfrm>
            <a:off x="2377440" y="4398264"/>
            <a:ext cx="960120" cy="182880"/>
          </a:xfrm>
          <a:prstGeom prst="roundRect">
            <a:avLst>
              <a:gd name="adj" fmla="val 40000"/>
            </a:avLst>
          </a:prstGeom>
          <a:solidFill>
            <a:srgbClr val="EFF6FF"/>
          </a:solidFill>
          <a:ln w="12700">
            <a:solidFill>
              <a:srgbClr val="DBEAFE"/>
            </a:solidFill>
            <a:prstDash val="solid"/>
          </a:ln>
        </p:spPr>
      </p:sp>
      <p:sp>
        <p:nvSpPr>
          <p:cNvPr id="47" name="Text 45"/>
          <p:cNvSpPr/>
          <p:nvPr/>
        </p:nvSpPr>
        <p:spPr>
          <a:xfrm>
            <a:off x="2377440" y="4398264"/>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Invoice</a:t>
            </a:r>
            <a:endParaRPr lang="en-US" sz="750" dirty="0"/>
          </a:p>
        </p:txBody>
      </p:sp>
      <p:sp>
        <p:nvSpPr>
          <p:cNvPr id="48" name="Shape 46"/>
          <p:cNvSpPr/>
          <p:nvPr/>
        </p:nvSpPr>
        <p:spPr>
          <a:xfrm>
            <a:off x="3429000" y="4398264"/>
            <a:ext cx="960120" cy="182880"/>
          </a:xfrm>
          <a:prstGeom prst="roundRect">
            <a:avLst>
              <a:gd name="adj" fmla="val 40000"/>
            </a:avLst>
          </a:prstGeom>
          <a:solidFill>
            <a:srgbClr val="EFF6FF"/>
          </a:solidFill>
          <a:ln w="12700">
            <a:solidFill>
              <a:srgbClr val="DBEAFE"/>
            </a:solidFill>
            <a:prstDash val="solid"/>
          </a:ln>
        </p:spPr>
      </p:sp>
      <p:sp>
        <p:nvSpPr>
          <p:cNvPr id="49" name="Text 47"/>
          <p:cNvSpPr/>
          <p:nvPr/>
        </p:nvSpPr>
        <p:spPr>
          <a:xfrm>
            <a:off x="3429000" y="4398264"/>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Approved</a:t>
            </a:r>
            <a:endParaRPr lang="en-US" sz="750" dirty="0"/>
          </a:p>
        </p:txBody>
      </p:sp>
      <p:sp>
        <p:nvSpPr>
          <p:cNvPr id="50" name="Shape 48"/>
          <p:cNvSpPr/>
          <p:nvPr/>
        </p:nvSpPr>
        <p:spPr>
          <a:xfrm>
            <a:off x="4480560" y="4398264"/>
            <a:ext cx="960120" cy="182880"/>
          </a:xfrm>
          <a:prstGeom prst="roundRect">
            <a:avLst>
              <a:gd name="adj" fmla="val 40000"/>
            </a:avLst>
          </a:prstGeom>
          <a:solidFill>
            <a:srgbClr val="EFF6FF"/>
          </a:solidFill>
          <a:ln w="12700">
            <a:solidFill>
              <a:srgbClr val="DBEAFE"/>
            </a:solidFill>
            <a:prstDash val="solid"/>
          </a:ln>
        </p:spPr>
      </p:sp>
      <p:sp>
        <p:nvSpPr>
          <p:cNvPr id="51" name="Text 49"/>
          <p:cNvSpPr/>
          <p:nvPr/>
        </p:nvSpPr>
        <p:spPr>
          <a:xfrm>
            <a:off x="4480560" y="4398264"/>
            <a:ext cx="960120" cy="182880"/>
          </a:xfrm>
          <a:prstGeom prst="rect">
            <a:avLst/>
          </a:prstGeom>
          <a:noFill/>
          <a:ln/>
        </p:spPr>
        <p:txBody>
          <a:bodyPr wrap="square"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$8,000</a:t>
            </a:r>
            <a:endParaRPr lang="en-US" sz="750" dirty="0"/>
          </a:p>
        </p:txBody>
      </p:sp>
      <p:sp>
        <p:nvSpPr>
          <p:cNvPr id="52" name="Text 50"/>
          <p:cNvSpPr/>
          <p:nvPr/>
        </p:nvSpPr>
        <p:spPr>
          <a:xfrm>
            <a:off x="7863840" y="3831336"/>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81% match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Screen 4 — AI Chat (RAG)</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05840"/>
            <a:ext cx="5120640" cy="3749040"/>
          </a:xfrm>
          <a:prstGeom prst="roundRect">
            <a:avLst>
              <a:gd name="adj" fmla="val 2439"/>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457200" y="1005840"/>
            <a:ext cx="5120640" cy="347472"/>
          </a:xfrm>
          <a:prstGeom prst="rect">
            <a:avLst/>
          </a:prstGeom>
          <a:solidFill>
            <a:srgbClr val="F1F5F9"/>
          </a:solidFill>
          <a:ln w="12700">
            <a:solidFill>
              <a:srgbClr val="E2E8F0"/>
            </a:solidFill>
            <a:prstDash val="solid"/>
          </a:ln>
        </p:spPr>
      </p:sp>
      <p:sp>
        <p:nvSpPr>
          <p:cNvPr id="6" name="Text 4"/>
          <p:cNvSpPr/>
          <p:nvPr/>
        </p:nvSpPr>
        <p:spPr>
          <a:xfrm>
            <a:off x="594360" y="1033272"/>
            <a:ext cx="365760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Chat  ·  Scope: Whole workspace</a:t>
            </a:r>
            <a:endParaRPr lang="en-US" sz="900" dirty="0"/>
          </a:p>
        </p:txBody>
      </p:sp>
      <p:sp>
        <p:nvSpPr>
          <p:cNvPr id="7" name="Shape 5"/>
          <p:cNvSpPr/>
          <p:nvPr/>
        </p:nvSpPr>
        <p:spPr>
          <a:xfrm>
            <a:off x="594360" y="1444752"/>
            <a:ext cx="1170432" cy="237744"/>
          </a:xfrm>
          <a:prstGeom prst="roundRect">
            <a:avLst>
              <a:gd name="adj" fmla="val 38462"/>
            </a:avLst>
          </a:prstGeom>
          <a:solidFill>
            <a:srgbClr val="DBEAFE"/>
          </a:solidFill>
          <a:ln w="12700">
            <a:solidFill>
              <a:srgbClr val="DBEAFE"/>
            </a:solidFill>
            <a:prstDash val="solid"/>
          </a:ln>
        </p:spPr>
      </p:sp>
      <p:sp>
        <p:nvSpPr>
          <p:cNvPr id="8" name="Text 6"/>
          <p:cNvSpPr/>
          <p:nvPr/>
        </p:nvSpPr>
        <p:spPr>
          <a:xfrm>
            <a:off x="594360" y="1444752"/>
            <a:ext cx="1170432" cy="237744"/>
          </a:xfrm>
          <a:prstGeom prst="rect">
            <a:avLst/>
          </a:prstGeom>
          <a:noFill/>
          <a:ln/>
        </p:spPr>
        <p:txBody>
          <a:bodyPr wrap="square" rtlCol="0" anchor="ctr"/>
          <a:lstStyle/>
          <a:p>
            <a:pPr algn="ctr" indent="0" marL="0">
              <a:buNone/>
            </a:pPr>
            <a:r>
              <a:rPr lang="en-US" sz="750" b="1" dirty="0">
                <a:solidFill>
                  <a:srgbClr val="1E40AF"/>
                </a:solidFill>
                <a:latin typeface="Calibri" pitchFamily="34" charset="0"/>
                <a:ea typeface="Calibri" pitchFamily="34" charset="-122"/>
                <a:cs typeface="Calibri" pitchFamily="34" charset="-120"/>
              </a:rPr>
              <a:t>All documents</a:t>
            </a:r>
            <a:endParaRPr lang="en-US" sz="750" dirty="0"/>
          </a:p>
        </p:txBody>
      </p:sp>
      <p:sp>
        <p:nvSpPr>
          <p:cNvPr id="9" name="Shape 7"/>
          <p:cNvSpPr/>
          <p:nvPr/>
        </p:nvSpPr>
        <p:spPr>
          <a:xfrm>
            <a:off x="1837944" y="1444752"/>
            <a:ext cx="1170432" cy="237744"/>
          </a:xfrm>
          <a:prstGeom prst="roundRect">
            <a:avLst>
              <a:gd name="adj" fmla="val 38462"/>
            </a:avLst>
          </a:prstGeom>
          <a:solidFill>
            <a:srgbClr val="F1F5F9"/>
          </a:solidFill>
          <a:ln w="12700">
            <a:solidFill>
              <a:srgbClr val="E2E8F0"/>
            </a:solidFill>
            <a:prstDash val="solid"/>
          </a:ln>
        </p:spPr>
      </p:sp>
      <p:sp>
        <p:nvSpPr>
          <p:cNvPr id="10" name="Text 8"/>
          <p:cNvSpPr/>
          <p:nvPr/>
        </p:nvSpPr>
        <p:spPr>
          <a:xfrm>
            <a:off x="1837944" y="1444752"/>
            <a:ext cx="1170432" cy="237744"/>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Finance folder</a:t>
            </a:r>
            <a:endParaRPr lang="en-US" sz="750" dirty="0"/>
          </a:p>
        </p:txBody>
      </p:sp>
      <p:sp>
        <p:nvSpPr>
          <p:cNvPr id="11" name="Shape 9"/>
          <p:cNvSpPr/>
          <p:nvPr/>
        </p:nvSpPr>
        <p:spPr>
          <a:xfrm>
            <a:off x="3081528" y="1444752"/>
            <a:ext cx="1170432" cy="237744"/>
          </a:xfrm>
          <a:prstGeom prst="roundRect">
            <a:avLst>
              <a:gd name="adj" fmla="val 38462"/>
            </a:avLst>
          </a:prstGeom>
          <a:solidFill>
            <a:srgbClr val="F1F5F9"/>
          </a:solidFill>
          <a:ln w="12700">
            <a:solidFill>
              <a:srgbClr val="E2E8F0"/>
            </a:solidFill>
            <a:prstDash val="solid"/>
          </a:ln>
        </p:spPr>
      </p:sp>
      <p:sp>
        <p:nvSpPr>
          <p:cNvPr id="12" name="Text 10"/>
          <p:cNvSpPr/>
          <p:nvPr/>
        </p:nvSpPr>
        <p:spPr>
          <a:xfrm>
            <a:off x="3081528" y="1444752"/>
            <a:ext cx="1170432" cy="237744"/>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This doc only</a:t>
            </a:r>
            <a:endParaRPr lang="en-US" sz="750" dirty="0"/>
          </a:p>
        </p:txBody>
      </p:sp>
      <p:sp>
        <p:nvSpPr>
          <p:cNvPr id="13" name="Shape 11"/>
          <p:cNvSpPr/>
          <p:nvPr/>
        </p:nvSpPr>
        <p:spPr>
          <a:xfrm>
            <a:off x="4325112" y="1444752"/>
            <a:ext cx="1170432" cy="237744"/>
          </a:xfrm>
          <a:prstGeom prst="roundRect">
            <a:avLst>
              <a:gd name="adj" fmla="val 38462"/>
            </a:avLst>
          </a:prstGeom>
          <a:solidFill>
            <a:srgbClr val="F1F5F9"/>
          </a:solidFill>
          <a:ln w="12700">
            <a:solidFill>
              <a:srgbClr val="E2E8F0"/>
            </a:solidFill>
            <a:prstDash val="solid"/>
          </a:ln>
        </p:spPr>
      </p:sp>
      <p:sp>
        <p:nvSpPr>
          <p:cNvPr id="14" name="Text 12"/>
          <p:cNvSpPr/>
          <p:nvPr/>
        </p:nvSpPr>
        <p:spPr>
          <a:xfrm>
            <a:off x="4325112" y="1444752"/>
            <a:ext cx="1170432" cy="237744"/>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ERP record</a:t>
            </a:r>
            <a:endParaRPr lang="en-US" sz="750" dirty="0"/>
          </a:p>
        </p:txBody>
      </p:sp>
      <p:sp>
        <p:nvSpPr>
          <p:cNvPr id="15" name="Shape 13"/>
          <p:cNvSpPr/>
          <p:nvPr/>
        </p:nvSpPr>
        <p:spPr>
          <a:xfrm>
            <a:off x="1828800" y="1810512"/>
            <a:ext cx="3566160" cy="420624"/>
          </a:xfrm>
          <a:prstGeom prst="roundRect">
            <a:avLst>
              <a:gd name="adj" fmla="val 34783"/>
            </a:avLst>
          </a:prstGeom>
          <a:solidFill>
            <a:srgbClr val="DBEAFE"/>
          </a:solidFill>
          <a:ln w="12700">
            <a:solidFill>
              <a:srgbClr val="DBEAFE"/>
            </a:solidFill>
            <a:prstDash val="solid"/>
          </a:ln>
        </p:spPr>
      </p:sp>
      <p:sp>
        <p:nvSpPr>
          <p:cNvPr id="16" name="Text 14"/>
          <p:cNvSpPr/>
          <p:nvPr/>
        </p:nvSpPr>
        <p:spPr>
          <a:xfrm>
            <a:off x="1920240" y="1819656"/>
            <a:ext cx="3383280" cy="402336"/>
          </a:xfrm>
          <a:prstGeom prst="rect">
            <a:avLst/>
          </a:prstGeom>
          <a:noFill/>
          <a:ln/>
        </p:spPr>
        <p:txBody>
          <a:bodyPr wrap="square" rtlCol="0" anchor="ctr"/>
          <a:lstStyle/>
          <a:p>
            <a:pPr indent="0" marL="0">
              <a:buNone/>
            </a:pPr>
            <a:r>
              <a:rPr lang="en-US" sz="1000" dirty="0">
                <a:solidFill>
                  <a:srgbClr val="1E40AF"/>
                </a:solidFill>
                <a:latin typeface="Calibri" pitchFamily="34" charset="0"/>
                <a:ea typeface="Calibri" pitchFamily="34" charset="-122"/>
                <a:cs typeface="Calibri" pitchFamily="34" charset="-120"/>
              </a:rPr>
              <a:t>How much have we paid Acme Ltd in 2026 so far?</a:t>
            </a:r>
            <a:endParaRPr lang="en-US" sz="1000" dirty="0"/>
          </a:p>
        </p:txBody>
      </p:sp>
      <p:sp>
        <p:nvSpPr>
          <p:cNvPr id="17" name="Shape 15"/>
          <p:cNvSpPr/>
          <p:nvPr/>
        </p:nvSpPr>
        <p:spPr>
          <a:xfrm>
            <a:off x="594360" y="2340864"/>
            <a:ext cx="4389120" cy="685800"/>
          </a:xfrm>
          <a:prstGeom prst="roundRect">
            <a:avLst>
              <a:gd name="adj" fmla="val 16000"/>
            </a:avLst>
          </a:prstGeom>
          <a:solidFill>
            <a:srgbClr val="F8FAFC"/>
          </a:solidFill>
          <a:ln w="12700">
            <a:solidFill>
              <a:srgbClr val="E2E8F0"/>
            </a:solidFill>
            <a:prstDash val="solid"/>
          </a:ln>
        </p:spPr>
      </p:sp>
      <p:sp>
        <p:nvSpPr>
          <p:cNvPr id="18" name="Text 16"/>
          <p:cNvSpPr/>
          <p:nvPr/>
        </p:nvSpPr>
        <p:spPr>
          <a:xfrm>
            <a:off x="731520" y="2377440"/>
            <a:ext cx="411480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Based on your indexed documents, you have paid Acme Ltd a total of</a:t>
            </a:r>
            <a:endParaRPr lang="en-US" sz="950" dirty="0"/>
          </a:p>
        </p:txBody>
      </p:sp>
      <p:sp>
        <p:nvSpPr>
          <p:cNvPr id="19" name="Text 17"/>
          <p:cNvSpPr/>
          <p:nvPr/>
        </p:nvSpPr>
        <p:spPr>
          <a:xfrm>
            <a:off x="731520" y="2615184"/>
            <a:ext cx="914400" cy="274320"/>
          </a:xfrm>
          <a:prstGeom prst="rect">
            <a:avLst/>
          </a:prstGeom>
          <a:noFill/>
          <a:ln/>
        </p:spPr>
        <p:txBody>
          <a:bodyPr wrap="square" lIns="0" tIns="0" rIns="0" bIns="0" rtlCol="0" anchor="ctr"/>
          <a:lstStyle/>
          <a:p>
            <a:pPr indent="0" marL="0">
              <a:buNone/>
            </a:pPr>
            <a:r>
              <a:rPr lang="en-US" sz="1600" b="1" dirty="0">
                <a:solidFill>
                  <a:srgbClr val="0F1E3C"/>
                </a:solidFill>
                <a:latin typeface="Calibri" pitchFamily="34" charset="0"/>
                <a:ea typeface="Calibri" pitchFamily="34" charset="-122"/>
                <a:cs typeface="Calibri" pitchFamily="34" charset="-120"/>
              </a:rPr>
              <a:t>$13,700</a:t>
            </a:r>
            <a:endParaRPr lang="en-US" sz="1600" dirty="0"/>
          </a:p>
        </p:txBody>
      </p:sp>
      <p:sp>
        <p:nvSpPr>
          <p:cNvPr id="20" name="Text 18"/>
          <p:cNvSpPr/>
          <p:nvPr/>
        </p:nvSpPr>
        <p:spPr>
          <a:xfrm>
            <a:off x="1691640" y="2660904"/>
            <a:ext cx="310896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across 3 approved invoices in 2026.</a:t>
            </a:r>
            <a:endParaRPr lang="en-US" sz="950" dirty="0"/>
          </a:p>
        </p:txBody>
      </p:sp>
      <p:sp>
        <p:nvSpPr>
          <p:cNvPr id="21" name="Shape 19"/>
          <p:cNvSpPr/>
          <p:nvPr/>
        </p:nvSpPr>
        <p:spPr>
          <a:xfrm>
            <a:off x="731520" y="3127248"/>
            <a:ext cx="1417320" cy="246888"/>
          </a:xfrm>
          <a:prstGeom prst="roundRect">
            <a:avLst>
              <a:gd name="adj" fmla="val 37037"/>
            </a:avLst>
          </a:prstGeom>
          <a:solidFill>
            <a:srgbClr val="FEF9C3"/>
          </a:solidFill>
          <a:ln w="12700">
            <a:solidFill>
              <a:srgbClr val="FDE68A"/>
            </a:solidFill>
            <a:prstDash val="solid"/>
          </a:ln>
        </p:spPr>
      </p:sp>
      <p:sp>
        <p:nvSpPr>
          <p:cNvPr id="22" name="Text 20"/>
          <p:cNvSpPr/>
          <p:nvPr/>
        </p:nvSpPr>
        <p:spPr>
          <a:xfrm>
            <a:off x="731520" y="3127248"/>
            <a:ext cx="1417320" cy="246888"/>
          </a:xfrm>
          <a:prstGeom prst="rect">
            <a:avLst/>
          </a:prstGeom>
          <a:noFill/>
          <a:ln/>
        </p:spPr>
        <p:txBody>
          <a:bodyPr wrap="square" rtlCol="0" anchor="ctr"/>
          <a:lstStyle/>
          <a:p>
            <a:pPr algn="ctr" indent="0" marL="0">
              <a:buNone/>
            </a:pPr>
            <a:r>
              <a:rPr lang="en-US" sz="800" b="1" dirty="0">
                <a:solidFill>
                  <a:srgbClr val="92400E"/>
                </a:solidFill>
                <a:latin typeface="Calibri" pitchFamily="34" charset="0"/>
                <a:ea typeface="Calibri" pitchFamily="34" charset="-122"/>
                <a:cs typeface="Calibri" pitchFamily="34" charset="-120"/>
              </a:rPr>
              <a:t>INV-1042 · $4,500</a:t>
            </a:r>
            <a:endParaRPr lang="en-US" sz="800" dirty="0"/>
          </a:p>
        </p:txBody>
      </p:sp>
      <p:sp>
        <p:nvSpPr>
          <p:cNvPr id="23" name="Shape 21"/>
          <p:cNvSpPr/>
          <p:nvPr/>
        </p:nvSpPr>
        <p:spPr>
          <a:xfrm>
            <a:off x="2240280" y="3127248"/>
            <a:ext cx="1417320" cy="246888"/>
          </a:xfrm>
          <a:prstGeom prst="roundRect">
            <a:avLst>
              <a:gd name="adj" fmla="val 37037"/>
            </a:avLst>
          </a:prstGeom>
          <a:solidFill>
            <a:srgbClr val="FEF9C3"/>
          </a:solidFill>
          <a:ln w="12700">
            <a:solidFill>
              <a:srgbClr val="FDE68A"/>
            </a:solidFill>
            <a:prstDash val="solid"/>
          </a:ln>
        </p:spPr>
      </p:sp>
      <p:sp>
        <p:nvSpPr>
          <p:cNvPr id="24" name="Text 22"/>
          <p:cNvSpPr/>
          <p:nvPr/>
        </p:nvSpPr>
        <p:spPr>
          <a:xfrm>
            <a:off x="2240280" y="3127248"/>
            <a:ext cx="1417320" cy="246888"/>
          </a:xfrm>
          <a:prstGeom prst="rect">
            <a:avLst/>
          </a:prstGeom>
          <a:noFill/>
          <a:ln/>
        </p:spPr>
        <p:txBody>
          <a:bodyPr wrap="square" rtlCol="0" anchor="ctr"/>
          <a:lstStyle/>
          <a:p>
            <a:pPr algn="ctr" indent="0" marL="0">
              <a:buNone/>
            </a:pPr>
            <a:r>
              <a:rPr lang="en-US" sz="800" b="1" dirty="0">
                <a:solidFill>
                  <a:srgbClr val="92400E"/>
                </a:solidFill>
                <a:latin typeface="Calibri" pitchFamily="34" charset="0"/>
                <a:ea typeface="Calibri" pitchFamily="34" charset="-122"/>
                <a:cs typeface="Calibri" pitchFamily="34" charset="-120"/>
              </a:rPr>
              <a:t>INV-0988 · $1,200</a:t>
            </a:r>
            <a:endParaRPr lang="en-US" sz="800" dirty="0"/>
          </a:p>
        </p:txBody>
      </p:sp>
      <p:sp>
        <p:nvSpPr>
          <p:cNvPr id="25" name="Shape 23"/>
          <p:cNvSpPr/>
          <p:nvPr/>
        </p:nvSpPr>
        <p:spPr>
          <a:xfrm>
            <a:off x="3749040" y="3127248"/>
            <a:ext cx="1417320" cy="246888"/>
          </a:xfrm>
          <a:prstGeom prst="roundRect">
            <a:avLst>
              <a:gd name="adj" fmla="val 37037"/>
            </a:avLst>
          </a:prstGeom>
          <a:solidFill>
            <a:srgbClr val="FEF9C3"/>
          </a:solidFill>
          <a:ln w="12700">
            <a:solidFill>
              <a:srgbClr val="FDE68A"/>
            </a:solidFill>
            <a:prstDash val="solid"/>
          </a:ln>
        </p:spPr>
      </p:sp>
      <p:sp>
        <p:nvSpPr>
          <p:cNvPr id="26" name="Text 24"/>
          <p:cNvSpPr/>
          <p:nvPr/>
        </p:nvSpPr>
        <p:spPr>
          <a:xfrm>
            <a:off x="3749040" y="3127248"/>
            <a:ext cx="1417320" cy="246888"/>
          </a:xfrm>
          <a:prstGeom prst="rect">
            <a:avLst/>
          </a:prstGeom>
          <a:noFill/>
          <a:ln/>
        </p:spPr>
        <p:txBody>
          <a:bodyPr wrap="square" rtlCol="0" anchor="ctr"/>
          <a:lstStyle/>
          <a:p>
            <a:pPr algn="ctr" indent="0" marL="0">
              <a:buNone/>
            </a:pPr>
            <a:r>
              <a:rPr lang="en-US" sz="800" b="1" dirty="0">
                <a:solidFill>
                  <a:srgbClr val="92400E"/>
                </a:solidFill>
                <a:latin typeface="Calibri" pitchFamily="34" charset="0"/>
                <a:ea typeface="Calibri" pitchFamily="34" charset="-122"/>
                <a:cs typeface="Calibri" pitchFamily="34" charset="-120"/>
              </a:rPr>
              <a:t>INV-0901 · $8,000</a:t>
            </a:r>
            <a:endParaRPr lang="en-US" sz="800" dirty="0"/>
          </a:p>
        </p:txBody>
      </p:sp>
      <p:sp>
        <p:nvSpPr>
          <p:cNvPr id="27" name="Shape 25"/>
          <p:cNvSpPr/>
          <p:nvPr/>
        </p:nvSpPr>
        <p:spPr>
          <a:xfrm>
            <a:off x="1371600" y="3493008"/>
            <a:ext cx="4023360" cy="329184"/>
          </a:xfrm>
          <a:prstGeom prst="roundRect">
            <a:avLst>
              <a:gd name="adj" fmla="val 38889"/>
            </a:avLst>
          </a:prstGeom>
          <a:solidFill>
            <a:srgbClr val="DBEAFE"/>
          </a:solidFill>
          <a:ln w="12700">
            <a:solidFill>
              <a:srgbClr val="DBEAFE"/>
            </a:solidFill>
            <a:prstDash val="solid"/>
          </a:ln>
        </p:spPr>
      </p:sp>
      <p:sp>
        <p:nvSpPr>
          <p:cNvPr id="28" name="Text 26"/>
          <p:cNvSpPr/>
          <p:nvPr/>
        </p:nvSpPr>
        <p:spPr>
          <a:xfrm>
            <a:off x="1463040" y="3493008"/>
            <a:ext cx="3840480" cy="329184"/>
          </a:xfrm>
          <a:prstGeom prst="rect">
            <a:avLst/>
          </a:prstGeom>
          <a:noFill/>
          <a:ln/>
        </p:spPr>
        <p:txBody>
          <a:bodyPr wrap="square" rtlCol="0" anchor="ctr"/>
          <a:lstStyle/>
          <a:p>
            <a:pPr indent="0" marL="0">
              <a:buNone/>
            </a:pPr>
            <a:r>
              <a:rPr lang="en-US" sz="950" dirty="0">
                <a:solidFill>
                  <a:srgbClr val="1E40AF"/>
                </a:solidFill>
                <a:latin typeface="Calibri" pitchFamily="34" charset="0"/>
                <a:ea typeface="Calibri" pitchFamily="34" charset="-122"/>
                <a:cs typeface="Calibri" pitchFamily="34" charset="-120"/>
              </a:rPr>
              <a:t>Does any of these exceed our approved PO limit?</a:t>
            </a:r>
            <a:endParaRPr lang="en-US" sz="950" dirty="0"/>
          </a:p>
        </p:txBody>
      </p:sp>
      <p:sp>
        <p:nvSpPr>
          <p:cNvPr id="29" name="Shape 27"/>
          <p:cNvSpPr/>
          <p:nvPr/>
        </p:nvSpPr>
        <p:spPr>
          <a:xfrm>
            <a:off x="594360" y="3913632"/>
            <a:ext cx="4663440" cy="438912"/>
          </a:xfrm>
          <a:prstGeom prst="roundRect">
            <a:avLst>
              <a:gd name="adj" fmla="val 25000"/>
            </a:avLst>
          </a:prstGeom>
          <a:solidFill>
            <a:srgbClr val="FFF7ED"/>
          </a:solidFill>
          <a:ln w="12700">
            <a:solidFill>
              <a:srgbClr val="FED7AA"/>
            </a:solidFill>
            <a:prstDash val="solid"/>
          </a:ln>
        </p:spPr>
      </p:sp>
      <p:sp>
        <p:nvSpPr>
          <p:cNvPr id="30" name="Text 28"/>
          <p:cNvSpPr/>
          <p:nvPr/>
        </p:nvSpPr>
        <p:spPr>
          <a:xfrm>
            <a:off x="731520" y="3931920"/>
            <a:ext cx="4389120" cy="402336"/>
          </a:xfrm>
          <a:prstGeom prst="rect">
            <a:avLst/>
          </a:prstGeom>
          <a:noFill/>
          <a:ln/>
        </p:spPr>
        <p:txBody>
          <a:bodyPr wrap="square" rtlCol="0" anchor="ctr"/>
          <a:lstStyle/>
          <a:p>
            <a:pPr indent="0" marL="0">
              <a:buNone/>
            </a:pPr>
            <a:r>
              <a:rPr lang="en-US" sz="900" dirty="0">
                <a:solidFill>
                  <a:srgbClr val="92400E"/>
                </a:solidFill>
                <a:latin typeface="Calibri" pitchFamily="34" charset="0"/>
                <a:ea typeface="Calibri" pitchFamily="34" charset="-122"/>
                <a:cs typeface="Calibri" pitchFamily="34" charset="-120"/>
              </a:rPr>
              <a:t>INV-0901 ($8,000) slightly exceeds PO-2026-0031 ($7,500). Others are within limits. Discrepancy flagged.</a:t>
            </a:r>
            <a:endParaRPr lang="en-US" sz="900" dirty="0"/>
          </a:p>
        </p:txBody>
      </p:sp>
      <p:sp>
        <p:nvSpPr>
          <p:cNvPr id="31" name="Shape 29"/>
          <p:cNvSpPr/>
          <p:nvPr/>
        </p:nvSpPr>
        <p:spPr>
          <a:xfrm>
            <a:off x="5806440" y="1097280"/>
            <a:ext cx="3017520" cy="758952"/>
          </a:xfrm>
          <a:prstGeom prst="roundRect">
            <a:avLst>
              <a:gd name="adj" fmla="val 12048"/>
            </a:avLst>
          </a:prstGeom>
          <a:solidFill>
            <a:srgbClr val="FFFFFF"/>
          </a:solidFill>
          <a:ln w="6350">
            <a:solidFill>
              <a:srgbClr val="E2E8F0"/>
            </a:solidFill>
            <a:prstDash val="solid"/>
          </a:ln>
        </p:spPr>
      </p:sp>
      <p:sp>
        <p:nvSpPr>
          <p:cNvPr id="32" name="Shape 30"/>
          <p:cNvSpPr/>
          <p:nvPr/>
        </p:nvSpPr>
        <p:spPr>
          <a:xfrm>
            <a:off x="5888736" y="1261872"/>
            <a:ext cx="384048" cy="384048"/>
          </a:xfrm>
          <a:prstGeom prst="ellipse">
            <a:avLst/>
          </a:prstGeom>
          <a:solidFill>
            <a:srgbClr val="0D9488"/>
          </a:solidFill>
          <a:ln w="12700">
            <a:solidFill>
              <a:srgbClr val="0D9488"/>
            </a:solidFill>
            <a:prstDash val="solid"/>
          </a:ln>
        </p:spPr>
      </p:sp>
      <p:sp>
        <p:nvSpPr>
          <p:cNvPr id="33" name="Text 31"/>
          <p:cNvSpPr/>
          <p:nvPr/>
        </p:nvSpPr>
        <p:spPr>
          <a:xfrm>
            <a:off x="6373368" y="1179576"/>
            <a:ext cx="233172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Permission-aware</a:t>
            </a:r>
            <a:endParaRPr lang="en-US" sz="1100" dirty="0"/>
          </a:p>
        </p:txBody>
      </p:sp>
      <p:sp>
        <p:nvSpPr>
          <p:cNvPr id="34" name="Text 32"/>
          <p:cNvSpPr/>
          <p:nvPr/>
        </p:nvSpPr>
        <p:spPr>
          <a:xfrm>
            <a:off x="6373368" y="1444752"/>
            <a:ext cx="233172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Only searches documents the user has access to in Frappe</a:t>
            </a:r>
            <a:endParaRPr lang="en-US" sz="900" dirty="0"/>
          </a:p>
        </p:txBody>
      </p:sp>
      <p:sp>
        <p:nvSpPr>
          <p:cNvPr id="35" name="Shape 33"/>
          <p:cNvSpPr/>
          <p:nvPr/>
        </p:nvSpPr>
        <p:spPr>
          <a:xfrm>
            <a:off x="5806440" y="2057400"/>
            <a:ext cx="3017520" cy="758952"/>
          </a:xfrm>
          <a:prstGeom prst="roundRect">
            <a:avLst>
              <a:gd name="adj" fmla="val 12048"/>
            </a:avLst>
          </a:prstGeom>
          <a:solidFill>
            <a:srgbClr val="FFFFFF"/>
          </a:solidFill>
          <a:ln w="6350">
            <a:solidFill>
              <a:srgbClr val="E2E8F0"/>
            </a:solidFill>
            <a:prstDash val="solid"/>
          </a:ln>
        </p:spPr>
      </p:sp>
      <p:sp>
        <p:nvSpPr>
          <p:cNvPr id="36" name="Shape 34"/>
          <p:cNvSpPr/>
          <p:nvPr/>
        </p:nvSpPr>
        <p:spPr>
          <a:xfrm>
            <a:off x="5888736" y="2221992"/>
            <a:ext cx="384048" cy="384048"/>
          </a:xfrm>
          <a:prstGeom prst="ellipse">
            <a:avLst/>
          </a:prstGeom>
          <a:solidFill>
            <a:srgbClr val="1D4ED8"/>
          </a:solidFill>
          <a:ln w="12700">
            <a:solidFill>
              <a:srgbClr val="1D4ED8"/>
            </a:solidFill>
            <a:prstDash val="solid"/>
          </a:ln>
        </p:spPr>
      </p:sp>
      <p:sp>
        <p:nvSpPr>
          <p:cNvPr id="37" name="Text 35"/>
          <p:cNvSpPr/>
          <p:nvPr/>
        </p:nvSpPr>
        <p:spPr>
          <a:xfrm>
            <a:off x="6373368" y="2139696"/>
            <a:ext cx="233172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Always cited</a:t>
            </a:r>
            <a:endParaRPr lang="en-US" sz="1100" dirty="0"/>
          </a:p>
        </p:txBody>
      </p:sp>
      <p:sp>
        <p:nvSpPr>
          <p:cNvPr id="38" name="Text 36"/>
          <p:cNvSpPr/>
          <p:nvPr/>
        </p:nvSpPr>
        <p:spPr>
          <a:xfrm>
            <a:off x="6373368" y="2404872"/>
            <a:ext cx="233172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Every answer links to source doc + page number</a:t>
            </a:r>
            <a:endParaRPr lang="en-US" sz="900" dirty="0"/>
          </a:p>
        </p:txBody>
      </p:sp>
      <p:sp>
        <p:nvSpPr>
          <p:cNvPr id="39" name="Shape 37"/>
          <p:cNvSpPr/>
          <p:nvPr/>
        </p:nvSpPr>
        <p:spPr>
          <a:xfrm>
            <a:off x="5806440" y="3017520"/>
            <a:ext cx="3017520" cy="758952"/>
          </a:xfrm>
          <a:prstGeom prst="roundRect">
            <a:avLst>
              <a:gd name="adj" fmla="val 12048"/>
            </a:avLst>
          </a:prstGeom>
          <a:solidFill>
            <a:srgbClr val="FFFFFF"/>
          </a:solidFill>
          <a:ln w="6350">
            <a:solidFill>
              <a:srgbClr val="E2E8F0"/>
            </a:solidFill>
            <a:prstDash val="solid"/>
          </a:ln>
        </p:spPr>
      </p:sp>
      <p:sp>
        <p:nvSpPr>
          <p:cNvPr id="40" name="Shape 38"/>
          <p:cNvSpPr/>
          <p:nvPr/>
        </p:nvSpPr>
        <p:spPr>
          <a:xfrm>
            <a:off x="5888736" y="3182112"/>
            <a:ext cx="384048" cy="384048"/>
          </a:xfrm>
          <a:prstGeom prst="ellipse">
            <a:avLst/>
          </a:prstGeom>
          <a:solidFill>
            <a:srgbClr val="7C3AED"/>
          </a:solidFill>
          <a:ln w="12700">
            <a:solidFill>
              <a:srgbClr val="7C3AED"/>
            </a:solidFill>
            <a:prstDash val="solid"/>
          </a:ln>
        </p:spPr>
      </p:sp>
      <p:sp>
        <p:nvSpPr>
          <p:cNvPr id="41" name="Text 39"/>
          <p:cNvSpPr/>
          <p:nvPr/>
        </p:nvSpPr>
        <p:spPr>
          <a:xfrm>
            <a:off x="6373368" y="3099816"/>
            <a:ext cx="233172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4 chat scopes</a:t>
            </a:r>
            <a:endParaRPr lang="en-US" sz="1100" dirty="0"/>
          </a:p>
        </p:txBody>
      </p:sp>
      <p:sp>
        <p:nvSpPr>
          <p:cNvPr id="42" name="Text 40"/>
          <p:cNvSpPr/>
          <p:nvPr/>
        </p:nvSpPr>
        <p:spPr>
          <a:xfrm>
            <a:off x="6373368" y="3364992"/>
            <a:ext cx="233172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Single doc · folder · workspace · ERP-linked</a:t>
            </a:r>
            <a:endParaRPr lang="en-US" sz="900" dirty="0"/>
          </a:p>
        </p:txBody>
      </p:sp>
      <p:sp>
        <p:nvSpPr>
          <p:cNvPr id="43" name="Shape 41"/>
          <p:cNvSpPr/>
          <p:nvPr/>
        </p:nvSpPr>
        <p:spPr>
          <a:xfrm>
            <a:off x="5806440" y="3977640"/>
            <a:ext cx="3017520" cy="758952"/>
          </a:xfrm>
          <a:prstGeom prst="roundRect">
            <a:avLst>
              <a:gd name="adj" fmla="val 12048"/>
            </a:avLst>
          </a:prstGeom>
          <a:solidFill>
            <a:srgbClr val="FFFFFF"/>
          </a:solidFill>
          <a:ln w="6350">
            <a:solidFill>
              <a:srgbClr val="E2E8F0"/>
            </a:solidFill>
            <a:prstDash val="solid"/>
          </a:ln>
        </p:spPr>
      </p:sp>
      <p:sp>
        <p:nvSpPr>
          <p:cNvPr id="44" name="Shape 42"/>
          <p:cNvSpPr/>
          <p:nvPr/>
        </p:nvSpPr>
        <p:spPr>
          <a:xfrm>
            <a:off x="5888736" y="4142232"/>
            <a:ext cx="384048" cy="384048"/>
          </a:xfrm>
          <a:prstGeom prst="ellipse">
            <a:avLst/>
          </a:prstGeom>
          <a:solidFill>
            <a:srgbClr val="D97706"/>
          </a:solidFill>
          <a:ln w="12700">
            <a:solidFill>
              <a:srgbClr val="D97706"/>
            </a:solidFill>
            <a:prstDash val="solid"/>
          </a:ln>
        </p:spPr>
      </p:sp>
      <p:sp>
        <p:nvSpPr>
          <p:cNvPr id="45" name="Text 43"/>
          <p:cNvSpPr/>
          <p:nvPr/>
        </p:nvSpPr>
        <p:spPr>
          <a:xfrm>
            <a:off x="6373368" y="4059936"/>
            <a:ext cx="233172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Slash commands</a:t>
            </a:r>
            <a:endParaRPr lang="en-US" sz="1100" dirty="0"/>
          </a:p>
        </p:txBody>
      </p:sp>
      <p:sp>
        <p:nvSpPr>
          <p:cNvPr id="46" name="Text 44"/>
          <p:cNvSpPr/>
          <p:nvPr/>
        </p:nvSpPr>
        <p:spPr>
          <a:xfrm>
            <a:off x="6373368" y="4325112"/>
            <a:ext cx="233172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/summarise  /compare  /translate  /extract-table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Screen 5 — Approval queue</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51560"/>
            <a:ext cx="1965960" cy="914400"/>
          </a:xfrm>
          <a:prstGeom prst="roundRect">
            <a:avLst>
              <a:gd name="adj" fmla="val 10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Text 3"/>
          <p:cNvSpPr/>
          <p:nvPr/>
        </p:nvSpPr>
        <p:spPr>
          <a:xfrm>
            <a:off x="594360" y="1115568"/>
            <a:ext cx="731520" cy="548640"/>
          </a:xfrm>
          <a:prstGeom prst="rect">
            <a:avLst/>
          </a:prstGeom>
          <a:noFill/>
          <a:ln/>
        </p:spPr>
        <p:txBody>
          <a:bodyPr wrap="square" lIns="0" tIns="0" rIns="0" bIns="0" rtlCol="0" anchor="ctr"/>
          <a:lstStyle/>
          <a:p>
            <a:pPr indent="0" marL="0">
              <a:buNone/>
            </a:pPr>
            <a:r>
              <a:rPr lang="en-US" sz="3600" b="1" dirty="0">
                <a:solidFill>
                  <a:srgbClr val="334155"/>
                </a:solidFill>
                <a:latin typeface="Calibri" pitchFamily="34" charset="0"/>
                <a:ea typeface="Calibri" pitchFamily="34" charset="-122"/>
                <a:cs typeface="Calibri" pitchFamily="34" charset="-120"/>
              </a:rPr>
              <a:t>7</a:t>
            </a:r>
            <a:endParaRPr lang="en-US" sz="3600" dirty="0"/>
          </a:p>
        </p:txBody>
      </p:sp>
      <p:sp>
        <p:nvSpPr>
          <p:cNvPr id="6" name="Text 4"/>
          <p:cNvSpPr/>
          <p:nvPr/>
        </p:nvSpPr>
        <p:spPr>
          <a:xfrm>
            <a:off x="1371600" y="1170432"/>
            <a:ext cx="914400" cy="256032"/>
          </a:xfrm>
          <a:prstGeom prst="rect">
            <a:avLst/>
          </a:prstGeom>
          <a:noFill/>
          <a:ln/>
        </p:spPr>
        <p:txBody>
          <a:bodyPr wrap="square" lIns="0" tIns="0" rIns="0" bIns="0" rtlCol="0" anchor="ctr"/>
          <a:lstStyle/>
          <a:p>
            <a:pPr indent="0" marL="0">
              <a:buNone/>
            </a:pPr>
            <a:r>
              <a:rPr lang="en-US" sz="1200" b="1" dirty="0">
                <a:solidFill>
                  <a:srgbClr val="0F1E3C"/>
                </a:solidFill>
                <a:latin typeface="Calibri" pitchFamily="34" charset="0"/>
                <a:ea typeface="Calibri" pitchFamily="34" charset="-122"/>
                <a:cs typeface="Calibri" pitchFamily="34" charset="-120"/>
              </a:rPr>
              <a:t>Pending</a:t>
            </a:r>
            <a:endParaRPr lang="en-US" sz="1200" dirty="0"/>
          </a:p>
        </p:txBody>
      </p:sp>
      <p:sp>
        <p:nvSpPr>
          <p:cNvPr id="7" name="Text 5"/>
          <p:cNvSpPr/>
          <p:nvPr/>
        </p:nvSpPr>
        <p:spPr>
          <a:xfrm>
            <a:off x="1371600" y="1426464"/>
            <a:ext cx="9144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awaiting action</a:t>
            </a:r>
            <a:endParaRPr lang="en-US" sz="900" dirty="0"/>
          </a:p>
        </p:txBody>
      </p:sp>
      <p:sp>
        <p:nvSpPr>
          <p:cNvPr id="8" name="Shape 6"/>
          <p:cNvSpPr/>
          <p:nvPr/>
        </p:nvSpPr>
        <p:spPr>
          <a:xfrm>
            <a:off x="2606040" y="1051560"/>
            <a:ext cx="1965960" cy="914400"/>
          </a:xfrm>
          <a:prstGeom prst="roundRect">
            <a:avLst>
              <a:gd name="adj" fmla="val 10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9" name="Text 7"/>
          <p:cNvSpPr/>
          <p:nvPr/>
        </p:nvSpPr>
        <p:spPr>
          <a:xfrm>
            <a:off x="2743200" y="1115568"/>
            <a:ext cx="731520" cy="548640"/>
          </a:xfrm>
          <a:prstGeom prst="rect">
            <a:avLst/>
          </a:prstGeom>
          <a:noFill/>
          <a:ln/>
        </p:spPr>
        <p:txBody>
          <a:bodyPr wrap="square" lIns="0" tIns="0" rIns="0" bIns="0" rtlCol="0" anchor="ctr"/>
          <a:lstStyle/>
          <a:p>
            <a:pPr indent="0" marL="0">
              <a:buNone/>
            </a:pPr>
            <a:r>
              <a:rPr lang="en-US" sz="3600" b="1" dirty="0">
                <a:solidFill>
                  <a:srgbClr val="166534"/>
                </a:solidFill>
                <a:latin typeface="Calibri" pitchFamily="34" charset="0"/>
                <a:ea typeface="Calibri" pitchFamily="34" charset="-122"/>
                <a:cs typeface="Calibri" pitchFamily="34" charset="-120"/>
              </a:rPr>
              <a:t>4</a:t>
            </a:r>
            <a:endParaRPr lang="en-US" sz="3600" dirty="0"/>
          </a:p>
        </p:txBody>
      </p:sp>
      <p:sp>
        <p:nvSpPr>
          <p:cNvPr id="10" name="Text 8"/>
          <p:cNvSpPr/>
          <p:nvPr/>
        </p:nvSpPr>
        <p:spPr>
          <a:xfrm>
            <a:off x="3520440" y="1170432"/>
            <a:ext cx="914400" cy="256032"/>
          </a:xfrm>
          <a:prstGeom prst="rect">
            <a:avLst/>
          </a:prstGeom>
          <a:noFill/>
          <a:ln/>
        </p:spPr>
        <p:txBody>
          <a:bodyPr wrap="square" lIns="0" tIns="0" rIns="0" bIns="0" rtlCol="0" anchor="ctr"/>
          <a:lstStyle/>
          <a:p>
            <a:pPr indent="0" marL="0">
              <a:buNone/>
            </a:pPr>
            <a:r>
              <a:rPr lang="en-US" sz="1200" b="1" dirty="0">
                <a:solidFill>
                  <a:srgbClr val="0F1E3C"/>
                </a:solidFill>
                <a:latin typeface="Calibri" pitchFamily="34" charset="0"/>
                <a:ea typeface="Calibri" pitchFamily="34" charset="-122"/>
                <a:cs typeface="Calibri" pitchFamily="34" charset="-120"/>
              </a:rPr>
              <a:t>On track</a:t>
            </a:r>
            <a:endParaRPr lang="en-US" sz="1200" dirty="0"/>
          </a:p>
        </p:txBody>
      </p:sp>
      <p:sp>
        <p:nvSpPr>
          <p:cNvPr id="11" name="Text 9"/>
          <p:cNvSpPr/>
          <p:nvPr/>
        </p:nvSpPr>
        <p:spPr>
          <a:xfrm>
            <a:off x="3520440" y="1426464"/>
            <a:ext cx="9144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within SLA</a:t>
            </a:r>
            <a:endParaRPr lang="en-US" sz="900" dirty="0"/>
          </a:p>
        </p:txBody>
      </p:sp>
      <p:sp>
        <p:nvSpPr>
          <p:cNvPr id="12" name="Shape 10"/>
          <p:cNvSpPr/>
          <p:nvPr/>
        </p:nvSpPr>
        <p:spPr>
          <a:xfrm>
            <a:off x="4754880" y="1051560"/>
            <a:ext cx="1965960" cy="914400"/>
          </a:xfrm>
          <a:prstGeom prst="roundRect">
            <a:avLst>
              <a:gd name="adj" fmla="val 10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4892040" y="1115568"/>
            <a:ext cx="731520" cy="548640"/>
          </a:xfrm>
          <a:prstGeom prst="rect">
            <a:avLst/>
          </a:prstGeom>
          <a:noFill/>
          <a:ln/>
        </p:spPr>
        <p:txBody>
          <a:bodyPr wrap="square" lIns="0" tIns="0" rIns="0" bIns="0" rtlCol="0" anchor="ctr"/>
          <a:lstStyle/>
          <a:p>
            <a:pPr indent="0" marL="0">
              <a:buNone/>
            </a:pPr>
            <a:r>
              <a:rPr lang="en-US" sz="3600" b="1" dirty="0">
                <a:solidFill>
                  <a:srgbClr val="D97706"/>
                </a:solidFill>
                <a:latin typeface="Calibri" pitchFamily="34" charset="0"/>
                <a:ea typeface="Calibri" pitchFamily="34" charset="-122"/>
                <a:cs typeface="Calibri" pitchFamily="34" charset="-120"/>
              </a:rPr>
              <a:t>2</a:t>
            </a:r>
            <a:endParaRPr lang="en-US" sz="3600" dirty="0"/>
          </a:p>
        </p:txBody>
      </p:sp>
      <p:sp>
        <p:nvSpPr>
          <p:cNvPr id="14" name="Text 12"/>
          <p:cNvSpPr/>
          <p:nvPr/>
        </p:nvSpPr>
        <p:spPr>
          <a:xfrm>
            <a:off x="5669280" y="1170432"/>
            <a:ext cx="914400" cy="256032"/>
          </a:xfrm>
          <a:prstGeom prst="rect">
            <a:avLst/>
          </a:prstGeom>
          <a:noFill/>
          <a:ln/>
        </p:spPr>
        <p:txBody>
          <a:bodyPr wrap="square" lIns="0" tIns="0" rIns="0" bIns="0" rtlCol="0" anchor="ctr"/>
          <a:lstStyle/>
          <a:p>
            <a:pPr indent="0" marL="0">
              <a:buNone/>
            </a:pPr>
            <a:r>
              <a:rPr lang="en-US" sz="1200" b="1" dirty="0">
                <a:solidFill>
                  <a:srgbClr val="0F1E3C"/>
                </a:solidFill>
                <a:latin typeface="Calibri" pitchFamily="34" charset="0"/>
                <a:ea typeface="Calibri" pitchFamily="34" charset="-122"/>
                <a:cs typeface="Calibri" pitchFamily="34" charset="-120"/>
              </a:rPr>
              <a:t>At risk</a:t>
            </a:r>
            <a:endParaRPr lang="en-US" sz="1200" dirty="0"/>
          </a:p>
        </p:txBody>
      </p:sp>
      <p:sp>
        <p:nvSpPr>
          <p:cNvPr id="15" name="Text 13"/>
          <p:cNvSpPr/>
          <p:nvPr/>
        </p:nvSpPr>
        <p:spPr>
          <a:xfrm>
            <a:off x="5669280" y="1426464"/>
            <a:ext cx="9144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due soon</a:t>
            </a:r>
            <a:endParaRPr lang="en-US" sz="900" dirty="0"/>
          </a:p>
        </p:txBody>
      </p:sp>
      <p:sp>
        <p:nvSpPr>
          <p:cNvPr id="16" name="Shape 14"/>
          <p:cNvSpPr/>
          <p:nvPr/>
        </p:nvSpPr>
        <p:spPr>
          <a:xfrm>
            <a:off x="6903720" y="1051560"/>
            <a:ext cx="1965960" cy="914400"/>
          </a:xfrm>
          <a:prstGeom prst="roundRect">
            <a:avLst>
              <a:gd name="adj" fmla="val 10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7040880" y="1115568"/>
            <a:ext cx="731520" cy="548640"/>
          </a:xfrm>
          <a:prstGeom prst="rect">
            <a:avLst/>
          </a:prstGeom>
          <a:noFill/>
          <a:ln/>
        </p:spPr>
        <p:txBody>
          <a:bodyPr wrap="square" lIns="0" tIns="0" rIns="0" bIns="0" rtlCol="0" anchor="ctr"/>
          <a:lstStyle/>
          <a:p>
            <a:pPr indent="0" marL="0">
              <a:buNone/>
            </a:pPr>
            <a:r>
              <a:rPr lang="en-US" sz="3600" b="1" dirty="0">
                <a:solidFill>
                  <a:srgbClr val="B91C1C"/>
                </a:solidFill>
                <a:latin typeface="Calibri" pitchFamily="34" charset="0"/>
                <a:ea typeface="Calibri" pitchFamily="34" charset="-122"/>
                <a:cs typeface="Calibri" pitchFamily="34" charset="-120"/>
              </a:rPr>
              <a:t>1</a:t>
            </a:r>
            <a:endParaRPr lang="en-US" sz="3600" dirty="0"/>
          </a:p>
        </p:txBody>
      </p:sp>
      <p:sp>
        <p:nvSpPr>
          <p:cNvPr id="18" name="Text 16"/>
          <p:cNvSpPr/>
          <p:nvPr/>
        </p:nvSpPr>
        <p:spPr>
          <a:xfrm>
            <a:off x="7818120" y="1170432"/>
            <a:ext cx="914400" cy="256032"/>
          </a:xfrm>
          <a:prstGeom prst="rect">
            <a:avLst/>
          </a:prstGeom>
          <a:noFill/>
          <a:ln/>
        </p:spPr>
        <p:txBody>
          <a:bodyPr wrap="square" lIns="0" tIns="0" rIns="0" bIns="0" rtlCol="0" anchor="ctr"/>
          <a:lstStyle/>
          <a:p>
            <a:pPr indent="0" marL="0">
              <a:buNone/>
            </a:pPr>
            <a:r>
              <a:rPr lang="en-US" sz="1200" b="1" dirty="0">
                <a:solidFill>
                  <a:srgbClr val="0F1E3C"/>
                </a:solidFill>
                <a:latin typeface="Calibri" pitchFamily="34" charset="0"/>
                <a:ea typeface="Calibri" pitchFamily="34" charset="-122"/>
                <a:cs typeface="Calibri" pitchFamily="34" charset="-120"/>
              </a:rPr>
              <a:t>Overdue</a:t>
            </a:r>
            <a:endParaRPr lang="en-US" sz="1200" dirty="0"/>
          </a:p>
        </p:txBody>
      </p:sp>
      <p:sp>
        <p:nvSpPr>
          <p:cNvPr id="19" name="Text 17"/>
          <p:cNvSpPr/>
          <p:nvPr/>
        </p:nvSpPr>
        <p:spPr>
          <a:xfrm>
            <a:off x="7818120" y="1426464"/>
            <a:ext cx="9144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escalated</a:t>
            </a:r>
            <a:endParaRPr lang="en-US" sz="900" dirty="0"/>
          </a:p>
        </p:txBody>
      </p:sp>
      <p:sp>
        <p:nvSpPr>
          <p:cNvPr id="20" name="Shape 18"/>
          <p:cNvSpPr/>
          <p:nvPr/>
        </p:nvSpPr>
        <p:spPr>
          <a:xfrm>
            <a:off x="457200" y="2148840"/>
            <a:ext cx="8366760" cy="822960"/>
          </a:xfrm>
          <a:prstGeom prst="roundRect">
            <a:avLst>
              <a:gd name="adj" fmla="val 8889"/>
            </a:avLst>
          </a:prstGeom>
          <a:solidFill>
            <a:srgbClr val="FEE2E2"/>
          </a:solidFill>
          <a:ln w="12700">
            <a:solidFill>
              <a:srgbClr val="E2E8F0"/>
            </a:solidFill>
            <a:prstDash val="solid"/>
          </a:ln>
        </p:spPr>
      </p:sp>
      <p:sp>
        <p:nvSpPr>
          <p:cNvPr id="21" name="Text 19"/>
          <p:cNvSpPr/>
          <p:nvPr/>
        </p:nvSpPr>
        <p:spPr>
          <a:xfrm>
            <a:off x="685800" y="2221992"/>
            <a:ext cx="411480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Acme_Invoice_1042.pdf</a:t>
            </a:r>
            <a:endParaRPr lang="en-US" sz="1100" dirty="0"/>
          </a:p>
        </p:txBody>
      </p:sp>
      <p:sp>
        <p:nvSpPr>
          <p:cNvPr id="22" name="Text 20"/>
          <p:cNvSpPr/>
          <p:nvPr/>
        </p:nvSpPr>
        <p:spPr>
          <a:xfrm>
            <a:off x="685800" y="2459736"/>
            <a:ext cx="4114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Acme Ltd · $4,500 · Submitted 2 days ago</a:t>
            </a:r>
            <a:endParaRPr lang="en-US" sz="850" dirty="0"/>
          </a:p>
        </p:txBody>
      </p:sp>
      <p:sp>
        <p:nvSpPr>
          <p:cNvPr id="23" name="Text 21"/>
          <p:cNvSpPr/>
          <p:nvPr/>
        </p:nvSpPr>
        <p:spPr>
          <a:xfrm>
            <a:off x="685800" y="2660904"/>
            <a:ext cx="4389120" cy="228600"/>
          </a:xfrm>
          <a:prstGeom prst="rect">
            <a:avLst/>
          </a:prstGeom>
          <a:noFill/>
          <a:ln/>
        </p:spPr>
        <p:txBody>
          <a:bodyPr wrap="square" lIns="0" tIns="0" rIns="0" bIns="0" rtlCol="0" anchor="ctr"/>
          <a:lstStyle/>
          <a:p>
            <a:pPr indent="0" marL="0">
              <a:buNone/>
            </a:pPr>
            <a:r>
              <a:rPr lang="en-US" sz="800" i="1" dirty="0">
                <a:solidFill>
                  <a:srgbClr val="334155"/>
                </a:solidFill>
                <a:latin typeface="Calibri" pitchFamily="34" charset="0"/>
                <a:ea typeface="Calibri" pitchFamily="34" charset="-122"/>
                <a:cs typeface="Calibri" pitchFamily="34" charset="-120"/>
              </a:rPr>
              <a:t>AI: Matches PO-2026-0087 at 97%. No anomalies.</a:t>
            </a:r>
            <a:endParaRPr lang="en-US" sz="800" dirty="0"/>
          </a:p>
        </p:txBody>
      </p:sp>
      <p:sp>
        <p:nvSpPr>
          <p:cNvPr id="24" name="Shape 22"/>
          <p:cNvSpPr/>
          <p:nvPr/>
        </p:nvSpPr>
        <p:spPr>
          <a:xfrm>
            <a:off x="5212080" y="2423160"/>
            <a:ext cx="822960" cy="237744"/>
          </a:xfrm>
          <a:prstGeom prst="roundRect">
            <a:avLst>
              <a:gd name="adj" fmla="val 38462"/>
            </a:avLst>
          </a:prstGeom>
          <a:solidFill>
            <a:srgbClr val="DBEAFE"/>
          </a:solidFill>
          <a:ln w="12700">
            <a:solidFill>
              <a:srgbClr val="DBEAFE"/>
            </a:solidFill>
            <a:prstDash val="solid"/>
          </a:ln>
        </p:spPr>
      </p:sp>
      <p:sp>
        <p:nvSpPr>
          <p:cNvPr id="25" name="Text 23"/>
          <p:cNvSpPr/>
          <p:nvPr/>
        </p:nvSpPr>
        <p:spPr>
          <a:xfrm>
            <a:off x="5212080" y="2423160"/>
            <a:ext cx="822960" cy="237744"/>
          </a:xfrm>
          <a:prstGeom prst="rect">
            <a:avLst/>
          </a:prstGeom>
          <a:noFill/>
          <a:ln/>
        </p:spPr>
        <p:txBody>
          <a:bodyPr wrap="square" rtlCol="0" anchor="ctr"/>
          <a:lstStyle/>
          <a:p>
            <a:pPr algn="ctr" indent="0" marL="0">
              <a:buNone/>
            </a:pPr>
            <a:r>
              <a:rPr lang="en-US" sz="800" b="1" dirty="0">
                <a:solidFill>
                  <a:srgbClr val="1E40AF"/>
                </a:solidFill>
                <a:latin typeface="Calibri" pitchFamily="34" charset="0"/>
                <a:ea typeface="Calibri" pitchFamily="34" charset="-122"/>
                <a:cs typeface="Calibri" pitchFamily="34" charset="-120"/>
              </a:rPr>
              <a:t>Invoice</a:t>
            </a:r>
            <a:endParaRPr lang="en-US" sz="800" dirty="0"/>
          </a:p>
        </p:txBody>
      </p:sp>
      <p:sp>
        <p:nvSpPr>
          <p:cNvPr id="26" name="Shape 24"/>
          <p:cNvSpPr/>
          <p:nvPr/>
        </p:nvSpPr>
        <p:spPr>
          <a:xfrm>
            <a:off x="6172200" y="2423160"/>
            <a:ext cx="960120" cy="237744"/>
          </a:xfrm>
          <a:prstGeom prst="roundRect">
            <a:avLst>
              <a:gd name="adj" fmla="val 38462"/>
            </a:avLst>
          </a:prstGeom>
          <a:solidFill>
            <a:srgbClr val="FEE2E2"/>
          </a:solidFill>
          <a:ln w="12700">
            <a:solidFill>
              <a:srgbClr val="B91C1C"/>
            </a:solidFill>
            <a:prstDash val="solid"/>
          </a:ln>
        </p:spPr>
      </p:sp>
      <p:sp>
        <p:nvSpPr>
          <p:cNvPr id="27" name="Text 25"/>
          <p:cNvSpPr/>
          <p:nvPr/>
        </p:nvSpPr>
        <p:spPr>
          <a:xfrm>
            <a:off x="6172200" y="2423160"/>
            <a:ext cx="960120" cy="237744"/>
          </a:xfrm>
          <a:prstGeom prst="rect">
            <a:avLst/>
          </a:prstGeom>
          <a:noFill/>
          <a:ln/>
        </p:spPr>
        <p:txBody>
          <a:bodyPr wrap="square" rtlCol="0" anchor="ctr"/>
          <a:lstStyle/>
          <a:p>
            <a:pPr algn="ctr" indent="0" marL="0">
              <a:buNone/>
            </a:pPr>
            <a:r>
              <a:rPr lang="en-US" sz="800" b="1" dirty="0">
                <a:solidFill>
                  <a:srgbClr val="B91C1C"/>
                </a:solidFill>
                <a:latin typeface="Calibri" pitchFamily="34" charset="0"/>
                <a:ea typeface="Calibri" pitchFamily="34" charset="-122"/>
                <a:cs typeface="Calibri" pitchFamily="34" charset="-120"/>
              </a:rPr>
              <a:t>Overdue</a:t>
            </a:r>
            <a:endParaRPr lang="en-US" sz="800" dirty="0"/>
          </a:p>
        </p:txBody>
      </p:sp>
      <p:sp>
        <p:nvSpPr>
          <p:cNvPr id="28" name="Shape 26"/>
          <p:cNvSpPr/>
          <p:nvPr/>
        </p:nvSpPr>
        <p:spPr>
          <a:xfrm>
            <a:off x="7269480" y="2404872"/>
            <a:ext cx="731520" cy="274320"/>
          </a:xfrm>
          <a:prstGeom prst="roundRect">
            <a:avLst>
              <a:gd name="adj" fmla="val 33333"/>
            </a:avLst>
          </a:prstGeom>
          <a:solidFill>
            <a:srgbClr val="DCFCE7"/>
          </a:solidFill>
          <a:ln w="12700">
            <a:solidFill>
              <a:srgbClr val="DCFCE7"/>
            </a:solidFill>
            <a:prstDash val="solid"/>
          </a:ln>
        </p:spPr>
      </p:sp>
      <p:sp>
        <p:nvSpPr>
          <p:cNvPr id="29" name="Text 27"/>
          <p:cNvSpPr/>
          <p:nvPr/>
        </p:nvSpPr>
        <p:spPr>
          <a:xfrm>
            <a:off x="7269480" y="2404872"/>
            <a:ext cx="731520" cy="274320"/>
          </a:xfrm>
          <a:prstGeom prst="rect">
            <a:avLst/>
          </a:prstGeom>
          <a:noFill/>
          <a:ln/>
        </p:spPr>
        <p:txBody>
          <a:bodyPr wrap="square" rtlCol="0" anchor="ctr"/>
          <a:lstStyle/>
          <a:p>
            <a:pPr algn="ctr" indent="0" marL="0">
              <a:buNone/>
            </a:pPr>
            <a:r>
              <a:rPr lang="en-US" sz="800" b="1" dirty="0">
                <a:solidFill>
                  <a:srgbClr val="166534"/>
                </a:solidFill>
                <a:latin typeface="Calibri" pitchFamily="34" charset="0"/>
                <a:ea typeface="Calibri" pitchFamily="34" charset="-122"/>
                <a:cs typeface="Calibri" pitchFamily="34" charset="-120"/>
              </a:rPr>
              <a:t>Approve</a:t>
            </a:r>
            <a:endParaRPr lang="en-US" sz="800" dirty="0"/>
          </a:p>
        </p:txBody>
      </p:sp>
      <p:sp>
        <p:nvSpPr>
          <p:cNvPr id="30" name="Shape 28"/>
          <p:cNvSpPr/>
          <p:nvPr/>
        </p:nvSpPr>
        <p:spPr>
          <a:xfrm>
            <a:off x="8092440" y="2404872"/>
            <a:ext cx="640080" cy="274320"/>
          </a:xfrm>
          <a:prstGeom prst="roundRect">
            <a:avLst>
              <a:gd name="adj" fmla="val 33333"/>
            </a:avLst>
          </a:prstGeom>
          <a:solidFill>
            <a:srgbClr val="FFFFFF"/>
          </a:solidFill>
          <a:ln w="12700">
            <a:solidFill>
              <a:srgbClr val="E2E8F0"/>
            </a:solidFill>
            <a:prstDash val="solid"/>
          </a:ln>
        </p:spPr>
      </p:sp>
      <p:sp>
        <p:nvSpPr>
          <p:cNvPr id="31" name="Text 29"/>
          <p:cNvSpPr/>
          <p:nvPr/>
        </p:nvSpPr>
        <p:spPr>
          <a:xfrm>
            <a:off x="8092440" y="2404872"/>
            <a:ext cx="640080"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Reject</a:t>
            </a:r>
            <a:endParaRPr lang="en-US" sz="800" dirty="0"/>
          </a:p>
        </p:txBody>
      </p:sp>
      <p:sp>
        <p:nvSpPr>
          <p:cNvPr id="32" name="Shape 30"/>
          <p:cNvSpPr/>
          <p:nvPr/>
        </p:nvSpPr>
        <p:spPr>
          <a:xfrm>
            <a:off x="457200" y="3108960"/>
            <a:ext cx="8366760" cy="822960"/>
          </a:xfrm>
          <a:prstGeom prst="roundRect">
            <a:avLst>
              <a:gd name="adj" fmla="val 8889"/>
            </a:avLst>
          </a:prstGeom>
          <a:solidFill>
            <a:srgbClr val="FFF7ED"/>
          </a:solidFill>
          <a:ln w="12700">
            <a:solidFill>
              <a:srgbClr val="E2E8F0"/>
            </a:solidFill>
            <a:prstDash val="solid"/>
          </a:ln>
        </p:spPr>
      </p:sp>
      <p:sp>
        <p:nvSpPr>
          <p:cNvPr id="33" name="Text 31"/>
          <p:cNvSpPr/>
          <p:nvPr/>
        </p:nvSpPr>
        <p:spPr>
          <a:xfrm>
            <a:off x="685800" y="3182112"/>
            <a:ext cx="411480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Supplier_Contract_Beta_v2.docx</a:t>
            </a:r>
            <a:endParaRPr lang="en-US" sz="1100" dirty="0"/>
          </a:p>
        </p:txBody>
      </p:sp>
      <p:sp>
        <p:nvSpPr>
          <p:cNvPr id="34" name="Text 32"/>
          <p:cNvSpPr/>
          <p:nvPr/>
        </p:nvSpPr>
        <p:spPr>
          <a:xfrm>
            <a:off x="685800" y="3419856"/>
            <a:ext cx="4114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Beta Corp · Expires 31 Dec 2027 · Today</a:t>
            </a:r>
            <a:endParaRPr lang="en-US" sz="850" dirty="0"/>
          </a:p>
        </p:txBody>
      </p:sp>
      <p:sp>
        <p:nvSpPr>
          <p:cNvPr id="35" name="Text 33"/>
          <p:cNvSpPr/>
          <p:nvPr/>
        </p:nvSpPr>
        <p:spPr>
          <a:xfrm>
            <a:off x="685800" y="3621024"/>
            <a:ext cx="4389120" cy="228600"/>
          </a:xfrm>
          <a:prstGeom prst="rect">
            <a:avLst/>
          </a:prstGeom>
          <a:noFill/>
          <a:ln/>
        </p:spPr>
        <p:txBody>
          <a:bodyPr wrap="square" lIns="0" tIns="0" rIns="0" bIns="0" rtlCol="0" anchor="ctr"/>
          <a:lstStyle/>
          <a:p>
            <a:pPr indent="0" marL="0">
              <a:buNone/>
            </a:pPr>
            <a:r>
              <a:rPr lang="en-US" sz="800" i="1" dirty="0">
                <a:solidFill>
                  <a:srgbClr val="334155"/>
                </a:solidFill>
                <a:latin typeface="Calibri" pitchFamily="34" charset="0"/>
                <a:ea typeface="Calibri" pitchFamily="34" charset="-122"/>
                <a:cs typeface="Calibri" pitchFamily="34" charset="-120"/>
              </a:rPr>
              <a:t>AI: Contract detected. Expiry extracted. Renewal reminder set.</a:t>
            </a:r>
            <a:endParaRPr lang="en-US" sz="800" dirty="0"/>
          </a:p>
        </p:txBody>
      </p:sp>
      <p:sp>
        <p:nvSpPr>
          <p:cNvPr id="36" name="Shape 34"/>
          <p:cNvSpPr/>
          <p:nvPr/>
        </p:nvSpPr>
        <p:spPr>
          <a:xfrm>
            <a:off x="5212080" y="3383280"/>
            <a:ext cx="822960" cy="237744"/>
          </a:xfrm>
          <a:prstGeom prst="roundRect">
            <a:avLst>
              <a:gd name="adj" fmla="val 38462"/>
            </a:avLst>
          </a:prstGeom>
          <a:solidFill>
            <a:srgbClr val="DBEAFE"/>
          </a:solidFill>
          <a:ln w="12700">
            <a:solidFill>
              <a:srgbClr val="DBEAFE"/>
            </a:solidFill>
            <a:prstDash val="solid"/>
          </a:ln>
        </p:spPr>
      </p:sp>
      <p:sp>
        <p:nvSpPr>
          <p:cNvPr id="37" name="Text 35"/>
          <p:cNvSpPr/>
          <p:nvPr/>
        </p:nvSpPr>
        <p:spPr>
          <a:xfrm>
            <a:off x="5212080" y="3383280"/>
            <a:ext cx="822960" cy="237744"/>
          </a:xfrm>
          <a:prstGeom prst="rect">
            <a:avLst/>
          </a:prstGeom>
          <a:noFill/>
          <a:ln/>
        </p:spPr>
        <p:txBody>
          <a:bodyPr wrap="square" rtlCol="0" anchor="ctr"/>
          <a:lstStyle/>
          <a:p>
            <a:pPr algn="ctr" indent="0" marL="0">
              <a:buNone/>
            </a:pPr>
            <a:r>
              <a:rPr lang="en-US" sz="800" b="1" dirty="0">
                <a:solidFill>
                  <a:srgbClr val="1E40AF"/>
                </a:solidFill>
                <a:latin typeface="Calibri" pitchFamily="34" charset="0"/>
                <a:ea typeface="Calibri" pitchFamily="34" charset="-122"/>
                <a:cs typeface="Calibri" pitchFamily="34" charset="-120"/>
              </a:rPr>
              <a:t>Contract</a:t>
            </a:r>
            <a:endParaRPr lang="en-US" sz="800" dirty="0"/>
          </a:p>
        </p:txBody>
      </p:sp>
      <p:sp>
        <p:nvSpPr>
          <p:cNvPr id="38" name="Shape 36"/>
          <p:cNvSpPr/>
          <p:nvPr/>
        </p:nvSpPr>
        <p:spPr>
          <a:xfrm>
            <a:off x="6172200" y="3383280"/>
            <a:ext cx="960120" cy="237744"/>
          </a:xfrm>
          <a:prstGeom prst="roundRect">
            <a:avLst>
              <a:gd name="adj" fmla="val 38462"/>
            </a:avLst>
          </a:prstGeom>
          <a:solidFill>
            <a:srgbClr val="FFF7ED"/>
          </a:solidFill>
          <a:ln w="12700">
            <a:solidFill>
              <a:srgbClr val="D97706"/>
            </a:solidFill>
            <a:prstDash val="solid"/>
          </a:ln>
        </p:spPr>
      </p:sp>
      <p:sp>
        <p:nvSpPr>
          <p:cNvPr id="39" name="Text 37"/>
          <p:cNvSpPr/>
          <p:nvPr/>
        </p:nvSpPr>
        <p:spPr>
          <a:xfrm>
            <a:off x="6172200" y="3383280"/>
            <a:ext cx="960120" cy="237744"/>
          </a:xfrm>
          <a:prstGeom prst="rect">
            <a:avLst/>
          </a:prstGeom>
          <a:noFill/>
          <a:ln/>
        </p:spPr>
        <p:txBody>
          <a:bodyPr wrap="square" rtlCol="0" anchor="ctr"/>
          <a:lstStyle/>
          <a:p>
            <a:pPr algn="ctr" indent="0" marL="0">
              <a:buNone/>
            </a:pPr>
            <a:r>
              <a:rPr lang="en-US" sz="800" b="1" dirty="0">
                <a:solidFill>
                  <a:srgbClr val="D97706"/>
                </a:solidFill>
                <a:latin typeface="Calibri" pitchFamily="34" charset="0"/>
                <a:ea typeface="Calibri" pitchFamily="34" charset="-122"/>
                <a:cs typeface="Calibri" pitchFamily="34" charset="-120"/>
              </a:rPr>
              <a:t>Due in 4h</a:t>
            </a:r>
            <a:endParaRPr lang="en-US" sz="800" dirty="0"/>
          </a:p>
        </p:txBody>
      </p:sp>
      <p:sp>
        <p:nvSpPr>
          <p:cNvPr id="40" name="Shape 38"/>
          <p:cNvSpPr/>
          <p:nvPr/>
        </p:nvSpPr>
        <p:spPr>
          <a:xfrm>
            <a:off x="7269480" y="3364992"/>
            <a:ext cx="731520" cy="274320"/>
          </a:xfrm>
          <a:prstGeom prst="roundRect">
            <a:avLst>
              <a:gd name="adj" fmla="val 33333"/>
            </a:avLst>
          </a:prstGeom>
          <a:solidFill>
            <a:srgbClr val="DCFCE7"/>
          </a:solidFill>
          <a:ln w="12700">
            <a:solidFill>
              <a:srgbClr val="DCFCE7"/>
            </a:solidFill>
            <a:prstDash val="solid"/>
          </a:ln>
        </p:spPr>
      </p:sp>
      <p:sp>
        <p:nvSpPr>
          <p:cNvPr id="41" name="Text 39"/>
          <p:cNvSpPr/>
          <p:nvPr/>
        </p:nvSpPr>
        <p:spPr>
          <a:xfrm>
            <a:off x="7269480" y="3364992"/>
            <a:ext cx="731520" cy="274320"/>
          </a:xfrm>
          <a:prstGeom prst="rect">
            <a:avLst/>
          </a:prstGeom>
          <a:noFill/>
          <a:ln/>
        </p:spPr>
        <p:txBody>
          <a:bodyPr wrap="square" rtlCol="0" anchor="ctr"/>
          <a:lstStyle/>
          <a:p>
            <a:pPr algn="ctr" indent="0" marL="0">
              <a:buNone/>
            </a:pPr>
            <a:r>
              <a:rPr lang="en-US" sz="800" b="1" dirty="0">
                <a:solidFill>
                  <a:srgbClr val="166534"/>
                </a:solidFill>
                <a:latin typeface="Calibri" pitchFamily="34" charset="0"/>
                <a:ea typeface="Calibri" pitchFamily="34" charset="-122"/>
                <a:cs typeface="Calibri" pitchFamily="34" charset="-120"/>
              </a:rPr>
              <a:t>Approve</a:t>
            </a:r>
            <a:endParaRPr lang="en-US" sz="800" dirty="0"/>
          </a:p>
        </p:txBody>
      </p:sp>
      <p:sp>
        <p:nvSpPr>
          <p:cNvPr id="42" name="Shape 40"/>
          <p:cNvSpPr/>
          <p:nvPr/>
        </p:nvSpPr>
        <p:spPr>
          <a:xfrm>
            <a:off x="8092440" y="3364992"/>
            <a:ext cx="640080" cy="274320"/>
          </a:xfrm>
          <a:prstGeom prst="roundRect">
            <a:avLst>
              <a:gd name="adj" fmla="val 33333"/>
            </a:avLst>
          </a:prstGeom>
          <a:solidFill>
            <a:srgbClr val="FFFFFF"/>
          </a:solidFill>
          <a:ln w="12700">
            <a:solidFill>
              <a:srgbClr val="E2E8F0"/>
            </a:solidFill>
            <a:prstDash val="solid"/>
          </a:ln>
        </p:spPr>
      </p:sp>
      <p:sp>
        <p:nvSpPr>
          <p:cNvPr id="43" name="Text 41"/>
          <p:cNvSpPr/>
          <p:nvPr/>
        </p:nvSpPr>
        <p:spPr>
          <a:xfrm>
            <a:off x="8092440" y="3364992"/>
            <a:ext cx="640080"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Reject</a:t>
            </a:r>
            <a:endParaRPr lang="en-US" sz="800" dirty="0"/>
          </a:p>
        </p:txBody>
      </p:sp>
      <p:sp>
        <p:nvSpPr>
          <p:cNvPr id="44" name="Shape 42"/>
          <p:cNvSpPr/>
          <p:nvPr/>
        </p:nvSpPr>
        <p:spPr>
          <a:xfrm>
            <a:off x="457200" y="4069080"/>
            <a:ext cx="8366760" cy="822960"/>
          </a:xfrm>
          <a:prstGeom prst="roundRect">
            <a:avLst>
              <a:gd name="adj" fmla="val 8889"/>
            </a:avLst>
          </a:prstGeom>
          <a:solidFill>
            <a:srgbClr val="F0FDF4"/>
          </a:solidFill>
          <a:ln w="12700">
            <a:solidFill>
              <a:srgbClr val="E2E8F0"/>
            </a:solidFill>
            <a:prstDash val="solid"/>
          </a:ln>
        </p:spPr>
      </p:sp>
      <p:sp>
        <p:nvSpPr>
          <p:cNvPr id="45" name="Text 43"/>
          <p:cNvSpPr/>
          <p:nvPr/>
        </p:nvSpPr>
        <p:spPr>
          <a:xfrm>
            <a:off x="685800" y="4142232"/>
            <a:ext cx="411480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Office_Supplies_Jun.pdf</a:t>
            </a:r>
            <a:endParaRPr lang="en-US" sz="1100" dirty="0"/>
          </a:p>
        </p:txBody>
      </p:sp>
      <p:sp>
        <p:nvSpPr>
          <p:cNvPr id="46" name="Text 44"/>
          <p:cNvSpPr/>
          <p:nvPr/>
        </p:nvSpPr>
        <p:spPr>
          <a:xfrm>
            <a:off x="685800" y="4379976"/>
            <a:ext cx="4114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Staples · $340 · 1 hour ago</a:t>
            </a:r>
            <a:endParaRPr lang="en-US" sz="850" dirty="0"/>
          </a:p>
        </p:txBody>
      </p:sp>
      <p:sp>
        <p:nvSpPr>
          <p:cNvPr id="47" name="Text 45"/>
          <p:cNvSpPr/>
          <p:nvPr/>
        </p:nvSpPr>
        <p:spPr>
          <a:xfrm>
            <a:off x="685800" y="4581144"/>
            <a:ext cx="4389120" cy="228600"/>
          </a:xfrm>
          <a:prstGeom prst="rect">
            <a:avLst/>
          </a:prstGeom>
          <a:noFill/>
          <a:ln/>
        </p:spPr>
        <p:txBody>
          <a:bodyPr wrap="square" lIns="0" tIns="0" rIns="0" bIns="0" rtlCol="0" anchor="ctr"/>
          <a:lstStyle/>
          <a:p>
            <a:pPr indent="0" marL="0">
              <a:buNone/>
            </a:pPr>
            <a:r>
              <a:rPr lang="en-US" sz="800" i="1" dirty="0">
                <a:solidFill>
                  <a:srgbClr val="334155"/>
                </a:solidFill>
                <a:latin typeface="Calibri" pitchFamily="34" charset="0"/>
                <a:ea typeface="Calibri" pitchFamily="34" charset="-122"/>
                <a:cs typeface="Calibri" pitchFamily="34" charset="-120"/>
              </a:rPr>
              <a:t>AI: Routine low-value invoice. Eligible for bulk approve.</a:t>
            </a:r>
            <a:endParaRPr lang="en-US" sz="800" dirty="0"/>
          </a:p>
        </p:txBody>
      </p:sp>
      <p:sp>
        <p:nvSpPr>
          <p:cNvPr id="48" name="Shape 46"/>
          <p:cNvSpPr/>
          <p:nvPr/>
        </p:nvSpPr>
        <p:spPr>
          <a:xfrm>
            <a:off x="5212080" y="4343400"/>
            <a:ext cx="822960" cy="237744"/>
          </a:xfrm>
          <a:prstGeom prst="roundRect">
            <a:avLst>
              <a:gd name="adj" fmla="val 38462"/>
            </a:avLst>
          </a:prstGeom>
          <a:solidFill>
            <a:srgbClr val="DBEAFE"/>
          </a:solidFill>
          <a:ln w="12700">
            <a:solidFill>
              <a:srgbClr val="DBEAFE"/>
            </a:solidFill>
            <a:prstDash val="solid"/>
          </a:ln>
        </p:spPr>
      </p:sp>
      <p:sp>
        <p:nvSpPr>
          <p:cNvPr id="49" name="Text 47"/>
          <p:cNvSpPr/>
          <p:nvPr/>
        </p:nvSpPr>
        <p:spPr>
          <a:xfrm>
            <a:off x="5212080" y="4343400"/>
            <a:ext cx="822960" cy="237744"/>
          </a:xfrm>
          <a:prstGeom prst="rect">
            <a:avLst/>
          </a:prstGeom>
          <a:noFill/>
          <a:ln/>
        </p:spPr>
        <p:txBody>
          <a:bodyPr wrap="square" rtlCol="0" anchor="ctr"/>
          <a:lstStyle/>
          <a:p>
            <a:pPr algn="ctr" indent="0" marL="0">
              <a:buNone/>
            </a:pPr>
            <a:r>
              <a:rPr lang="en-US" sz="800" b="1" dirty="0">
                <a:solidFill>
                  <a:srgbClr val="1E40AF"/>
                </a:solidFill>
                <a:latin typeface="Calibri" pitchFamily="34" charset="0"/>
                <a:ea typeface="Calibri" pitchFamily="34" charset="-122"/>
                <a:cs typeface="Calibri" pitchFamily="34" charset="-120"/>
              </a:rPr>
              <a:t>Invoice</a:t>
            </a:r>
            <a:endParaRPr lang="en-US" sz="800" dirty="0"/>
          </a:p>
        </p:txBody>
      </p:sp>
      <p:sp>
        <p:nvSpPr>
          <p:cNvPr id="50" name="Shape 48"/>
          <p:cNvSpPr/>
          <p:nvPr/>
        </p:nvSpPr>
        <p:spPr>
          <a:xfrm>
            <a:off x="6172200" y="4343400"/>
            <a:ext cx="960120" cy="237744"/>
          </a:xfrm>
          <a:prstGeom prst="roundRect">
            <a:avLst>
              <a:gd name="adj" fmla="val 38462"/>
            </a:avLst>
          </a:prstGeom>
          <a:solidFill>
            <a:srgbClr val="F0FDF4"/>
          </a:solidFill>
          <a:ln w="12700">
            <a:solidFill>
              <a:srgbClr val="166534"/>
            </a:solidFill>
            <a:prstDash val="solid"/>
          </a:ln>
        </p:spPr>
      </p:sp>
      <p:sp>
        <p:nvSpPr>
          <p:cNvPr id="51" name="Text 49"/>
          <p:cNvSpPr/>
          <p:nvPr/>
        </p:nvSpPr>
        <p:spPr>
          <a:xfrm>
            <a:off x="6172200" y="4343400"/>
            <a:ext cx="960120" cy="237744"/>
          </a:xfrm>
          <a:prstGeom prst="rect">
            <a:avLst/>
          </a:prstGeom>
          <a:noFill/>
          <a:ln/>
        </p:spPr>
        <p:txBody>
          <a:bodyPr wrap="square" rtlCol="0" anchor="ctr"/>
          <a:lstStyle/>
          <a:p>
            <a:pPr algn="ctr" indent="0" marL="0">
              <a:buNone/>
            </a:pPr>
            <a:r>
              <a:rPr lang="en-US" sz="800" b="1" dirty="0">
                <a:solidFill>
                  <a:srgbClr val="166534"/>
                </a:solidFill>
                <a:latin typeface="Calibri" pitchFamily="34" charset="0"/>
                <a:ea typeface="Calibri" pitchFamily="34" charset="-122"/>
                <a:cs typeface="Calibri" pitchFamily="34" charset="-120"/>
              </a:rPr>
              <a:t>On track</a:t>
            </a:r>
            <a:endParaRPr lang="en-US" sz="800" dirty="0"/>
          </a:p>
        </p:txBody>
      </p:sp>
      <p:sp>
        <p:nvSpPr>
          <p:cNvPr id="52" name="Shape 50"/>
          <p:cNvSpPr/>
          <p:nvPr/>
        </p:nvSpPr>
        <p:spPr>
          <a:xfrm>
            <a:off x="7269480" y="4325112"/>
            <a:ext cx="731520" cy="274320"/>
          </a:xfrm>
          <a:prstGeom prst="roundRect">
            <a:avLst>
              <a:gd name="adj" fmla="val 33333"/>
            </a:avLst>
          </a:prstGeom>
          <a:solidFill>
            <a:srgbClr val="DCFCE7"/>
          </a:solidFill>
          <a:ln w="12700">
            <a:solidFill>
              <a:srgbClr val="DCFCE7"/>
            </a:solidFill>
            <a:prstDash val="solid"/>
          </a:ln>
        </p:spPr>
      </p:sp>
      <p:sp>
        <p:nvSpPr>
          <p:cNvPr id="53" name="Text 51"/>
          <p:cNvSpPr/>
          <p:nvPr/>
        </p:nvSpPr>
        <p:spPr>
          <a:xfrm>
            <a:off x="7269480" y="4325112"/>
            <a:ext cx="731520" cy="274320"/>
          </a:xfrm>
          <a:prstGeom prst="rect">
            <a:avLst/>
          </a:prstGeom>
          <a:noFill/>
          <a:ln/>
        </p:spPr>
        <p:txBody>
          <a:bodyPr wrap="square" rtlCol="0" anchor="ctr"/>
          <a:lstStyle/>
          <a:p>
            <a:pPr algn="ctr" indent="0" marL="0">
              <a:buNone/>
            </a:pPr>
            <a:r>
              <a:rPr lang="en-US" sz="800" b="1" dirty="0">
                <a:solidFill>
                  <a:srgbClr val="166534"/>
                </a:solidFill>
                <a:latin typeface="Calibri" pitchFamily="34" charset="0"/>
                <a:ea typeface="Calibri" pitchFamily="34" charset="-122"/>
                <a:cs typeface="Calibri" pitchFamily="34" charset="-120"/>
              </a:rPr>
              <a:t>Approve</a:t>
            </a:r>
            <a:endParaRPr lang="en-US" sz="800" dirty="0"/>
          </a:p>
        </p:txBody>
      </p:sp>
      <p:sp>
        <p:nvSpPr>
          <p:cNvPr id="54" name="Shape 52"/>
          <p:cNvSpPr/>
          <p:nvPr/>
        </p:nvSpPr>
        <p:spPr>
          <a:xfrm>
            <a:off x="8092440" y="4325112"/>
            <a:ext cx="640080" cy="274320"/>
          </a:xfrm>
          <a:prstGeom prst="roundRect">
            <a:avLst>
              <a:gd name="adj" fmla="val 33333"/>
            </a:avLst>
          </a:prstGeom>
          <a:solidFill>
            <a:srgbClr val="FFFFFF"/>
          </a:solidFill>
          <a:ln w="12700">
            <a:solidFill>
              <a:srgbClr val="E2E8F0"/>
            </a:solidFill>
            <a:prstDash val="solid"/>
          </a:ln>
        </p:spPr>
      </p:sp>
      <p:sp>
        <p:nvSpPr>
          <p:cNvPr id="55" name="Text 53"/>
          <p:cNvSpPr/>
          <p:nvPr/>
        </p:nvSpPr>
        <p:spPr>
          <a:xfrm>
            <a:off x="8092440" y="4325112"/>
            <a:ext cx="640080"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Reject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Text 1"/>
          <p:cNvSpPr/>
          <p:nvPr/>
        </p:nvSpPr>
        <p:spPr>
          <a:xfrm>
            <a:off x="457200" y="731520"/>
            <a:ext cx="2743200" cy="1645920"/>
          </a:xfrm>
          <a:prstGeom prst="rect">
            <a:avLst/>
          </a:prstGeom>
          <a:noFill/>
          <a:ln/>
        </p:spPr>
        <p:txBody>
          <a:bodyPr wrap="square" rtlCol="0" anchor="ctr"/>
          <a:lstStyle/>
          <a:p>
            <a:pPr indent="0" marL="0">
              <a:buNone/>
            </a:pPr>
            <a:r>
              <a:rPr lang="en-US" sz="9600" b="1" dirty="0">
                <a:solidFill>
                  <a:srgbClr val="1D4ED8">
                    <a:alpha val="40000"/>
                  </a:srgbClr>
                </a:solidFill>
                <a:latin typeface="Calibri" pitchFamily="34" charset="0"/>
                <a:ea typeface="Calibri" pitchFamily="34" charset="-122"/>
                <a:cs typeface="Calibri" pitchFamily="34" charset="-120"/>
              </a:rPr>
              <a:t>02</a:t>
            </a:r>
            <a:endParaRPr lang="en-US" sz="9600" dirty="0"/>
          </a:p>
        </p:txBody>
      </p:sp>
      <p:sp>
        <p:nvSpPr>
          <p:cNvPr id="4" name="Text 2"/>
          <p:cNvSpPr/>
          <p:nvPr/>
        </p:nvSpPr>
        <p:spPr>
          <a:xfrm>
            <a:off x="457200" y="2468880"/>
            <a:ext cx="82296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System Flow</a:t>
            </a:r>
            <a:endParaRPr lang="en-US" sz="3600" dirty="0"/>
          </a:p>
        </p:txBody>
      </p:sp>
      <p:sp>
        <p:nvSpPr>
          <p:cNvPr id="5" name="Text 3"/>
          <p:cNvSpPr/>
          <p:nvPr/>
        </p:nvSpPr>
        <p:spPr>
          <a:xfrm>
            <a:off x="457200" y="3291840"/>
            <a:ext cx="7772400" cy="640080"/>
          </a:xfrm>
          <a:prstGeom prst="rect">
            <a:avLst/>
          </a:prstGeom>
          <a:noFill/>
          <a:ln/>
        </p:spPr>
        <p:txBody>
          <a:bodyPr wrap="square" rtlCol="0" anchor="ctr"/>
          <a:lstStyle/>
          <a:p>
            <a:pPr indent="0" marL="0">
              <a:buNone/>
            </a:pPr>
            <a:r>
              <a:rPr lang="en-US" sz="1600" dirty="0">
                <a:solidFill>
                  <a:srgbClr val="93C5FD"/>
                </a:solidFill>
                <a:latin typeface="Calibri" pitchFamily="34" charset="0"/>
                <a:ea typeface="Calibri" pitchFamily="34" charset="-122"/>
                <a:cs typeface="Calibri" pitchFamily="34" charset="-120"/>
              </a:rPr>
              <a:t>End-to-end: from file upload to AI answer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The 6 stages of GDoc AI</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704088" y="1188720"/>
            <a:ext cx="868680" cy="868680"/>
          </a:xfrm>
          <a:prstGeom prst="ellipse">
            <a:avLst/>
          </a:prstGeom>
          <a:solidFill>
            <a:srgbClr val="0D9488"/>
          </a:solidFill>
          <a:ln w="12700">
            <a:solidFill>
              <a:srgbClr val="0D9488"/>
            </a:solidFill>
            <a:prstDash val="solid"/>
          </a:ln>
        </p:spPr>
      </p:sp>
      <p:sp>
        <p:nvSpPr>
          <p:cNvPr id="5" name="Text 3"/>
          <p:cNvSpPr/>
          <p:nvPr/>
        </p:nvSpPr>
        <p:spPr>
          <a:xfrm>
            <a:off x="704088" y="1207008"/>
            <a:ext cx="868680" cy="832104"/>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p:nvPr/>
        </p:nvSpPr>
        <p:spPr>
          <a:xfrm>
            <a:off x="457200" y="2176272"/>
            <a:ext cx="1371600" cy="274320"/>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Ingest</a:t>
            </a:r>
            <a:endParaRPr lang="en-US" sz="1100" dirty="0"/>
          </a:p>
        </p:txBody>
      </p:sp>
      <p:sp>
        <p:nvSpPr>
          <p:cNvPr id="7" name="Text 5"/>
          <p:cNvSpPr/>
          <p:nvPr/>
        </p:nvSpPr>
        <p:spPr>
          <a:xfrm>
            <a:off x="457200" y="2450592"/>
            <a:ext cx="13716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File enters system</a:t>
            </a:r>
            <a:endParaRPr lang="en-US" sz="900" dirty="0"/>
          </a:p>
        </p:txBody>
      </p:sp>
      <p:sp>
        <p:nvSpPr>
          <p:cNvPr id="8" name="Shape 6"/>
          <p:cNvSpPr/>
          <p:nvPr/>
        </p:nvSpPr>
        <p:spPr>
          <a:xfrm>
            <a:off x="1572768" y="1627632"/>
            <a:ext cx="301752" cy="0"/>
          </a:xfrm>
          <a:prstGeom prst="line">
            <a:avLst/>
          </a:prstGeom>
          <a:noFill/>
          <a:ln w="19050">
            <a:solidFill>
              <a:srgbClr val="E2E8F0"/>
            </a:solidFill>
            <a:prstDash val="solid"/>
          </a:ln>
        </p:spPr>
      </p:sp>
      <p:sp>
        <p:nvSpPr>
          <p:cNvPr id="9" name="Shape 7"/>
          <p:cNvSpPr/>
          <p:nvPr/>
        </p:nvSpPr>
        <p:spPr>
          <a:xfrm>
            <a:off x="2121408" y="1188720"/>
            <a:ext cx="868680" cy="868680"/>
          </a:xfrm>
          <a:prstGeom prst="ellipse">
            <a:avLst/>
          </a:prstGeom>
          <a:solidFill>
            <a:srgbClr val="1D4ED8"/>
          </a:solidFill>
          <a:ln w="12700">
            <a:solidFill>
              <a:srgbClr val="1D4ED8"/>
            </a:solidFill>
            <a:prstDash val="solid"/>
          </a:ln>
        </p:spPr>
      </p:sp>
      <p:sp>
        <p:nvSpPr>
          <p:cNvPr id="10" name="Text 8"/>
          <p:cNvSpPr/>
          <p:nvPr/>
        </p:nvSpPr>
        <p:spPr>
          <a:xfrm>
            <a:off x="2121408" y="1207008"/>
            <a:ext cx="868680" cy="832104"/>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1874520" y="2176272"/>
            <a:ext cx="1371600" cy="274320"/>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OCR</a:t>
            </a:r>
            <a:endParaRPr lang="en-US" sz="1100" dirty="0"/>
          </a:p>
        </p:txBody>
      </p:sp>
      <p:sp>
        <p:nvSpPr>
          <p:cNvPr id="12" name="Text 10"/>
          <p:cNvSpPr/>
          <p:nvPr/>
        </p:nvSpPr>
        <p:spPr>
          <a:xfrm>
            <a:off x="1874520" y="2450592"/>
            <a:ext cx="13716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Text extracted</a:t>
            </a:r>
            <a:endParaRPr lang="en-US" sz="900" dirty="0"/>
          </a:p>
        </p:txBody>
      </p:sp>
      <p:sp>
        <p:nvSpPr>
          <p:cNvPr id="13" name="Shape 11"/>
          <p:cNvSpPr/>
          <p:nvPr/>
        </p:nvSpPr>
        <p:spPr>
          <a:xfrm>
            <a:off x="2990088" y="1627632"/>
            <a:ext cx="301752" cy="0"/>
          </a:xfrm>
          <a:prstGeom prst="line">
            <a:avLst/>
          </a:prstGeom>
          <a:noFill/>
          <a:ln w="19050">
            <a:solidFill>
              <a:srgbClr val="E2E8F0"/>
            </a:solidFill>
            <a:prstDash val="solid"/>
          </a:ln>
        </p:spPr>
      </p:sp>
      <p:sp>
        <p:nvSpPr>
          <p:cNvPr id="14" name="Shape 12"/>
          <p:cNvSpPr/>
          <p:nvPr/>
        </p:nvSpPr>
        <p:spPr>
          <a:xfrm>
            <a:off x="3538728" y="1188720"/>
            <a:ext cx="868680" cy="868680"/>
          </a:xfrm>
          <a:prstGeom prst="ellipse">
            <a:avLst/>
          </a:prstGeom>
          <a:solidFill>
            <a:srgbClr val="7C3AED"/>
          </a:solidFill>
          <a:ln w="12700">
            <a:solidFill>
              <a:srgbClr val="7C3AED"/>
            </a:solidFill>
            <a:prstDash val="solid"/>
          </a:ln>
        </p:spPr>
      </p:sp>
      <p:sp>
        <p:nvSpPr>
          <p:cNvPr id="15" name="Text 13"/>
          <p:cNvSpPr/>
          <p:nvPr/>
        </p:nvSpPr>
        <p:spPr>
          <a:xfrm>
            <a:off x="3538728" y="1207008"/>
            <a:ext cx="868680" cy="832104"/>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3291840" y="2176272"/>
            <a:ext cx="1371600" cy="274320"/>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AI Pipeline</a:t>
            </a:r>
            <a:endParaRPr lang="en-US" sz="1100" dirty="0"/>
          </a:p>
        </p:txBody>
      </p:sp>
      <p:sp>
        <p:nvSpPr>
          <p:cNvPr id="17" name="Text 15"/>
          <p:cNvSpPr/>
          <p:nvPr/>
        </p:nvSpPr>
        <p:spPr>
          <a:xfrm>
            <a:off x="3291840" y="2450592"/>
            <a:ext cx="13716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Chunk · Embed · Classify</a:t>
            </a:r>
            <a:endParaRPr lang="en-US" sz="900" dirty="0"/>
          </a:p>
        </p:txBody>
      </p:sp>
      <p:sp>
        <p:nvSpPr>
          <p:cNvPr id="18" name="Shape 16"/>
          <p:cNvSpPr/>
          <p:nvPr/>
        </p:nvSpPr>
        <p:spPr>
          <a:xfrm>
            <a:off x="4407408" y="1627632"/>
            <a:ext cx="301752" cy="0"/>
          </a:xfrm>
          <a:prstGeom prst="line">
            <a:avLst/>
          </a:prstGeom>
          <a:noFill/>
          <a:ln w="19050">
            <a:solidFill>
              <a:srgbClr val="E2E8F0"/>
            </a:solidFill>
            <a:prstDash val="solid"/>
          </a:ln>
        </p:spPr>
      </p:sp>
      <p:sp>
        <p:nvSpPr>
          <p:cNvPr id="19" name="Shape 17"/>
          <p:cNvSpPr/>
          <p:nvPr/>
        </p:nvSpPr>
        <p:spPr>
          <a:xfrm>
            <a:off x="4956048" y="1188720"/>
            <a:ext cx="868680" cy="868680"/>
          </a:xfrm>
          <a:prstGeom prst="ellipse">
            <a:avLst/>
          </a:prstGeom>
          <a:solidFill>
            <a:srgbClr val="15803D"/>
          </a:solidFill>
          <a:ln w="12700">
            <a:solidFill>
              <a:srgbClr val="15803D"/>
            </a:solidFill>
            <a:prstDash val="solid"/>
          </a:ln>
        </p:spPr>
      </p:sp>
      <p:sp>
        <p:nvSpPr>
          <p:cNvPr id="20" name="Text 18"/>
          <p:cNvSpPr/>
          <p:nvPr/>
        </p:nvSpPr>
        <p:spPr>
          <a:xfrm>
            <a:off x="4956048" y="1207008"/>
            <a:ext cx="868680" cy="832104"/>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1" name="Text 19"/>
          <p:cNvSpPr/>
          <p:nvPr/>
        </p:nvSpPr>
        <p:spPr>
          <a:xfrm>
            <a:off x="4709160" y="2176272"/>
            <a:ext cx="1371600" cy="274320"/>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Store</a:t>
            </a:r>
            <a:endParaRPr lang="en-US" sz="1100" dirty="0"/>
          </a:p>
        </p:txBody>
      </p:sp>
      <p:sp>
        <p:nvSpPr>
          <p:cNvPr id="22" name="Text 20"/>
          <p:cNvSpPr/>
          <p:nvPr/>
        </p:nvSpPr>
        <p:spPr>
          <a:xfrm>
            <a:off x="4709160" y="2450592"/>
            <a:ext cx="13716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GDoc Document updated</a:t>
            </a:r>
            <a:endParaRPr lang="en-US" sz="900" dirty="0"/>
          </a:p>
        </p:txBody>
      </p:sp>
      <p:sp>
        <p:nvSpPr>
          <p:cNvPr id="23" name="Shape 21"/>
          <p:cNvSpPr/>
          <p:nvPr/>
        </p:nvSpPr>
        <p:spPr>
          <a:xfrm>
            <a:off x="5824728" y="1627632"/>
            <a:ext cx="301752" cy="0"/>
          </a:xfrm>
          <a:prstGeom prst="line">
            <a:avLst/>
          </a:prstGeom>
          <a:noFill/>
          <a:ln w="19050">
            <a:solidFill>
              <a:srgbClr val="E2E8F0"/>
            </a:solidFill>
            <a:prstDash val="solid"/>
          </a:ln>
        </p:spPr>
      </p:sp>
      <p:sp>
        <p:nvSpPr>
          <p:cNvPr id="24" name="Shape 22"/>
          <p:cNvSpPr/>
          <p:nvPr/>
        </p:nvSpPr>
        <p:spPr>
          <a:xfrm>
            <a:off x="6373368" y="1188720"/>
            <a:ext cx="868680" cy="868680"/>
          </a:xfrm>
          <a:prstGeom prst="ellipse">
            <a:avLst/>
          </a:prstGeom>
          <a:solidFill>
            <a:srgbClr val="D97706"/>
          </a:solidFill>
          <a:ln w="12700">
            <a:solidFill>
              <a:srgbClr val="D97706"/>
            </a:solidFill>
            <a:prstDash val="solid"/>
          </a:ln>
        </p:spPr>
      </p:sp>
      <p:sp>
        <p:nvSpPr>
          <p:cNvPr id="25" name="Text 23"/>
          <p:cNvSpPr/>
          <p:nvPr/>
        </p:nvSpPr>
        <p:spPr>
          <a:xfrm>
            <a:off x="6373368" y="1207008"/>
            <a:ext cx="868680" cy="832104"/>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6" name="Text 24"/>
          <p:cNvSpPr/>
          <p:nvPr/>
        </p:nvSpPr>
        <p:spPr>
          <a:xfrm>
            <a:off x="6126480" y="2176272"/>
            <a:ext cx="1371600" cy="274320"/>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User action</a:t>
            </a:r>
            <a:endParaRPr lang="en-US" sz="1100" dirty="0"/>
          </a:p>
        </p:txBody>
      </p:sp>
      <p:sp>
        <p:nvSpPr>
          <p:cNvPr id="27" name="Text 25"/>
          <p:cNvSpPr/>
          <p:nvPr/>
        </p:nvSpPr>
        <p:spPr>
          <a:xfrm>
            <a:off x="6126480" y="2450592"/>
            <a:ext cx="13716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Search or Chat</a:t>
            </a:r>
            <a:endParaRPr lang="en-US" sz="900" dirty="0"/>
          </a:p>
        </p:txBody>
      </p:sp>
      <p:sp>
        <p:nvSpPr>
          <p:cNvPr id="28" name="Shape 26"/>
          <p:cNvSpPr/>
          <p:nvPr/>
        </p:nvSpPr>
        <p:spPr>
          <a:xfrm>
            <a:off x="7242048" y="1627632"/>
            <a:ext cx="301752" cy="0"/>
          </a:xfrm>
          <a:prstGeom prst="line">
            <a:avLst/>
          </a:prstGeom>
          <a:noFill/>
          <a:ln w="19050">
            <a:solidFill>
              <a:srgbClr val="E2E8F0"/>
            </a:solidFill>
            <a:prstDash val="solid"/>
          </a:ln>
        </p:spPr>
      </p:sp>
      <p:sp>
        <p:nvSpPr>
          <p:cNvPr id="29" name="Shape 27"/>
          <p:cNvSpPr/>
          <p:nvPr/>
        </p:nvSpPr>
        <p:spPr>
          <a:xfrm>
            <a:off x="7790688" y="1188720"/>
            <a:ext cx="868680" cy="868680"/>
          </a:xfrm>
          <a:prstGeom prst="ellipse">
            <a:avLst/>
          </a:prstGeom>
          <a:solidFill>
            <a:srgbClr val="0D9488"/>
          </a:solidFill>
          <a:ln w="12700">
            <a:solidFill>
              <a:srgbClr val="0D9488"/>
            </a:solidFill>
            <a:prstDash val="solid"/>
          </a:ln>
        </p:spPr>
      </p:sp>
      <p:sp>
        <p:nvSpPr>
          <p:cNvPr id="30" name="Text 28"/>
          <p:cNvSpPr/>
          <p:nvPr/>
        </p:nvSpPr>
        <p:spPr>
          <a:xfrm>
            <a:off x="7790688" y="1207008"/>
            <a:ext cx="868680" cy="832104"/>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1" name="Text 29"/>
          <p:cNvSpPr/>
          <p:nvPr/>
        </p:nvSpPr>
        <p:spPr>
          <a:xfrm>
            <a:off x="7543800" y="2176272"/>
            <a:ext cx="1371600" cy="274320"/>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Answer</a:t>
            </a:r>
            <a:endParaRPr lang="en-US" sz="1100" dirty="0"/>
          </a:p>
        </p:txBody>
      </p:sp>
      <p:sp>
        <p:nvSpPr>
          <p:cNvPr id="32" name="Text 30"/>
          <p:cNvSpPr/>
          <p:nvPr/>
        </p:nvSpPr>
        <p:spPr>
          <a:xfrm>
            <a:off x="7543800" y="2450592"/>
            <a:ext cx="13716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Cited result returned</a:t>
            </a:r>
            <a:endParaRPr lang="en-US" sz="900" dirty="0"/>
          </a:p>
        </p:txBody>
      </p:sp>
      <p:sp>
        <p:nvSpPr>
          <p:cNvPr id="33" name="Text 31"/>
          <p:cNvSpPr/>
          <p:nvPr/>
        </p:nvSpPr>
        <p:spPr>
          <a:xfrm>
            <a:off x="457200" y="2926080"/>
            <a:ext cx="1828800" cy="256032"/>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Ingest channels:</a:t>
            </a:r>
            <a:endParaRPr lang="en-US" sz="1000" dirty="0"/>
          </a:p>
        </p:txBody>
      </p:sp>
      <p:sp>
        <p:nvSpPr>
          <p:cNvPr id="34" name="Shape 32"/>
          <p:cNvSpPr/>
          <p:nvPr/>
        </p:nvSpPr>
        <p:spPr>
          <a:xfrm>
            <a:off x="2331720" y="2907792"/>
            <a:ext cx="1261872" cy="274320"/>
          </a:xfrm>
          <a:prstGeom prst="roundRect">
            <a:avLst>
              <a:gd name="adj" fmla="val 40000"/>
            </a:avLst>
          </a:prstGeom>
          <a:solidFill>
            <a:srgbClr val="DCFCE7"/>
          </a:solidFill>
          <a:ln w="12700">
            <a:solidFill>
              <a:srgbClr val="BBF7D0"/>
            </a:solidFill>
            <a:prstDash val="solid"/>
          </a:ln>
        </p:spPr>
      </p:sp>
      <p:sp>
        <p:nvSpPr>
          <p:cNvPr id="35" name="Text 33"/>
          <p:cNvSpPr/>
          <p:nvPr/>
        </p:nvSpPr>
        <p:spPr>
          <a:xfrm>
            <a:off x="2331720" y="2907792"/>
            <a:ext cx="1261872" cy="274320"/>
          </a:xfrm>
          <a:prstGeom prst="rect">
            <a:avLst/>
          </a:prstGeom>
          <a:noFill/>
          <a:ln/>
        </p:spPr>
        <p:txBody>
          <a:bodyPr wrap="square" rtlCol="0" anchor="ctr"/>
          <a:lstStyle/>
          <a:p>
            <a:pPr algn="ctr" indent="0" marL="0">
              <a:buNone/>
            </a:pPr>
            <a:r>
              <a:rPr lang="en-US" sz="800" b="1" dirty="0">
                <a:solidFill>
                  <a:srgbClr val="166534"/>
                </a:solidFill>
                <a:latin typeface="Calibri" pitchFamily="34" charset="0"/>
                <a:ea typeface="Calibri" pitchFamily="34" charset="-122"/>
                <a:cs typeface="Calibri" pitchFamily="34" charset="-120"/>
              </a:rPr>
              <a:t>Web upload (Drive)</a:t>
            </a:r>
            <a:endParaRPr lang="en-US" sz="800" dirty="0"/>
          </a:p>
        </p:txBody>
      </p:sp>
      <p:sp>
        <p:nvSpPr>
          <p:cNvPr id="36" name="Shape 34"/>
          <p:cNvSpPr/>
          <p:nvPr/>
        </p:nvSpPr>
        <p:spPr>
          <a:xfrm>
            <a:off x="3685032" y="2907792"/>
            <a:ext cx="1261872" cy="274320"/>
          </a:xfrm>
          <a:prstGeom prst="roundRect">
            <a:avLst>
              <a:gd name="adj" fmla="val 40000"/>
            </a:avLst>
          </a:prstGeom>
          <a:solidFill>
            <a:srgbClr val="F1F5F9"/>
          </a:solidFill>
          <a:ln w="12700">
            <a:solidFill>
              <a:srgbClr val="E2E8F0"/>
            </a:solidFill>
            <a:prstDash val="solid"/>
          </a:ln>
        </p:spPr>
      </p:sp>
      <p:sp>
        <p:nvSpPr>
          <p:cNvPr id="37" name="Text 35"/>
          <p:cNvSpPr/>
          <p:nvPr/>
        </p:nvSpPr>
        <p:spPr>
          <a:xfrm>
            <a:off x="3685032" y="2907792"/>
            <a:ext cx="1261872"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Email inbox</a:t>
            </a:r>
            <a:endParaRPr lang="en-US" sz="800" dirty="0"/>
          </a:p>
        </p:txBody>
      </p:sp>
      <p:sp>
        <p:nvSpPr>
          <p:cNvPr id="38" name="Shape 36"/>
          <p:cNvSpPr/>
          <p:nvPr/>
        </p:nvSpPr>
        <p:spPr>
          <a:xfrm>
            <a:off x="5038344" y="2907792"/>
            <a:ext cx="1261872" cy="274320"/>
          </a:xfrm>
          <a:prstGeom prst="roundRect">
            <a:avLst>
              <a:gd name="adj" fmla="val 40000"/>
            </a:avLst>
          </a:prstGeom>
          <a:solidFill>
            <a:srgbClr val="F1F5F9"/>
          </a:solidFill>
          <a:ln w="12700">
            <a:solidFill>
              <a:srgbClr val="E2E8F0"/>
            </a:solidFill>
            <a:prstDash val="solid"/>
          </a:ln>
        </p:spPr>
      </p:sp>
      <p:sp>
        <p:nvSpPr>
          <p:cNvPr id="39" name="Text 37"/>
          <p:cNvSpPr/>
          <p:nvPr/>
        </p:nvSpPr>
        <p:spPr>
          <a:xfrm>
            <a:off x="5038344" y="2907792"/>
            <a:ext cx="1261872"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Scanner folder</a:t>
            </a:r>
            <a:endParaRPr lang="en-US" sz="800" dirty="0"/>
          </a:p>
        </p:txBody>
      </p:sp>
      <p:sp>
        <p:nvSpPr>
          <p:cNvPr id="40" name="Shape 38"/>
          <p:cNvSpPr/>
          <p:nvPr/>
        </p:nvSpPr>
        <p:spPr>
          <a:xfrm>
            <a:off x="6391656" y="2907792"/>
            <a:ext cx="1261872" cy="274320"/>
          </a:xfrm>
          <a:prstGeom prst="roundRect">
            <a:avLst>
              <a:gd name="adj" fmla="val 40000"/>
            </a:avLst>
          </a:prstGeom>
          <a:solidFill>
            <a:srgbClr val="F1F5F9"/>
          </a:solidFill>
          <a:ln w="12700">
            <a:solidFill>
              <a:srgbClr val="E2E8F0"/>
            </a:solidFill>
            <a:prstDash val="solid"/>
          </a:ln>
        </p:spPr>
      </p:sp>
      <p:sp>
        <p:nvSpPr>
          <p:cNvPr id="41" name="Text 39"/>
          <p:cNvSpPr/>
          <p:nvPr/>
        </p:nvSpPr>
        <p:spPr>
          <a:xfrm>
            <a:off x="6391656" y="2907792"/>
            <a:ext cx="1261872"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API / ERP push</a:t>
            </a:r>
            <a:endParaRPr lang="en-US" sz="800" dirty="0"/>
          </a:p>
        </p:txBody>
      </p:sp>
      <p:sp>
        <p:nvSpPr>
          <p:cNvPr id="42" name="Shape 40"/>
          <p:cNvSpPr/>
          <p:nvPr/>
        </p:nvSpPr>
        <p:spPr>
          <a:xfrm>
            <a:off x="7744968" y="2907792"/>
            <a:ext cx="1261872" cy="274320"/>
          </a:xfrm>
          <a:prstGeom prst="roundRect">
            <a:avLst>
              <a:gd name="adj" fmla="val 40000"/>
            </a:avLst>
          </a:prstGeom>
          <a:solidFill>
            <a:srgbClr val="F1F5F9"/>
          </a:solidFill>
          <a:ln w="12700">
            <a:solidFill>
              <a:srgbClr val="E2E8F0"/>
            </a:solidFill>
            <a:prstDash val="solid"/>
          </a:ln>
        </p:spPr>
      </p:sp>
      <p:sp>
        <p:nvSpPr>
          <p:cNvPr id="43" name="Text 41"/>
          <p:cNvSpPr/>
          <p:nvPr/>
        </p:nvSpPr>
        <p:spPr>
          <a:xfrm>
            <a:off x="7744968" y="2907792"/>
            <a:ext cx="1261872"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Cloud sync</a:t>
            </a:r>
            <a:endParaRPr lang="en-US" sz="800" dirty="0"/>
          </a:p>
        </p:txBody>
      </p:sp>
      <p:sp>
        <p:nvSpPr>
          <p:cNvPr id="44" name="Shape 42"/>
          <p:cNvSpPr/>
          <p:nvPr/>
        </p:nvSpPr>
        <p:spPr>
          <a:xfrm>
            <a:off x="457200" y="3337560"/>
            <a:ext cx="4023360" cy="1417320"/>
          </a:xfrm>
          <a:prstGeom prst="roundRect">
            <a:avLst>
              <a:gd name="adj" fmla="val 6452"/>
            </a:avLst>
          </a:prstGeom>
          <a:solidFill>
            <a:srgbClr val="F0FDF4"/>
          </a:solidFill>
          <a:ln w="12700">
            <a:solidFill>
              <a:srgbClr val="BBF7D0"/>
            </a:solidFill>
            <a:prstDash val="solid"/>
          </a:ln>
        </p:spPr>
      </p:sp>
      <p:sp>
        <p:nvSpPr>
          <p:cNvPr id="45" name="Text 43"/>
          <p:cNvSpPr/>
          <p:nvPr/>
        </p:nvSpPr>
        <p:spPr>
          <a:xfrm>
            <a:off x="594360" y="3410712"/>
            <a:ext cx="3657600" cy="256032"/>
          </a:xfrm>
          <a:prstGeom prst="rect">
            <a:avLst/>
          </a:prstGeom>
          <a:noFill/>
          <a:ln/>
        </p:spPr>
        <p:txBody>
          <a:bodyPr wrap="square" lIns="0" tIns="0" rIns="0" bIns="0" rtlCol="0" anchor="ctr"/>
          <a:lstStyle/>
          <a:p>
            <a:pPr indent="0" marL="0">
              <a:buNone/>
            </a:pPr>
            <a:r>
              <a:rPr lang="en-US" sz="1000" b="1" dirty="0">
                <a:solidFill>
                  <a:srgbClr val="166534"/>
                </a:solidFill>
                <a:latin typeface="Calibri" pitchFamily="34" charset="0"/>
                <a:ea typeface="Calibri" pitchFamily="34" charset="-122"/>
                <a:cs typeface="Calibri" pitchFamily="34" charset="-120"/>
              </a:rPr>
              <a:t>Frappe / Drive handles</a:t>
            </a:r>
            <a:endParaRPr lang="en-US" sz="1000" dirty="0"/>
          </a:p>
        </p:txBody>
      </p:sp>
      <p:sp>
        <p:nvSpPr>
          <p:cNvPr id="46" name="Text 44"/>
          <p:cNvSpPr/>
          <p:nvPr/>
        </p:nvSpPr>
        <p:spPr>
          <a:xfrm>
            <a:off x="594360" y="3694176"/>
            <a:ext cx="3657600" cy="822960"/>
          </a:xfrm>
          <a:prstGeom prst="rect">
            <a:avLst/>
          </a:prstGeom>
          <a:noFill/>
          <a:ln/>
        </p:spPr>
        <p:txBody>
          <a:bodyPr wrap="square" rtlCol="0" anchor="ctr"/>
          <a:lstStyle/>
          <a:p>
            <a:pPr indent="0" marL="0">
              <a:buNone/>
            </a:pPr>
            <a:r>
              <a:rPr lang="en-US" sz="900" dirty="0">
                <a:solidFill>
                  <a:srgbClr val="15803D"/>
                </a:solidFill>
                <a:latin typeface="Calibri" pitchFamily="34" charset="0"/>
                <a:ea typeface="Calibri" pitchFamily="34" charset="-122"/>
                <a:cs typeface="Calibri" pitchFamily="34" charset="-120"/>
              </a:rPr>
              <a:t>File storage · Folder structure · User permissions</a:t>
            </a:r>
            <a:endParaRPr lang="en-US" sz="900" dirty="0"/>
          </a:p>
          <a:p>
            <a:pPr indent="0" marL="0">
              <a:buNone/>
            </a:pPr>
            <a:r>
              <a:rPr lang="en-US" sz="900" dirty="0">
                <a:solidFill>
                  <a:srgbClr val="15803D"/>
                </a:solidFill>
                <a:latin typeface="Calibri" pitchFamily="34" charset="0"/>
                <a:ea typeface="Calibri" pitchFamily="34" charset="-122"/>
                <a:cs typeface="Calibri" pitchFamily="34" charset="-120"/>
              </a:rPr>
              <a:t>Workflow states · Email alerts · Background jobs (RQ)</a:t>
            </a:r>
            <a:endParaRPr lang="en-US" sz="900" dirty="0"/>
          </a:p>
          <a:p>
            <a:pPr indent="0" marL="0">
              <a:buNone/>
            </a:pPr>
            <a:r>
              <a:rPr lang="en-US" sz="900" dirty="0">
                <a:solidFill>
                  <a:srgbClr val="15803D"/>
                </a:solidFill>
                <a:latin typeface="Calibri" pitchFamily="34" charset="0"/>
                <a:ea typeface="Calibri" pitchFamily="34" charset="-122"/>
                <a:cs typeface="Calibri" pitchFamily="34" charset="-120"/>
              </a:rPr>
              <a:t>REST API · Webhooks · Audit logs</a:t>
            </a:r>
            <a:endParaRPr lang="en-US" sz="900" dirty="0"/>
          </a:p>
        </p:txBody>
      </p:sp>
      <p:sp>
        <p:nvSpPr>
          <p:cNvPr id="47" name="Shape 45"/>
          <p:cNvSpPr/>
          <p:nvPr/>
        </p:nvSpPr>
        <p:spPr>
          <a:xfrm>
            <a:off x="4663440" y="3337560"/>
            <a:ext cx="4160520" cy="1417320"/>
          </a:xfrm>
          <a:prstGeom prst="roundRect">
            <a:avLst>
              <a:gd name="adj" fmla="val 6452"/>
            </a:avLst>
          </a:prstGeom>
          <a:solidFill>
            <a:srgbClr val="EFF6FF"/>
          </a:solidFill>
          <a:ln w="12700">
            <a:solidFill>
              <a:srgbClr val="BFDBFE"/>
            </a:solidFill>
            <a:prstDash val="solid"/>
          </a:ln>
        </p:spPr>
      </p:sp>
      <p:sp>
        <p:nvSpPr>
          <p:cNvPr id="48" name="Text 46"/>
          <p:cNvSpPr/>
          <p:nvPr/>
        </p:nvSpPr>
        <p:spPr>
          <a:xfrm>
            <a:off x="4800600" y="3410712"/>
            <a:ext cx="3749040" cy="256032"/>
          </a:xfrm>
          <a:prstGeom prst="rect">
            <a:avLst/>
          </a:prstGeom>
          <a:noFill/>
          <a:ln/>
        </p:spPr>
        <p:txBody>
          <a:bodyPr wrap="square" lIns="0" tIns="0" rIns="0" bIns="0"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changAI builds</a:t>
            </a:r>
            <a:endParaRPr lang="en-US" sz="1000" dirty="0"/>
          </a:p>
        </p:txBody>
      </p:sp>
      <p:sp>
        <p:nvSpPr>
          <p:cNvPr id="49" name="Text 47"/>
          <p:cNvSpPr/>
          <p:nvPr/>
        </p:nvSpPr>
        <p:spPr>
          <a:xfrm>
            <a:off x="4800600" y="3694176"/>
            <a:ext cx="3749040" cy="822960"/>
          </a:xfrm>
          <a:prstGeom prst="rect">
            <a:avLst/>
          </a:prstGeom>
          <a:noFill/>
          <a:ln/>
        </p:spPr>
        <p:txBody>
          <a:bodyPr wrap="square" rtlCol="0" anchor="ctr"/>
          <a:lstStyle/>
          <a:p>
            <a:pPr indent="0" marL="0">
              <a:buNone/>
            </a:pPr>
            <a:r>
              <a:rPr lang="en-US" sz="900" dirty="0">
                <a:solidFill>
                  <a:srgbClr val="1D4ED8"/>
                </a:solidFill>
                <a:latin typeface="Calibri" pitchFamily="34" charset="0"/>
                <a:ea typeface="Calibri" pitchFamily="34" charset="-122"/>
                <a:cs typeface="Calibri" pitchFamily="34" charset="-120"/>
              </a:rPr>
              <a:t>OCR pipeline · Text chunking · Embeddings (pgvector)</a:t>
            </a:r>
            <a:endParaRPr lang="en-US" sz="900" dirty="0"/>
          </a:p>
          <a:p>
            <a:pPr indent="0" marL="0">
              <a:buNone/>
            </a:pPr>
            <a:r>
              <a:rPr lang="en-US" sz="900" dirty="0">
                <a:solidFill>
                  <a:srgbClr val="1D4ED8"/>
                </a:solidFill>
                <a:latin typeface="Calibri" pitchFamily="34" charset="0"/>
                <a:ea typeface="Calibri" pitchFamily="34" charset="-122"/>
                <a:cs typeface="Calibri" pitchFamily="34" charset="-120"/>
              </a:rPr>
              <a:t>NER extraction · Classification · RAG chat engine</a:t>
            </a:r>
            <a:endParaRPr lang="en-US" sz="900" dirty="0"/>
          </a:p>
          <a:p>
            <a:pPr indent="0" marL="0">
              <a:buNone/>
            </a:pPr>
            <a:r>
              <a:rPr lang="en-US" sz="900" dirty="0">
                <a:solidFill>
                  <a:srgbClr val="1D4ED8"/>
                </a:solidFill>
                <a:latin typeface="Calibri" pitchFamily="34" charset="0"/>
                <a:ea typeface="Calibri" pitchFamily="34" charset="-122"/>
                <a:cs typeface="Calibri" pitchFamily="34" charset="-120"/>
              </a:rPr>
              <a:t>ERP matching · AI sidebar · Cost metering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Stage 1–2: Ingest → OCR &amp; text extraction</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97280"/>
            <a:ext cx="4023360" cy="1417320"/>
          </a:xfrm>
          <a:prstGeom prst="roundRect">
            <a:avLst>
              <a:gd name="adj" fmla="val 6452"/>
            </a:avLst>
          </a:prstGeom>
          <a:solidFill>
            <a:srgbClr val="F0FDF4"/>
          </a:solidFill>
          <a:ln w="6350">
            <a:solidFill>
              <a:srgbClr val="E2E8F0"/>
            </a:solidFill>
            <a:prstDash val="solid"/>
          </a:ln>
        </p:spPr>
      </p:sp>
      <p:sp>
        <p:nvSpPr>
          <p:cNvPr id="5" name="Text 3"/>
          <p:cNvSpPr/>
          <p:nvPr/>
        </p:nvSpPr>
        <p:spPr>
          <a:xfrm>
            <a:off x="640080" y="1188720"/>
            <a:ext cx="3474720" cy="292608"/>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Stage 1 — Ingest</a:t>
            </a:r>
            <a:endParaRPr lang="en-US" sz="1200" dirty="0"/>
          </a:p>
        </p:txBody>
      </p:sp>
      <p:sp>
        <p:nvSpPr>
          <p:cNvPr id="6" name="Shape 4"/>
          <p:cNvSpPr/>
          <p:nvPr/>
        </p:nvSpPr>
        <p:spPr>
          <a:xfrm>
            <a:off x="640080" y="1572768"/>
            <a:ext cx="146304" cy="146304"/>
          </a:xfrm>
          <a:prstGeom prst="ellipse">
            <a:avLst/>
          </a:prstGeom>
          <a:solidFill>
            <a:srgbClr val="0D9488"/>
          </a:solidFill>
          <a:ln w="12700">
            <a:solidFill>
              <a:srgbClr val="0D9488"/>
            </a:solidFill>
            <a:prstDash val="solid"/>
          </a:ln>
        </p:spPr>
      </p:sp>
      <p:sp>
        <p:nvSpPr>
          <p:cNvPr id="7" name="Text 5"/>
          <p:cNvSpPr/>
          <p:nvPr/>
        </p:nvSpPr>
        <p:spPr>
          <a:xfrm>
            <a:off x="868680" y="1554480"/>
            <a:ext cx="3429000" cy="20116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File arrives (any channel)</a:t>
            </a:r>
            <a:endParaRPr lang="en-US" sz="950" dirty="0"/>
          </a:p>
        </p:txBody>
      </p:sp>
      <p:sp>
        <p:nvSpPr>
          <p:cNvPr id="8" name="Shape 6"/>
          <p:cNvSpPr/>
          <p:nvPr/>
        </p:nvSpPr>
        <p:spPr>
          <a:xfrm>
            <a:off x="640080" y="1810512"/>
            <a:ext cx="146304" cy="146304"/>
          </a:xfrm>
          <a:prstGeom prst="ellipse">
            <a:avLst/>
          </a:prstGeom>
          <a:solidFill>
            <a:srgbClr val="0D9488"/>
          </a:solidFill>
          <a:ln w="12700">
            <a:solidFill>
              <a:srgbClr val="0D9488"/>
            </a:solidFill>
            <a:prstDash val="solid"/>
          </a:ln>
        </p:spPr>
      </p:sp>
      <p:sp>
        <p:nvSpPr>
          <p:cNvPr id="9" name="Text 7"/>
          <p:cNvSpPr/>
          <p:nvPr/>
        </p:nvSpPr>
        <p:spPr>
          <a:xfrm>
            <a:off x="868680" y="1792224"/>
            <a:ext cx="3429000" cy="20116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SHA-256 dedup check</a:t>
            </a:r>
            <a:endParaRPr lang="en-US" sz="950" dirty="0"/>
          </a:p>
        </p:txBody>
      </p:sp>
      <p:sp>
        <p:nvSpPr>
          <p:cNvPr id="10" name="Shape 8"/>
          <p:cNvSpPr/>
          <p:nvPr/>
        </p:nvSpPr>
        <p:spPr>
          <a:xfrm>
            <a:off x="640080" y="2048256"/>
            <a:ext cx="146304" cy="146304"/>
          </a:xfrm>
          <a:prstGeom prst="ellipse">
            <a:avLst/>
          </a:prstGeom>
          <a:solidFill>
            <a:srgbClr val="0D9488"/>
          </a:solidFill>
          <a:ln w="12700">
            <a:solidFill>
              <a:srgbClr val="0D9488"/>
            </a:solidFill>
            <a:prstDash val="solid"/>
          </a:ln>
        </p:spPr>
      </p:sp>
      <p:sp>
        <p:nvSpPr>
          <p:cNvPr id="11" name="Text 9"/>
          <p:cNvSpPr/>
          <p:nvPr/>
        </p:nvSpPr>
        <p:spPr>
          <a:xfrm>
            <a:off x="868680" y="2029968"/>
            <a:ext cx="3429000" cy="20116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MIME type validated</a:t>
            </a:r>
            <a:endParaRPr lang="en-US" sz="950" dirty="0"/>
          </a:p>
        </p:txBody>
      </p:sp>
      <p:sp>
        <p:nvSpPr>
          <p:cNvPr id="12" name="Shape 10"/>
          <p:cNvSpPr/>
          <p:nvPr/>
        </p:nvSpPr>
        <p:spPr>
          <a:xfrm>
            <a:off x="640080" y="2286000"/>
            <a:ext cx="146304" cy="146304"/>
          </a:xfrm>
          <a:prstGeom prst="ellipse">
            <a:avLst/>
          </a:prstGeom>
          <a:solidFill>
            <a:srgbClr val="0D9488"/>
          </a:solidFill>
          <a:ln w="12700">
            <a:solidFill>
              <a:srgbClr val="0D9488"/>
            </a:solidFill>
            <a:prstDash val="solid"/>
          </a:ln>
        </p:spPr>
      </p:sp>
      <p:sp>
        <p:nvSpPr>
          <p:cNvPr id="13" name="Text 11"/>
          <p:cNvSpPr/>
          <p:nvPr/>
        </p:nvSpPr>
        <p:spPr>
          <a:xfrm>
            <a:off x="868680" y="2267712"/>
            <a:ext cx="3429000" cy="20116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GDoc Document created  →  status: Queued</a:t>
            </a:r>
            <a:endParaRPr lang="en-US" sz="950" dirty="0"/>
          </a:p>
        </p:txBody>
      </p:sp>
      <p:sp>
        <p:nvSpPr>
          <p:cNvPr id="14" name="Shape 12"/>
          <p:cNvSpPr/>
          <p:nvPr/>
        </p:nvSpPr>
        <p:spPr>
          <a:xfrm>
            <a:off x="4480560" y="1828800"/>
            <a:ext cx="457200" cy="0"/>
          </a:xfrm>
          <a:prstGeom prst="line">
            <a:avLst/>
          </a:prstGeom>
          <a:noFill/>
          <a:ln w="19050">
            <a:solidFill>
              <a:srgbClr val="E2E8F0"/>
            </a:solidFill>
            <a:prstDash val="solid"/>
          </a:ln>
        </p:spPr>
      </p:sp>
      <p:sp>
        <p:nvSpPr>
          <p:cNvPr id="15" name="Shape 13"/>
          <p:cNvSpPr/>
          <p:nvPr/>
        </p:nvSpPr>
        <p:spPr>
          <a:xfrm>
            <a:off x="4663440" y="1097280"/>
            <a:ext cx="4160520" cy="1417320"/>
          </a:xfrm>
          <a:prstGeom prst="roundRect">
            <a:avLst>
              <a:gd name="adj" fmla="val 6452"/>
            </a:avLst>
          </a:prstGeom>
          <a:solidFill>
            <a:srgbClr val="EFF6FF"/>
          </a:solidFill>
          <a:ln w="6350">
            <a:solidFill>
              <a:srgbClr val="E2E8F0"/>
            </a:solidFill>
            <a:prstDash val="solid"/>
          </a:ln>
        </p:spPr>
      </p:sp>
      <p:sp>
        <p:nvSpPr>
          <p:cNvPr id="16" name="Text 14"/>
          <p:cNvSpPr/>
          <p:nvPr/>
        </p:nvSpPr>
        <p:spPr>
          <a:xfrm>
            <a:off x="4846320" y="1188720"/>
            <a:ext cx="3749040" cy="292608"/>
          </a:xfrm>
          <a:prstGeom prst="rect">
            <a:avLst/>
          </a:prstGeom>
          <a:noFill/>
          <a:ln/>
        </p:spPr>
        <p:txBody>
          <a:bodyPr wrap="square" lIns="0" tIns="0" rIns="0" bIns="0" rtlCol="0" anchor="ctr"/>
          <a:lstStyle/>
          <a:p>
            <a:pPr indent="0" marL="0">
              <a:buNone/>
            </a:pPr>
            <a:r>
              <a:rPr lang="en-US" sz="1200" b="1" dirty="0">
                <a:solidFill>
                  <a:srgbClr val="1D4ED8"/>
                </a:solidFill>
                <a:latin typeface="Calibri" pitchFamily="34" charset="0"/>
                <a:ea typeface="Calibri" pitchFamily="34" charset="-122"/>
                <a:cs typeface="Calibri" pitchFamily="34" charset="-120"/>
              </a:rPr>
              <a:t>Stage 2 — OCR &amp; extraction</a:t>
            </a:r>
            <a:endParaRPr lang="en-US" sz="1200" dirty="0"/>
          </a:p>
        </p:txBody>
      </p:sp>
      <p:sp>
        <p:nvSpPr>
          <p:cNvPr id="17" name="Shape 15"/>
          <p:cNvSpPr/>
          <p:nvPr/>
        </p:nvSpPr>
        <p:spPr>
          <a:xfrm>
            <a:off x="4846320" y="1572768"/>
            <a:ext cx="146304" cy="146304"/>
          </a:xfrm>
          <a:prstGeom prst="ellipse">
            <a:avLst/>
          </a:prstGeom>
          <a:solidFill>
            <a:srgbClr val="1D4ED8"/>
          </a:solidFill>
          <a:ln w="12700">
            <a:solidFill>
              <a:srgbClr val="1D4ED8"/>
            </a:solidFill>
            <a:prstDash val="solid"/>
          </a:ln>
        </p:spPr>
      </p:sp>
      <p:sp>
        <p:nvSpPr>
          <p:cNvPr id="18" name="Text 16"/>
          <p:cNvSpPr/>
          <p:nvPr/>
        </p:nvSpPr>
        <p:spPr>
          <a:xfrm>
            <a:off x="5074920" y="1554480"/>
            <a:ext cx="3520440" cy="20116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Native text? → python-docx / pymupdf (fast)</a:t>
            </a:r>
            <a:endParaRPr lang="en-US" sz="950" dirty="0"/>
          </a:p>
        </p:txBody>
      </p:sp>
      <p:sp>
        <p:nvSpPr>
          <p:cNvPr id="19" name="Shape 17"/>
          <p:cNvSpPr/>
          <p:nvPr/>
        </p:nvSpPr>
        <p:spPr>
          <a:xfrm>
            <a:off x="4846320" y="1810512"/>
            <a:ext cx="146304" cy="146304"/>
          </a:xfrm>
          <a:prstGeom prst="ellipse">
            <a:avLst/>
          </a:prstGeom>
          <a:solidFill>
            <a:srgbClr val="1D4ED8"/>
          </a:solidFill>
          <a:ln w="12700">
            <a:solidFill>
              <a:srgbClr val="1D4ED8"/>
            </a:solidFill>
            <a:prstDash val="solid"/>
          </a:ln>
        </p:spPr>
      </p:sp>
      <p:sp>
        <p:nvSpPr>
          <p:cNvPr id="20" name="Text 18"/>
          <p:cNvSpPr/>
          <p:nvPr/>
        </p:nvSpPr>
        <p:spPr>
          <a:xfrm>
            <a:off x="5074920" y="1792224"/>
            <a:ext cx="3520440" cy="20116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No text? → Tesseract 5 OCR (Ubuntu)</a:t>
            </a:r>
            <a:endParaRPr lang="en-US" sz="950" dirty="0"/>
          </a:p>
        </p:txBody>
      </p:sp>
      <p:sp>
        <p:nvSpPr>
          <p:cNvPr id="21" name="Shape 19"/>
          <p:cNvSpPr/>
          <p:nvPr/>
        </p:nvSpPr>
        <p:spPr>
          <a:xfrm>
            <a:off x="4846320" y="2048256"/>
            <a:ext cx="146304" cy="146304"/>
          </a:xfrm>
          <a:prstGeom prst="ellipse">
            <a:avLst/>
          </a:prstGeom>
          <a:solidFill>
            <a:srgbClr val="1D4ED8"/>
          </a:solidFill>
          <a:ln w="12700">
            <a:solidFill>
              <a:srgbClr val="1D4ED8"/>
            </a:solidFill>
            <a:prstDash val="solid"/>
          </a:ln>
        </p:spPr>
      </p:sp>
      <p:sp>
        <p:nvSpPr>
          <p:cNvPr id="22" name="Text 20"/>
          <p:cNvSpPr/>
          <p:nvPr/>
        </p:nvSpPr>
        <p:spPr>
          <a:xfrm>
            <a:off x="5074920" y="2029968"/>
            <a:ext cx="3520440" cy="20116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Low confidence? → Google Vision fallback</a:t>
            </a:r>
            <a:endParaRPr lang="en-US" sz="950" dirty="0"/>
          </a:p>
        </p:txBody>
      </p:sp>
      <p:sp>
        <p:nvSpPr>
          <p:cNvPr id="23" name="Shape 21"/>
          <p:cNvSpPr/>
          <p:nvPr/>
        </p:nvSpPr>
        <p:spPr>
          <a:xfrm>
            <a:off x="4846320" y="2286000"/>
            <a:ext cx="146304" cy="146304"/>
          </a:xfrm>
          <a:prstGeom prst="ellipse">
            <a:avLst/>
          </a:prstGeom>
          <a:solidFill>
            <a:srgbClr val="1D4ED8"/>
          </a:solidFill>
          <a:ln w="12700">
            <a:solidFill>
              <a:srgbClr val="1D4ED8"/>
            </a:solidFill>
            <a:prstDash val="solid"/>
          </a:ln>
        </p:spPr>
      </p:sp>
      <p:sp>
        <p:nvSpPr>
          <p:cNvPr id="24" name="Text 22"/>
          <p:cNvSpPr/>
          <p:nvPr/>
        </p:nvSpPr>
        <p:spPr>
          <a:xfrm>
            <a:off x="5074920" y="2267712"/>
            <a:ext cx="3520440" cy="20116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Output: plain text + page map → pipeline ready</a:t>
            </a:r>
            <a:endParaRPr lang="en-US" sz="950" dirty="0"/>
          </a:p>
        </p:txBody>
      </p:sp>
      <p:sp>
        <p:nvSpPr>
          <p:cNvPr id="25" name="Shape 23"/>
          <p:cNvSpPr/>
          <p:nvPr/>
        </p:nvSpPr>
        <p:spPr>
          <a:xfrm>
            <a:off x="457200" y="2697480"/>
            <a:ext cx="8366760" cy="685800"/>
          </a:xfrm>
          <a:prstGeom prst="roundRect">
            <a:avLst>
              <a:gd name="adj" fmla="val 13333"/>
            </a:avLst>
          </a:prstGeom>
          <a:solidFill>
            <a:srgbClr val="FFFBEB"/>
          </a:solidFill>
          <a:ln w="6350">
            <a:solidFill>
              <a:srgbClr val="E2E8F0"/>
            </a:solidFill>
            <a:prstDash val="solid"/>
          </a:ln>
        </p:spPr>
      </p:sp>
      <p:sp>
        <p:nvSpPr>
          <p:cNvPr id="26" name="Text 24"/>
          <p:cNvSpPr/>
          <p:nvPr/>
        </p:nvSpPr>
        <p:spPr>
          <a:xfrm>
            <a:off x="640080" y="2770632"/>
            <a:ext cx="1371600" cy="256032"/>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Quality gate</a:t>
            </a:r>
            <a:endParaRPr lang="en-US" sz="1000" dirty="0"/>
          </a:p>
        </p:txBody>
      </p:sp>
      <p:sp>
        <p:nvSpPr>
          <p:cNvPr id="27" name="Text 25"/>
          <p:cNvSpPr/>
          <p:nvPr/>
        </p:nvSpPr>
        <p:spPr>
          <a:xfrm>
            <a:off x="2103120" y="2779776"/>
            <a:ext cx="649224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If OCR confidence &lt; 70%  →  extraction_quality = Low  →  document added to manual_review_queue</a:t>
            </a:r>
            <a:endParaRPr lang="en-US" sz="950" dirty="0"/>
          </a:p>
        </p:txBody>
      </p:sp>
      <p:sp>
        <p:nvSpPr>
          <p:cNvPr id="28" name="Text 26"/>
          <p:cNvSpPr/>
          <p:nvPr/>
        </p:nvSpPr>
        <p:spPr>
          <a:xfrm>
            <a:off x="2103120" y="3054096"/>
            <a:ext cx="649224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If extracted text &lt; 50 chars  →  needs_manual_review flag set. Up to 3 auto-retries with back-off before status = Failed.</a:t>
            </a:r>
            <a:endParaRPr lang="en-US" sz="950" dirty="0"/>
          </a:p>
        </p:txBody>
      </p:sp>
      <p:sp>
        <p:nvSpPr>
          <p:cNvPr id="29" name="Text 27"/>
          <p:cNvSpPr/>
          <p:nvPr/>
        </p:nvSpPr>
        <p:spPr>
          <a:xfrm>
            <a:off x="457200" y="3566160"/>
            <a:ext cx="2286000" cy="256032"/>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Open source tools used</a:t>
            </a:r>
            <a:endParaRPr lang="en-US" sz="1000" dirty="0"/>
          </a:p>
        </p:txBody>
      </p:sp>
      <p:sp>
        <p:nvSpPr>
          <p:cNvPr id="30" name="Shape 28"/>
          <p:cNvSpPr/>
          <p:nvPr/>
        </p:nvSpPr>
        <p:spPr>
          <a:xfrm>
            <a:off x="457200" y="3858768"/>
            <a:ext cx="1353312" cy="502920"/>
          </a:xfrm>
          <a:prstGeom prst="roundRect">
            <a:avLst>
              <a:gd name="adj" fmla="val 14545"/>
            </a:avLst>
          </a:prstGeom>
          <a:solidFill>
            <a:srgbClr val="FFFFFF"/>
          </a:solidFill>
          <a:ln w="12700">
            <a:solidFill>
              <a:srgbClr val="E2E8F0"/>
            </a:solidFill>
            <a:prstDash val="solid"/>
          </a:ln>
        </p:spPr>
      </p:sp>
      <p:sp>
        <p:nvSpPr>
          <p:cNvPr id="31" name="Text 29"/>
          <p:cNvSpPr/>
          <p:nvPr/>
        </p:nvSpPr>
        <p:spPr>
          <a:xfrm>
            <a:off x="512064" y="3913632"/>
            <a:ext cx="1243584" cy="219456"/>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Tesseract 5</a:t>
            </a:r>
            <a:endParaRPr lang="en-US" sz="950" dirty="0"/>
          </a:p>
        </p:txBody>
      </p:sp>
      <p:sp>
        <p:nvSpPr>
          <p:cNvPr id="32" name="Text 30"/>
          <p:cNvSpPr/>
          <p:nvPr/>
        </p:nvSpPr>
        <p:spPr>
          <a:xfrm>
            <a:off x="512064" y="4114800"/>
            <a:ext cx="1243584"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OCR engine</a:t>
            </a:r>
            <a:endParaRPr lang="en-US" sz="800" dirty="0"/>
          </a:p>
        </p:txBody>
      </p:sp>
      <p:sp>
        <p:nvSpPr>
          <p:cNvPr id="33" name="Shape 31"/>
          <p:cNvSpPr/>
          <p:nvPr/>
        </p:nvSpPr>
        <p:spPr>
          <a:xfrm>
            <a:off x="1901952" y="3858768"/>
            <a:ext cx="1353312" cy="502920"/>
          </a:xfrm>
          <a:prstGeom prst="roundRect">
            <a:avLst>
              <a:gd name="adj" fmla="val 14545"/>
            </a:avLst>
          </a:prstGeom>
          <a:solidFill>
            <a:srgbClr val="FFFFFF"/>
          </a:solidFill>
          <a:ln w="12700">
            <a:solidFill>
              <a:srgbClr val="E2E8F0"/>
            </a:solidFill>
            <a:prstDash val="solid"/>
          </a:ln>
        </p:spPr>
      </p:sp>
      <p:sp>
        <p:nvSpPr>
          <p:cNvPr id="34" name="Text 32"/>
          <p:cNvSpPr/>
          <p:nvPr/>
        </p:nvSpPr>
        <p:spPr>
          <a:xfrm>
            <a:off x="1956816" y="3913632"/>
            <a:ext cx="1243584" cy="219456"/>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OCRmyPDF</a:t>
            </a:r>
            <a:endParaRPr lang="en-US" sz="950" dirty="0"/>
          </a:p>
        </p:txBody>
      </p:sp>
      <p:sp>
        <p:nvSpPr>
          <p:cNvPr id="35" name="Text 33"/>
          <p:cNvSpPr/>
          <p:nvPr/>
        </p:nvSpPr>
        <p:spPr>
          <a:xfrm>
            <a:off x="1956816" y="4114800"/>
            <a:ext cx="1243584"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PDF/A output</a:t>
            </a:r>
            <a:endParaRPr lang="en-US" sz="800" dirty="0"/>
          </a:p>
        </p:txBody>
      </p:sp>
      <p:sp>
        <p:nvSpPr>
          <p:cNvPr id="36" name="Shape 34"/>
          <p:cNvSpPr/>
          <p:nvPr/>
        </p:nvSpPr>
        <p:spPr>
          <a:xfrm>
            <a:off x="3346704" y="3858768"/>
            <a:ext cx="1353312" cy="502920"/>
          </a:xfrm>
          <a:prstGeom prst="roundRect">
            <a:avLst>
              <a:gd name="adj" fmla="val 14545"/>
            </a:avLst>
          </a:prstGeom>
          <a:solidFill>
            <a:srgbClr val="FFFFFF"/>
          </a:solidFill>
          <a:ln w="12700">
            <a:solidFill>
              <a:srgbClr val="E2E8F0"/>
            </a:solidFill>
            <a:prstDash val="solid"/>
          </a:ln>
        </p:spPr>
      </p:sp>
      <p:sp>
        <p:nvSpPr>
          <p:cNvPr id="37" name="Text 35"/>
          <p:cNvSpPr/>
          <p:nvPr/>
        </p:nvSpPr>
        <p:spPr>
          <a:xfrm>
            <a:off x="3401568" y="3913632"/>
            <a:ext cx="1243584" cy="219456"/>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pymupdf</a:t>
            </a:r>
            <a:endParaRPr lang="en-US" sz="950" dirty="0"/>
          </a:p>
        </p:txBody>
      </p:sp>
      <p:sp>
        <p:nvSpPr>
          <p:cNvPr id="38" name="Text 36"/>
          <p:cNvSpPr/>
          <p:nvPr/>
        </p:nvSpPr>
        <p:spPr>
          <a:xfrm>
            <a:off x="3401568" y="4114800"/>
            <a:ext cx="1243584"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PDF text layer</a:t>
            </a:r>
            <a:endParaRPr lang="en-US" sz="800" dirty="0"/>
          </a:p>
        </p:txBody>
      </p:sp>
      <p:sp>
        <p:nvSpPr>
          <p:cNvPr id="39" name="Shape 37"/>
          <p:cNvSpPr/>
          <p:nvPr/>
        </p:nvSpPr>
        <p:spPr>
          <a:xfrm>
            <a:off x="4791456" y="3858768"/>
            <a:ext cx="1353312" cy="502920"/>
          </a:xfrm>
          <a:prstGeom prst="roundRect">
            <a:avLst>
              <a:gd name="adj" fmla="val 14545"/>
            </a:avLst>
          </a:prstGeom>
          <a:solidFill>
            <a:srgbClr val="FFFFFF"/>
          </a:solidFill>
          <a:ln w="12700">
            <a:solidFill>
              <a:srgbClr val="E2E8F0"/>
            </a:solidFill>
            <a:prstDash val="solid"/>
          </a:ln>
        </p:spPr>
      </p:sp>
      <p:sp>
        <p:nvSpPr>
          <p:cNvPr id="40" name="Text 38"/>
          <p:cNvSpPr/>
          <p:nvPr/>
        </p:nvSpPr>
        <p:spPr>
          <a:xfrm>
            <a:off x="4846320" y="3913632"/>
            <a:ext cx="1243584" cy="219456"/>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python-docx</a:t>
            </a:r>
            <a:endParaRPr lang="en-US" sz="950" dirty="0"/>
          </a:p>
        </p:txBody>
      </p:sp>
      <p:sp>
        <p:nvSpPr>
          <p:cNvPr id="41" name="Text 39"/>
          <p:cNvSpPr/>
          <p:nvPr/>
        </p:nvSpPr>
        <p:spPr>
          <a:xfrm>
            <a:off x="4846320" y="4114800"/>
            <a:ext cx="1243584"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DOCX extract</a:t>
            </a:r>
            <a:endParaRPr lang="en-US" sz="800" dirty="0"/>
          </a:p>
        </p:txBody>
      </p:sp>
      <p:sp>
        <p:nvSpPr>
          <p:cNvPr id="42" name="Shape 40"/>
          <p:cNvSpPr/>
          <p:nvPr/>
        </p:nvSpPr>
        <p:spPr>
          <a:xfrm>
            <a:off x="6236208" y="3858768"/>
            <a:ext cx="1353312" cy="502920"/>
          </a:xfrm>
          <a:prstGeom prst="roundRect">
            <a:avLst>
              <a:gd name="adj" fmla="val 14545"/>
            </a:avLst>
          </a:prstGeom>
          <a:solidFill>
            <a:srgbClr val="FFFFFF"/>
          </a:solidFill>
          <a:ln w="12700">
            <a:solidFill>
              <a:srgbClr val="E2E8F0"/>
            </a:solidFill>
            <a:prstDash val="solid"/>
          </a:ln>
        </p:spPr>
      </p:sp>
      <p:sp>
        <p:nvSpPr>
          <p:cNvPr id="43" name="Text 41"/>
          <p:cNvSpPr/>
          <p:nvPr/>
        </p:nvSpPr>
        <p:spPr>
          <a:xfrm>
            <a:off x="6291072" y="3913632"/>
            <a:ext cx="1243584" cy="219456"/>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openpyxl</a:t>
            </a:r>
            <a:endParaRPr lang="en-US" sz="950" dirty="0"/>
          </a:p>
        </p:txBody>
      </p:sp>
      <p:sp>
        <p:nvSpPr>
          <p:cNvPr id="44" name="Text 42"/>
          <p:cNvSpPr/>
          <p:nvPr/>
        </p:nvSpPr>
        <p:spPr>
          <a:xfrm>
            <a:off x="6291072" y="4114800"/>
            <a:ext cx="1243584"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XLSX extract</a:t>
            </a:r>
            <a:endParaRPr lang="en-US" sz="800" dirty="0"/>
          </a:p>
        </p:txBody>
      </p:sp>
      <p:sp>
        <p:nvSpPr>
          <p:cNvPr id="45" name="Shape 43"/>
          <p:cNvSpPr/>
          <p:nvPr/>
        </p:nvSpPr>
        <p:spPr>
          <a:xfrm>
            <a:off x="7680960" y="3858768"/>
            <a:ext cx="1353312" cy="502920"/>
          </a:xfrm>
          <a:prstGeom prst="roundRect">
            <a:avLst>
              <a:gd name="adj" fmla="val 14545"/>
            </a:avLst>
          </a:prstGeom>
          <a:solidFill>
            <a:srgbClr val="FFFFFF"/>
          </a:solidFill>
          <a:ln w="12700">
            <a:solidFill>
              <a:srgbClr val="E2E8F0"/>
            </a:solidFill>
            <a:prstDash val="solid"/>
          </a:ln>
        </p:spPr>
      </p:sp>
      <p:sp>
        <p:nvSpPr>
          <p:cNvPr id="46" name="Text 44"/>
          <p:cNvSpPr/>
          <p:nvPr/>
        </p:nvSpPr>
        <p:spPr>
          <a:xfrm>
            <a:off x="7735824" y="3913632"/>
            <a:ext cx="1243584" cy="219456"/>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inotify-tools</a:t>
            </a:r>
            <a:endParaRPr lang="en-US" sz="950" dirty="0"/>
          </a:p>
        </p:txBody>
      </p:sp>
      <p:sp>
        <p:nvSpPr>
          <p:cNvPr id="47" name="Text 45"/>
          <p:cNvSpPr/>
          <p:nvPr/>
        </p:nvSpPr>
        <p:spPr>
          <a:xfrm>
            <a:off x="7735824" y="4114800"/>
            <a:ext cx="1243584"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Drop folder</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Stage 3: AI Pipeline — chunking · embedding · classifying</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97280"/>
            <a:ext cx="1600200" cy="2788920"/>
          </a:xfrm>
          <a:prstGeom prst="roundRect">
            <a:avLst>
              <a:gd name="adj" fmla="val 5714"/>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1033272" y="1188720"/>
            <a:ext cx="457200" cy="457200"/>
          </a:xfrm>
          <a:prstGeom prst="ellipse">
            <a:avLst/>
          </a:prstGeom>
          <a:solidFill>
            <a:srgbClr val="7C3AED"/>
          </a:solidFill>
          <a:ln w="12700">
            <a:solidFill>
              <a:srgbClr val="7C3AED"/>
            </a:solidFill>
            <a:prstDash val="solid"/>
          </a:ln>
        </p:spPr>
      </p:sp>
      <p:sp>
        <p:nvSpPr>
          <p:cNvPr id="6" name="Text 4"/>
          <p:cNvSpPr/>
          <p:nvPr/>
        </p:nvSpPr>
        <p:spPr>
          <a:xfrm>
            <a:off x="1033272" y="1207008"/>
            <a:ext cx="457200" cy="42062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548640" y="1783080"/>
            <a:ext cx="1417320" cy="292608"/>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Chunk text</a:t>
            </a:r>
            <a:endParaRPr lang="en-US" sz="1100" dirty="0"/>
          </a:p>
        </p:txBody>
      </p:sp>
      <p:sp>
        <p:nvSpPr>
          <p:cNvPr id="8" name="Text 6"/>
          <p:cNvSpPr/>
          <p:nvPr/>
        </p:nvSpPr>
        <p:spPr>
          <a:xfrm>
            <a:off x="548640" y="2121408"/>
            <a:ext cx="1417320" cy="82296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Split into ~400 token segments</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with 10–15% overlap between chunks</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Table cells → key:value text</a:t>
            </a:r>
            <a:endParaRPr lang="en-US" sz="850" dirty="0"/>
          </a:p>
        </p:txBody>
      </p:sp>
      <p:sp>
        <p:nvSpPr>
          <p:cNvPr id="9" name="Shape 7"/>
          <p:cNvSpPr/>
          <p:nvPr/>
        </p:nvSpPr>
        <p:spPr>
          <a:xfrm>
            <a:off x="2057400" y="2496312"/>
            <a:ext cx="118872" cy="0"/>
          </a:xfrm>
          <a:prstGeom prst="line">
            <a:avLst/>
          </a:prstGeom>
          <a:noFill/>
          <a:ln w="19050">
            <a:solidFill>
              <a:srgbClr val="E2E8F0"/>
            </a:solidFill>
            <a:prstDash val="solid"/>
          </a:ln>
        </p:spPr>
      </p:sp>
      <p:sp>
        <p:nvSpPr>
          <p:cNvPr id="10" name="Shape 8"/>
          <p:cNvSpPr/>
          <p:nvPr/>
        </p:nvSpPr>
        <p:spPr>
          <a:xfrm>
            <a:off x="2176272" y="1097280"/>
            <a:ext cx="1600200" cy="2788920"/>
          </a:xfrm>
          <a:prstGeom prst="roundRect">
            <a:avLst>
              <a:gd name="adj" fmla="val 5714"/>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1" name="Shape 9"/>
          <p:cNvSpPr/>
          <p:nvPr/>
        </p:nvSpPr>
        <p:spPr>
          <a:xfrm>
            <a:off x="2752344" y="1188720"/>
            <a:ext cx="457200" cy="457200"/>
          </a:xfrm>
          <a:prstGeom prst="ellipse">
            <a:avLst/>
          </a:prstGeom>
          <a:solidFill>
            <a:srgbClr val="1D4ED8"/>
          </a:solidFill>
          <a:ln w="12700">
            <a:solidFill>
              <a:srgbClr val="1D4ED8"/>
            </a:solidFill>
            <a:prstDash val="solid"/>
          </a:ln>
        </p:spPr>
      </p:sp>
      <p:sp>
        <p:nvSpPr>
          <p:cNvPr id="12" name="Text 10"/>
          <p:cNvSpPr/>
          <p:nvPr/>
        </p:nvSpPr>
        <p:spPr>
          <a:xfrm>
            <a:off x="2752344" y="1207008"/>
            <a:ext cx="457200" cy="42062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267712" y="1783080"/>
            <a:ext cx="1417320" cy="292608"/>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Embed chunks</a:t>
            </a:r>
            <a:endParaRPr lang="en-US" sz="1100" dirty="0"/>
          </a:p>
        </p:txBody>
      </p:sp>
      <p:sp>
        <p:nvSpPr>
          <p:cNvPr id="14" name="Text 12"/>
          <p:cNvSpPr/>
          <p:nvPr/>
        </p:nvSpPr>
        <p:spPr>
          <a:xfrm>
            <a:off x="2267712" y="2121408"/>
            <a:ext cx="1417320" cy="82296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OpenAI text-embedding-3-small</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or Ollama (air-gapped)</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Store in pgvector on Postgres</a:t>
            </a:r>
            <a:endParaRPr lang="en-US" sz="850" dirty="0"/>
          </a:p>
        </p:txBody>
      </p:sp>
      <p:sp>
        <p:nvSpPr>
          <p:cNvPr id="15" name="Shape 13"/>
          <p:cNvSpPr/>
          <p:nvPr/>
        </p:nvSpPr>
        <p:spPr>
          <a:xfrm>
            <a:off x="3776472" y="2496312"/>
            <a:ext cx="118872" cy="0"/>
          </a:xfrm>
          <a:prstGeom prst="line">
            <a:avLst/>
          </a:prstGeom>
          <a:noFill/>
          <a:ln w="19050">
            <a:solidFill>
              <a:srgbClr val="E2E8F0"/>
            </a:solidFill>
            <a:prstDash val="solid"/>
          </a:ln>
        </p:spPr>
      </p:sp>
      <p:sp>
        <p:nvSpPr>
          <p:cNvPr id="16" name="Shape 14"/>
          <p:cNvSpPr/>
          <p:nvPr/>
        </p:nvSpPr>
        <p:spPr>
          <a:xfrm>
            <a:off x="3895344" y="1097280"/>
            <a:ext cx="1600200" cy="2788920"/>
          </a:xfrm>
          <a:prstGeom prst="roundRect">
            <a:avLst>
              <a:gd name="adj" fmla="val 5714"/>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7" name="Shape 15"/>
          <p:cNvSpPr/>
          <p:nvPr/>
        </p:nvSpPr>
        <p:spPr>
          <a:xfrm>
            <a:off x="4471416" y="1188720"/>
            <a:ext cx="457200" cy="457200"/>
          </a:xfrm>
          <a:prstGeom prst="ellipse">
            <a:avLst/>
          </a:prstGeom>
          <a:solidFill>
            <a:srgbClr val="0D9488"/>
          </a:solidFill>
          <a:ln w="12700">
            <a:solidFill>
              <a:srgbClr val="0D9488"/>
            </a:solidFill>
            <a:prstDash val="solid"/>
          </a:ln>
        </p:spPr>
      </p:sp>
      <p:sp>
        <p:nvSpPr>
          <p:cNvPr id="18" name="Text 16"/>
          <p:cNvSpPr/>
          <p:nvPr/>
        </p:nvSpPr>
        <p:spPr>
          <a:xfrm>
            <a:off x="4471416" y="1207008"/>
            <a:ext cx="457200" cy="42062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3986784" y="1783080"/>
            <a:ext cx="1417320" cy="292608"/>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Extract entities</a:t>
            </a:r>
            <a:endParaRPr lang="en-US" sz="1100" dirty="0"/>
          </a:p>
        </p:txBody>
      </p:sp>
      <p:sp>
        <p:nvSpPr>
          <p:cNvPr id="20" name="Text 18"/>
          <p:cNvSpPr/>
          <p:nvPr/>
        </p:nvSpPr>
        <p:spPr>
          <a:xfrm>
            <a:off x="3986784" y="2121408"/>
            <a:ext cx="1417320" cy="82296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Vendor · Customer · Date</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Amount · Currency · Ref no.</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Expiry · Contract parties</a:t>
            </a:r>
            <a:endParaRPr lang="en-US" sz="850" dirty="0"/>
          </a:p>
        </p:txBody>
      </p:sp>
      <p:sp>
        <p:nvSpPr>
          <p:cNvPr id="21" name="Shape 19"/>
          <p:cNvSpPr/>
          <p:nvPr/>
        </p:nvSpPr>
        <p:spPr>
          <a:xfrm>
            <a:off x="5495544" y="2496312"/>
            <a:ext cx="118872" cy="0"/>
          </a:xfrm>
          <a:prstGeom prst="line">
            <a:avLst/>
          </a:prstGeom>
          <a:noFill/>
          <a:ln w="19050">
            <a:solidFill>
              <a:srgbClr val="E2E8F0"/>
            </a:solidFill>
            <a:prstDash val="solid"/>
          </a:ln>
        </p:spPr>
      </p:sp>
      <p:sp>
        <p:nvSpPr>
          <p:cNvPr id="22" name="Shape 20"/>
          <p:cNvSpPr/>
          <p:nvPr/>
        </p:nvSpPr>
        <p:spPr>
          <a:xfrm>
            <a:off x="5614416" y="1097280"/>
            <a:ext cx="1600200" cy="2788920"/>
          </a:xfrm>
          <a:prstGeom prst="roundRect">
            <a:avLst>
              <a:gd name="adj" fmla="val 5714"/>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23" name="Shape 21"/>
          <p:cNvSpPr/>
          <p:nvPr/>
        </p:nvSpPr>
        <p:spPr>
          <a:xfrm>
            <a:off x="6190488" y="1188720"/>
            <a:ext cx="457200" cy="457200"/>
          </a:xfrm>
          <a:prstGeom prst="ellipse">
            <a:avLst/>
          </a:prstGeom>
          <a:solidFill>
            <a:srgbClr val="D97706"/>
          </a:solidFill>
          <a:ln w="12700">
            <a:solidFill>
              <a:srgbClr val="D97706"/>
            </a:solidFill>
            <a:prstDash val="solid"/>
          </a:ln>
        </p:spPr>
      </p:sp>
      <p:sp>
        <p:nvSpPr>
          <p:cNvPr id="24" name="Text 22"/>
          <p:cNvSpPr/>
          <p:nvPr/>
        </p:nvSpPr>
        <p:spPr>
          <a:xfrm>
            <a:off x="6190488" y="1207008"/>
            <a:ext cx="457200" cy="42062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5705856" y="1783080"/>
            <a:ext cx="1417320" cy="292608"/>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Classify type</a:t>
            </a:r>
            <a:endParaRPr lang="en-US" sz="1100" dirty="0"/>
          </a:p>
        </p:txBody>
      </p:sp>
      <p:sp>
        <p:nvSpPr>
          <p:cNvPr id="26" name="Text 24"/>
          <p:cNvSpPr/>
          <p:nvPr/>
        </p:nvSpPr>
        <p:spPr>
          <a:xfrm>
            <a:off x="5705856" y="2121408"/>
            <a:ext cx="1417320" cy="82296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Invoice · PO · Contract · NDA</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Report · Memo · HR · Drawing</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Confidence &lt; 80% → human review</a:t>
            </a:r>
            <a:endParaRPr lang="en-US" sz="850" dirty="0"/>
          </a:p>
        </p:txBody>
      </p:sp>
      <p:sp>
        <p:nvSpPr>
          <p:cNvPr id="27" name="Shape 25"/>
          <p:cNvSpPr/>
          <p:nvPr/>
        </p:nvSpPr>
        <p:spPr>
          <a:xfrm>
            <a:off x="7214616" y="2496312"/>
            <a:ext cx="118872" cy="0"/>
          </a:xfrm>
          <a:prstGeom prst="line">
            <a:avLst/>
          </a:prstGeom>
          <a:noFill/>
          <a:ln w="19050">
            <a:solidFill>
              <a:srgbClr val="E2E8F0"/>
            </a:solidFill>
            <a:prstDash val="solid"/>
          </a:ln>
        </p:spPr>
      </p:sp>
      <p:sp>
        <p:nvSpPr>
          <p:cNvPr id="28" name="Shape 26"/>
          <p:cNvSpPr/>
          <p:nvPr/>
        </p:nvSpPr>
        <p:spPr>
          <a:xfrm>
            <a:off x="7333488" y="1097280"/>
            <a:ext cx="1600200" cy="2788920"/>
          </a:xfrm>
          <a:prstGeom prst="roundRect">
            <a:avLst>
              <a:gd name="adj" fmla="val 5714"/>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29" name="Shape 27"/>
          <p:cNvSpPr/>
          <p:nvPr/>
        </p:nvSpPr>
        <p:spPr>
          <a:xfrm>
            <a:off x="7909560" y="1188720"/>
            <a:ext cx="457200" cy="457200"/>
          </a:xfrm>
          <a:prstGeom prst="ellipse">
            <a:avLst/>
          </a:prstGeom>
          <a:solidFill>
            <a:srgbClr val="15803D"/>
          </a:solidFill>
          <a:ln w="12700">
            <a:solidFill>
              <a:srgbClr val="15803D"/>
            </a:solidFill>
            <a:prstDash val="solid"/>
          </a:ln>
        </p:spPr>
      </p:sp>
      <p:sp>
        <p:nvSpPr>
          <p:cNvPr id="30" name="Text 28"/>
          <p:cNvSpPr/>
          <p:nvPr/>
        </p:nvSpPr>
        <p:spPr>
          <a:xfrm>
            <a:off x="7909560" y="1207008"/>
            <a:ext cx="457200" cy="42062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7424928" y="1783080"/>
            <a:ext cx="1417320" cy="292608"/>
          </a:xfrm>
          <a:prstGeom prst="rect">
            <a:avLst/>
          </a:prstGeom>
          <a:noFill/>
          <a:ln/>
        </p:spPr>
        <p:txBody>
          <a:bodyPr wrap="square"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Match ERP</a:t>
            </a:r>
            <a:endParaRPr lang="en-US" sz="1100" dirty="0"/>
          </a:p>
        </p:txBody>
      </p:sp>
      <p:sp>
        <p:nvSpPr>
          <p:cNvPr id="32" name="Text 30"/>
          <p:cNvSpPr/>
          <p:nvPr/>
        </p:nvSpPr>
        <p:spPr>
          <a:xfrm>
            <a:off x="7424928" y="2121408"/>
            <a:ext cx="1417320" cy="82296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&gt;95% confidence → auto-link</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70–95% → suggest to user</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&lt;70% → skip, manual link</a:t>
            </a:r>
            <a:endParaRPr lang="en-US" sz="850" dirty="0"/>
          </a:p>
        </p:txBody>
      </p:sp>
      <p:sp>
        <p:nvSpPr>
          <p:cNvPr id="33" name="Shape 31"/>
          <p:cNvSpPr/>
          <p:nvPr/>
        </p:nvSpPr>
        <p:spPr>
          <a:xfrm>
            <a:off x="457200" y="4041648"/>
            <a:ext cx="8366760" cy="731520"/>
          </a:xfrm>
          <a:prstGeom prst="roundRect">
            <a:avLst>
              <a:gd name="adj" fmla="val 12500"/>
            </a:avLst>
          </a:prstGeom>
          <a:solidFill>
            <a:srgbClr val="F0FDF4"/>
          </a:solidFill>
          <a:ln w="6350">
            <a:solidFill>
              <a:srgbClr val="E2E8F0"/>
            </a:solidFill>
            <a:prstDash val="solid"/>
          </a:ln>
        </p:spPr>
      </p:sp>
      <p:sp>
        <p:nvSpPr>
          <p:cNvPr id="34" name="Text 32"/>
          <p:cNvSpPr/>
          <p:nvPr/>
        </p:nvSpPr>
        <p:spPr>
          <a:xfrm>
            <a:off x="640080" y="4114800"/>
            <a:ext cx="2286000" cy="256032"/>
          </a:xfrm>
          <a:prstGeom prst="rect">
            <a:avLst/>
          </a:prstGeom>
          <a:noFill/>
          <a:ln/>
        </p:spPr>
        <p:txBody>
          <a:bodyPr wrap="square" lIns="0" tIns="0" rIns="0" bIns="0"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Result stored in GDoc Document:</a:t>
            </a:r>
            <a:endParaRPr lang="en-US" sz="1000" dirty="0"/>
          </a:p>
        </p:txBody>
      </p:sp>
      <p:sp>
        <p:nvSpPr>
          <p:cNvPr id="35" name="Shape 33"/>
          <p:cNvSpPr/>
          <p:nvPr/>
        </p:nvSpPr>
        <p:spPr>
          <a:xfrm>
            <a:off x="3017520" y="4133088"/>
            <a:ext cx="1042416" cy="237744"/>
          </a:xfrm>
          <a:prstGeom prst="roundRect">
            <a:avLst>
              <a:gd name="adj" fmla="val 30769"/>
            </a:avLst>
          </a:prstGeom>
          <a:solidFill>
            <a:srgbClr val="DCFCE7"/>
          </a:solidFill>
          <a:ln w="12700">
            <a:solidFill>
              <a:srgbClr val="BBF7D0"/>
            </a:solidFill>
            <a:prstDash val="solid"/>
          </a:ln>
        </p:spPr>
      </p:sp>
      <p:sp>
        <p:nvSpPr>
          <p:cNvPr id="36" name="Text 34"/>
          <p:cNvSpPr/>
          <p:nvPr/>
        </p:nvSpPr>
        <p:spPr>
          <a:xfrm>
            <a:off x="3017520" y="4133088"/>
            <a:ext cx="1042416" cy="237744"/>
          </a:xfrm>
          <a:prstGeom prst="rect">
            <a:avLst/>
          </a:prstGeom>
          <a:noFill/>
          <a:ln/>
        </p:spPr>
        <p:txBody>
          <a:bodyPr wrap="square" rtlCol="0" anchor="ctr"/>
          <a:lstStyle/>
          <a:p>
            <a:pPr algn="ctr" indent="0" marL="0">
              <a:buNone/>
            </a:pPr>
            <a:r>
              <a:rPr lang="en-US" sz="750" b="1" dirty="0">
                <a:solidFill>
                  <a:srgbClr val="166534"/>
                </a:solidFill>
                <a:latin typeface="Calibri" pitchFamily="34" charset="0"/>
                <a:ea typeface="Calibri" pitchFamily="34" charset="-122"/>
                <a:cs typeface="Calibri" pitchFamily="34" charset="-120"/>
              </a:rPr>
              <a:t>changai_indexed = True</a:t>
            </a:r>
            <a:endParaRPr lang="en-US" sz="750" dirty="0"/>
          </a:p>
        </p:txBody>
      </p:sp>
      <p:sp>
        <p:nvSpPr>
          <p:cNvPr id="37" name="Shape 35"/>
          <p:cNvSpPr/>
          <p:nvPr/>
        </p:nvSpPr>
        <p:spPr>
          <a:xfrm>
            <a:off x="4133088" y="4133088"/>
            <a:ext cx="1042416" cy="237744"/>
          </a:xfrm>
          <a:prstGeom prst="roundRect">
            <a:avLst>
              <a:gd name="adj" fmla="val 30769"/>
            </a:avLst>
          </a:prstGeom>
          <a:solidFill>
            <a:srgbClr val="DCFCE7"/>
          </a:solidFill>
          <a:ln w="12700">
            <a:solidFill>
              <a:srgbClr val="BBF7D0"/>
            </a:solidFill>
            <a:prstDash val="solid"/>
          </a:ln>
        </p:spPr>
      </p:sp>
      <p:sp>
        <p:nvSpPr>
          <p:cNvPr id="38" name="Text 36"/>
          <p:cNvSpPr/>
          <p:nvPr/>
        </p:nvSpPr>
        <p:spPr>
          <a:xfrm>
            <a:off x="4133088" y="4133088"/>
            <a:ext cx="1042416" cy="237744"/>
          </a:xfrm>
          <a:prstGeom prst="rect">
            <a:avLst/>
          </a:prstGeom>
          <a:noFill/>
          <a:ln/>
        </p:spPr>
        <p:txBody>
          <a:bodyPr wrap="square" rtlCol="0" anchor="ctr"/>
          <a:lstStyle/>
          <a:p>
            <a:pPr algn="ctr" indent="0" marL="0">
              <a:buNone/>
            </a:pPr>
            <a:r>
              <a:rPr lang="en-US" sz="750" b="1" dirty="0">
                <a:solidFill>
                  <a:srgbClr val="166534"/>
                </a:solidFill>
                <a:latin typeface="Calibri" pitchFamily="34" charset="0"/>
                <a:ea typeface="Calibri" pitchFamily="34" charset="-122"/>
                <a:cs typeface="Calibri" pitchFamily="34" charset="-120"/>
              </a:rPr>
              <a:t>ai_summary (Long Text)</a:t>
            </a:r>
            <a:endParaRPr lang="en-US" sz="750" dirty="0"/>
          </a:p>
        </p:txBody>
      </p:sp>
      <p:sp>
        <p:nvSpPr>
          <p:cNvPr id="39" name="Shape 37"/>
          <p:cNvSpPr/>
          <p:nvPr/>
        </p:nvSpPr>
        <p:spPr>
          <a:xfrm>
            <a:off x="5248656" y="4133088"/>
            <a:ext cx="1042416" cy="237744"/>
          </a:xfrm>
          <a:prstGeom prst="roundRect">
            <a:avLst>
              <a:gd name="adj" fmla="val 30769"/>
            </a:avLst>
          </a:prstGeom>
          <a:solidFill>
            <a:srgbClr val="DCFCE7"/>
          </a:solidFill>
          <a:ln w="12700">
            <a:solidFill>
              <a:srgbClr val="BBF7D0"/>
            </a:solidFill>
            <a:prstDash val="solid"/>
          </a:ln>
        </p:spPr>
      </p:sp>
      <p:sp>
        <p:nvSpPr>
          <p:cNvPr id="40" name="Text 38"/>
          <p:cNvSpPr/>
          <p:nvPr/>
        </p:nvSpPr>
        <p:spPr>
          <a:xfrm>
            <a:off x="5248656" y="4133088"/>
            <a:ext cx="1042416" cy="237744"/>
          </a:xfrm>
          <a:prstGeom prst="rect">
            <a:avLst/>
          </a:prstGeom>
          <a:noFill/>
          <a:ln/>
        </p:spPr>
        <p:txBody>
          <a:bodyPr wrap="square" rtlCol="0" anchor="ctr"/>
          <a:lstStyle/>
          <a:p>
            <a:pPr algn="ctr" indent="0" marL="0">
              <a:buNone/>
            </a:pPr>
            <a:r>
              <a:rPr lang="en-US" sz="750" b="1" dirty="0">
                <a:solidFill>
                  <a:srgbClr val="166534"/>
                </a:solidFill>
                <a:latin typeface="Calibri" pitchFamily="34" charset="0"/>
                <a:ea typeface="Calibri" pitchFamily="34" charset="-122"/>
                <a:cs typeface="Calibri" pitchFamily="34" charset="-120"/>
              </a:rPr>
              <a:t>ai_entities (JSON)</a:t>
            </a:r>
            <a:endParaRPr lang="en-US" sz="750" dirty="0"/>
          </a:p>
        </p:txBody>
      </p:sp>
      <p:sp>
        <p:nvSpPr>
          <p:cNvPr id="41" name="Shape 39"/>
          <p:cNvSpPr/>
          <p:nvPr/>
        </p:nvSpPr>
        <p:spPr>
          <a:xfrm>
            <a:off x="6364224" y="4133088"/>
            <a:ext cx="1042416" cy="237744"/>
          </a:xfrm>
          <a:prstGeom prst="roundRect">
            <a:avLst>
              <a:gd name="adj" fmla="val 30769"/>
            </a:avLst>
          </a:prstGeom>
          <a:solidFill>
            <a:srgbClr val="DCFCE7"/>
          </a:solidFill>
          <a:ln w="12700">
            <a:solidFill>
              <a:srgbClr val="BBF7D0"/>
            </a:solidFill>
            <a:prstDash val="solid"/>
          </a:ln>
        </p:spPr>
      </p:sp>
      <p:sp>
        <p:nvSpPr>
          <p:cNvPr id="42" name="Text 40"/>
          <p:cNvSpPr/>
          <p:nvPr/>
        </p:nvSpPr>
        <p:spPr>
          <a:xfrm>
            <a:off x="6364224" y="4133088"/>
            <a:ext cx="1042416" cy="237744"/>
          </a:xfrm>
          <a:prstGeom prst="rect">
            <a:avLst/>
          </a:prstGeom>
          <a:noFill/>
          <a:ln/>
        </p:spPr>
        <p:txBody>
          <a:bodyPr wrap="square" rtlCol="0" anchor="ctr"/>
          <a:lstStyle/>
          <a:p>
            <a:pPr algn="ctr" indent="0" marL="0">
              <a:buNone/>
            </a:pPr>
            <a:r>
              <a:rPr lang="en-US" sz="750" b="1" dirty="0">
                <a:solidFill>
                  <a:srgbClr val="166534"/>
                </a:solidFill>
                <a:latin typeface="Calibri" pitchFamily="34" charset="0"/>
                <a:ea typeface="Calibri" pitchFamily="34" charset="-122"/>
                <a:cs typeface="Calibri" pitchFamily="34" charset="-120"/>
              </a:rPr>
              <a:t>doc_type_classification</a:t>
            </a:r>
            <a:endParaRPr lang="en-US" sz="750" dirty="0"/>
          </a:p>
        </p:txBody>
      </p:sp>
      <p:sp>
        <p:nvSpPr>
          <p:cNvPr id="43" name="Shape 41"/>
          <p:cNvSpPr/>
          <p:nvPr/>
        </p:nvSpPr>
        <p:spPr>
          <a:xfrm>
            <a:off x="7479792" y="4133088"/>
            <a:ext cx="1042416" cy="237744"/>
          </a:xfrm>
          <a:prstGeom prst="roundRect">
            <a:avLst>
              <a:gd name="adj" fmla="val 30769"/>
            </a:avLst>
          </a:prstGeom>
          <a:solidFill>
            <a:srgbClr val="DCFCE7"/>
          </a:solidFill>
          <a:ln w="12700">
            <a:solidFill>
              <a:srgbClr val="BBF7D0"/>
            </a:solidFill>
            <a:prstDash val="solid"/>
          </a:ln>
        </p:spPr>
      </p:sp>
      <p:sp>
        <p:nvSpPr>
          <p:cNvPr id="44" name="Text 42"/>
          <p:cNvSpPr/>
          <p:nvPr/>
        </p:nvSpPr>
        <p:spPr>
          <a:xfrm>
            <a:off x="7479792" y="4133088"/>
            <a:ext cx="1042416" cy="237744"/>
          </a:xfrm>
          <a:prstGeom prst="rect">
            <a:avLst/>
          </a:prstGeom>
          <a:noFill/>
          <a:ln/>
        </p:spPr>
        <p:txBody>
          <a:bodyPr wrap="square" rtlCol="0" anchor="ctr"/>
          <a:lstStyle/>
          <a:p>
            <a:pPr algn="ctr" indent="0" marL="0">
              <a:buNone/>
            </a:pPr>
            <a:r>
              <a:rPr lang="en-US" sz="750" b="1" dirty="0">
                <a:solidFill>
                  <a:srgbClr val="166534"/>
                </a:solidFill>
                <a:latin typeface="Calibri" pitchFamily="34" charset="0"/>
                <a:ea typeface="Calibri" pitchFamily="34" charset="-122"/>
                <a:cs typeface="Calibri" pitchFamily="34" charset="-120"/>
              </a:rPr>
              <a:t>indexing_status = Done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Stages 4–6: Store → User → Answer</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97280"/>
            <a:ext cx="2651760" cy="3566160"/>
          </a:xfrm>
          <a:prstGeom prst="roundRect">
            <a:avLst>
              <a:gd name="adj" fmla="val 3448"/>
            </a:avLst>
          </a:prstGeom>
          <a:solidFill>
            <a:srgbClr val="F0FDF4"/>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Text 3"/>
          <p:cNvSpPr/>
          <p:nvPr/>
        </p:nvSpPr>
        <p:spPr>
          <a:xfrm>
            <a:off x="594360" y="1170432"/>
            <a:ext cx="2286000" cy="228600"/>
          </a:xfrm>
          <a:prstGeom prst="rect">
            <a:avLst/>
          </a:prstGeom>
          <a:noFill/>
          <a:ln/>
        </p:spPr>
        <p:txBody>
          <a:bodyPr wrap="square" lIns="0" tIns="0" rIns="0" bIns="0" rtlCol="0" anchor="ctr"/>
          <a:lstStyle/>
          <a:p>
            <a:pPr indent="0" marL="0">
              <a:buNone/>
            </a:pPr>
            <a:r>
              <a:rPr lang="en-US" sz="900" b="1" dirty="0">
                <a:solidFill>
                  <a:srgbClr val="15803D"/>
                </a:solidFill>
                <a:latin typeface="Calibri" pitchFamily="34" charset="0"/>
                <a:ea typeface="Calibri" pitchFamily="34" charset="-122"/>
                <a:cs typeface="Calibri" pitchFamily="34" charset="-120"/>
              </a:rPr>
              <a:t>Stage 4</a:t>
            </a:r>
            <a:endParaRPr lang="en-US" sz="900" dirty="0"/>
          </a:p>
        </p:txBody>
      </p:sp>
      <p:sp>
        <p:nvSpPr>
          <p:cNvPr id="6" name="Text 4"/>
          <p:cNvSpPr/>
          <p:nvPr/>
        </p:nvSpPr>
        <p:spPr>
          <a:xfrm>
            <a:off x="594360" y="1389888"/>
            <a:ext cx="2286000" cy="347472"/>
          </a:xfrm>
          <a:prstGeom prst="rect">
            <a:avLst/>
          </a:prstGeom>
          <a:noFill/>
          <a:ln/>
        </p:spPr>
        <p:txBody>
          <a:bodyPr wrap="square" lIns="0" tIns="0" rIns="0" bIns="0" rtlCol="0" anchor="ctr"/>
          <a:lstStyle/>
          <a:p>
            <a:pPr indent="0" marL="0">
              <a:buNone/>
            </a:pPr>
            <a:r>
              <a:rPr lang="en-US" sz="1800" b="1" dirty="0">
                <a:solidFill>
                  <a:srgbClr val="0F1E3C"/>
                </a:solidFill>
                <a:latin typeface="Calibri" pitchFamily="34" charset="0"/>
                <a:ea typeface="Calibri" pitchFamily="34" charset="-122"/>
                <a:cs typeface="Calibri" pitchFamily="34" charset="-120"/>
              </a:rPr>
              <a:t>Store</a:t>
            </a:r>
            <a:endParaRPr lang="en-US" sz="1800" dirty="0"/>
          </a:p>
        </p:txBody>
      </p:sp>
      <p:sp>
        <p:nvSpPr>
          <p:cNvPr id="7" name="Shape 5"/>
          <p:cNvSpPr/>
          <p:nvPr/>
        </p:nvSpPr>
        <p:spPr>
          <a:xfrm>
            <a:off x="621792" y="1874520"/>
            <a:ext cx="128016" cy="128016"/>
          </a:xfrm>
          <a:prstGeom prst="ellipse">
            <a:avLst/>
          </a:prstGeom>
          <a:solidFill>
            <a:srgbClr val="15803D"/>
          </a:solidFill>
          <a:ln w="12700">
            <a:solidFill>
              <a:srgbClr val="15803D"/>
            </a:solidFill>
            <a:prstDash val="solid"/>
          </a:ln>
        </p:spPr>
      </p:sp>
      <p:sp>
        <p:nvSpPr>
          <p:cNvPr id="8" name="Text 6"/>
          <p:cNvSpPr/>
          <p:nvPr/>
        </p:nvSpPr>
        <p:spPr>
          <a:xfrm>
            <a:off x="822960" y="1856232"/>
            <a:ext cx="2148840" cy="201168"/>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GDoc Document updated</a:t>
            </a:r>
            <a:endParaRPr lang="en-US" sz="900" dirty="0"/>
          </a:p>
        </p:txBody>
      </p:sp>
      <p:sp>
        <p:nvSpPr>
          <p:cNvPr id="9" name="Shape 7"/>
          <p:cNvSpPr/>
          <p:nvPr/>
        </p:nvSpPr>
        <p:spPr>
          <a:xfrm>
            <a:off x="621792" y="2258568"/>
            <a:ext cx="128016" cy="128016"/>
          </a:xfrm>
          <a:prstGeom prst="ellipse">
            <a:avLst/>
          </a:prstGeom>
          <a:solidFill>
            <a:srgbClr val="15803D"/>
          </a:solidFill>
          <a:ln w="12700">
            <a:solidFill>
              <a:srgbClr val="15803D"/>
            </a:solidFill>
            <a:prstDash val="solid"/>
          </a:ln>
        </p:spPr>
      </p:sp>
      <p:sp>
        <p:nvSpPr>
          <p:cNvPr id="10" name="Text 8"/>
          <p:cNvSpPr/>
          <p:nvPr/>
        </p:nvSpPr>
        <p:spPr>
          <a:xfrm>
            <a:off x="822960" y="2240280"/>
            <a:ext cx="2148840" cy="201168"/>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changai_indexed = True</a:t>
            </a:r>
            <a:endParaRPr lang="en-US" sz="900" dirty="0"/>
          </a:p>
        </p:txBody>
      </p:sp>
      <p:sp>
        <p:nvSpPr>
          <p:cNvPr id="11" name="Shape 9"/>
          <p:cNvSpPr/>
          <p:nvPr/>
        </p:nvSpPr>
        <p:spPr>
          <a:xfrm>
            <a:off x="621792" y="2642616"/>
            <a:ext cx="128016" cy="128016"/>
          </a:xfrm>
          <a:prstGeom prst="ellipse">
            <a:avLst/>
          </a:prstGeom>
          <a:solidFill>
            <a:srgbClr val="15803D"/>
          </a:solidFill>
          <a:ln w="12700">
            <a:solidFill>
              <a:srgbClr val="15803D"/>
            </a:solidFill>
            <a:prstDash val="solid"/>
          </a:ln>
        </p:spPr>
      </p:sp>
      <p:sp>
        <p:nvSpPr>
          <p:cNvPr id="12" name="Text 10"/>
          <p:cNvSpPr/>
          <p:nvPr/>
        </p:nvSpPr>
        <p:spPr>
          <a:xfrm>
            <a:off x="822960" y="2624328"/>
            <a:ext cx="2148840" cy="201168"/>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All AI columns written</a:t>
            </a:r>
            <a:endParaRPr lang="en-US" sz="900" dirty="0"/>
          </a:p>
        </p:txBody>
      </p:sp>
      <p:sp>
        <p:nvSpPr>
          <p:cNvPr id="13" name="Shape 11"/>
          <p:cNvSpPr/>
          <p:nvPr/>
        </p:nvSpPr>
        <p:spPr>
          <a:xfrm>
            <a:off x="621792" y="3026664"/>
            <a:ext cx="128016" cy="128016"/>
          </a:xfrm>
          <a:prstGeom prst="ellipse">
            <a:avLst/>
          </a:prstGeom>
          <a:solidFill>
            <a:srgbClr val="15803D"/>
          </a:solidFill>
          <a:ln w="12700">
            <a:solidFill>
              <a:srgbClr val="15803D"/>
            </a:solidFill>
            <a:prstDash val="solid"/>
          </a:ln>
        </p:spPr>
      </p:sp>
      <p:sp>
        <p:nvSpPr>
          <p:cNvPr id="14" name="Text 12"/>
          <p:cNvSpPr/>
          <p:nvPr/>
        </p:nvSpPr>
        <p:spPr>
          <a:xfrm>
            <a:off x="822960" y="3008376"/>
            <a:ext cx="2148840" cy="201168"/>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Searchable immediately</a:t>
            </a:r>
            <a:endParaRPr lang="en-US" sz="900" dirty="0"/>
          </a:p>
        </p:txBody>
      </p:sp>
      <p:sp>
        <p:nvSpPr>
          <p:cNvPr id="15" name="Shape 13"/>
          <p:cNvSpPr/>
          <p:nvPr/>
        </p:nvSpPr>
        <p:spPr>
          <a:xfrm>
            <a:off x="621792" y="3410712"/>
            <a:ext cx="128016" cy="128016"/>
          </a:xfrm>
          <a:prstGeom prst="ellipse">
            <a:avLst/>
          </a:prstGeom>
          <a:solidFill>
            <a:srgbClr val="15803D"/>
          </a:solidFill>
          <a:ln w="12700">
            <a:solidFill>
              <a:srgbClr val="15803D"/>
            </a:solidFill>
            <a:prstDash val="solid"/>
          </a:ln>
        </p:spPr>
      </p:sp>
      <p:sp>
        <p:nvSpPr>
          <p:cNvPr id="16" name="Text 14"/>
          <p:cNvSpPr/>
          <p:nvPr/>
        </p:nvSpPr>
        <p:spPr>
          <a:xfrm>
            <a:off x="822960" y="3392424"/>
            <a:ext cx="2148840" cy="201168"/>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ERP match linked / suggested</a:t>
            </a:r>
            <a:endParaRPr lang="en-US" sz="900" dirty="0"/>
          </a:p>
        </p:txBody>
      </p:sp>
      <p:sp>
        <p:nvSpPr>
          <p:cNvPr id="17" name="Shape 15"/>
          <p:cNvSpPr/>
          <p:nvPr/>
        </p:nvSpPr>
        <p:spPr>
          <a:xfrm>
            <a:off x="3291840" y="1097280"/>
            <a:ext cx="2651760" cy="3566160"/>
          </a:xfrm>
          <a:prstGeom prst="roundRect">
            <a:avLst>
              <a:gd name="adj" fmla="val 3448"/>
            </a:avLst>
          </a:prstGeom>
          <a:solidFill>
            <a:srgbClr val="EFF6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8" name="Text 16"/>
          <p:cNvSpPr/>
          <p:nvPr/>
        </p:nvSpPr>
        <p:spPr>
          <a:xfrm>
            <a:off x="3429000" y="1170432"/>
            <a:ext cx="2286000" cy="228600"/>
          </a:xfrm>
          <a:prstGeom prst="rect">
            <a:avLst/>
          </a:prstGeom>
          <a:noFill/>
          <a:ln/>
        </p:spPr>
        <p:txBody>
          <a:bodyPr wrap="square" lIns="0" tIns="0" rIns="0" bIns="0" rtlCol="0" anchor="ctr"/>
          <a:lstStyle/>
          <a:p>
            <a:pPr indent="0" marL="0">
              <a:buNone/>
            </a:pPr>
            <a:r>
              <a:rPr lang="en-US" sz="900" b="1" dirty="0">
                <a:solidFill>
                  <a:srgbClr val="1D4ED8"/>
                </a:solidFill>
                <a:latin typeface="Calibri" pitchFamily="34" charset="0"/>
                <a:ea typeface="Calibri" pitchFamily="34" charset="-122"/>
                <a:cs typeface="Calibri" pitchFamily="34" charset="-120"/>
              </a:rPr>
              <a:t>Stage 5</a:t>
            </a:r>
            <a:endParaRPr lang="en-US" sz="900" dirty="0"/>
          </a:p>
        </p:txBody>
      </p:sp>
      <p:sp>
        <p:nvSpPr>
          <p:cNvPr id="19" name="Text 17"/>
          <p:cNvSpPr/>
          <p:nvPr/>
        </p:nvSpPr>
        <p:spPr>
          <a:xfrm>
            <a:off x="3429000" y="1389888"/>
            <a:ext cx="2286000" cy="347472"/>
          </a:xfrm>
          <a:prstGeom prst="rect">
            <a:avLst/>
          </a:prstGeom>
          <a:noFill/>
          <a:ln/>
        </p:spPr>
        <p:txBody>
          <a:bodyPr wrap="square" lIns="0" tIns="0" rIns="0" bIns="0" rtlCol="0" anchor="ctr"/>
          <a:lstStyle/>
          <a:p>
            <a:pPr indent="0" marL="0">
              <a:buNone/>
            </a:pPr>
            <a:r>
              <a:rPr lang="en-US" sz="1800" b="1" dirty="0">
                <a:solidFill>
                  <a:srgbClr val="0F1E3C"/>
                </a:solidFill>
                <a:latin typeface="Calibri" pitchFamily="34" charset="0"/>
                <a:ea typeface="Calibri" pitchFamily="34" charset="-122"/>
                <a:cs typeface="Calibri" pitchFamily="34" charset="-120"/>
              </a:rPr>
              <a:t>User action</a:t>
            </a:r>
            <a:endParaRPr lang="en-US" sz="1800" dirty="0"/>
          </a:p>
        </p:txBody>
      </p:sp>
      <p:sp>
        <p:nvSpPr>
          <p:cNvPr id="20" name="Shape 18"/>
          <p:cNvSpPr/>
          <p:nvPr/>
        </p:nvSpPr>
        <p:spPr>
          <a:xfrm>
            <a:off x="3429000" y="1874520"/>
            <a:ext cx="2331720" cy="566928"/>
          </a:xfrm>
          <a:prstGeom prst="roundRect">
            <a:avLst>
              <a:gd name="adj" fmla="val 12903"/>
            </a:avLst>
          </a:prstGeom>
          <a:solidFill>
            <a:srgbClr val="DBEAFE"/>
          </a:solidFill>
          <a:ln w="12700">
            <a:solidFill>
              <a:srgbClr val="BFDBFE"/>
            </a:solidFill>
            <a:prstDash val="solid"/>
          </a:ln>
        </p:spPr>
      </p:sp>
      <p:sp>
        <p:nvSpPr>
          <p:cNvPr id="21" name="Text 19"/>
          <p:cNvSpPr/>
          <p:nvPr/>
        </p:nvSpPr>
        <p:spPr>
          <a:xfrm>
            <a:off x="3566160" y="1920240"/>
            <a:ext cx="2103120" cy="228600"/>
          </a:xfrm>
          <a:prstGeom prst="rect">
            <a:avLst/>
          </a:prstGeom>
          <a:noFill/>
          <a:ln/>
        </p:spPr>
        <p:txBody>
          <a:bodyPr wrap="square" lIns="0" tIns="0" rIns="0" bIns="0"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Search</a:t>
            </a:r>
            <a:endParaRPr lang="en-US" sz="1100" dirty="0"/>
          </a:p>
        </p:txBody>
      </p:sp>
      <p:sp>
        <p:nvSpPr>
          <p:cNvPr id="22" name="Text 20"/>
          <p:cNvSpPr/>
          <p:nvPr/>
        </p:nvSpPr>
        <p:spPr>
          <a:xfrm>
            <a:off x="3566160" y="2139696"/>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Keyword + vector hybrid</a:t>
            </a:r>
            <a:endParaRPr lang="en-US" sz="900" dirty="0"/>
          </a:p>
        </p:txBody>
      </p:sp>
      <p:sp>
        <p:nvSpPr>
          <p:cNvPr id="23" name="Shape 21"/>
          <p:cNvSpPr/>
          <p:nvPr/>
        </p:nvSpPr>
        <p:spPr>
          <a:xfrm>
            <a:off x="3429000" y="2560320"/>
            <a:ext cx="2331720" cy="566928"/>
          </a:xfrm>
          <a:prstGeom prst="roundRect">
            <a:avLst>
              <a:gd name="adj" fmla="val 12903"/>
            </a:avLst>
          </a:prstGeom>
          <a:solidFill>
            <a:srgbClr val="DBEAFE"/>
          </a:solidFill>
          <a:ln w="12700">
            <a:solidFill>
              <a:srgbClr val="BFDBFE"/>
            </a:solidFill>
            <a:prstDash val="solid"/>
          </a:ln>
        </p:spPr>
      </p:sp>
      <p:sp>
        <p:nvSpPr>
          <p:cNvPr id="24" name="Text 22"/>
          <p:cNvSpPr/>
          <p:nvPr/>
        </p:nvSpPr>
        <p:spPr>
          <a:xfrm>
            <a:off x="3566160" y="2606040"/>
            <a:ext cx="2103120" cy="228600"/>
          </a:xfrm>
          <a:prstGeom prst="rect">
            <a:avLst/>
          </a:prstGeom>
          <a:noFill/>
          <a:ln/>
        </p:spPr>
        <p:txBody>
          <a:bodyPr wrap="square" lIns="0" tIns="0" rIns="0" bIns="0"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Chat</a:t>
            </a:r>
            <a:endParaRPr lang="en-US" sz="1100" dirty="0"/>
          </a:p>
        </p:txBody>
      </p:sp>
      <p:sp>
        <p:nvSpPr>
          <p:cNvPr id="25" name="Text 23"/>
          <p:cNvSpPr/>
          <p:nvPr/>
        </p:nvSpPr>
        <p:spPr>
          <a:xfrm>
            <a:off x="3566160" y="2825496"/>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Ask a free-text question</a:t>
            </a:r>
            <a:endParaRPr lang="en-US" sz="900" dirty="0"/>
          </a:p>
        </p:txBody>
      </p:sp>
      <p:sp>
        <p:nvSpPr>
          <p:cNvPr id="26" name="Shape 24"/>
          <p:cNvSpPr/>
          <p:nvPr/>
        </p:nvSpPr>
        <p:spPr>
          <a:xfrm>
            <a:off x="3429000" y="3246120"/>
            <a:ext cx="2331720" cy="566928"/>
          </a:xfrm>
          <a:prstGeom prst="roundRect">
            <a:avLst>
              <a:gd name="adj" fmla="val 12903"/>
            </a:avLst>
          </a:prstGeom>
          <a:solidFill>
            <a:srgbClr val="DBEAFE"/>
          </a:solidFill>
          <a:ln w="12700">
            <a:solidFill>
              <a:srgbClr val="BFDBFE"/>
            </a:solidFill>
            <a:prstDash val="solid"/>
          </a:ln>
        </p:spPr>
      </p:sp>
      <p:sp>
        <p:nvSpPr>
          <p:cNvPr id="27" name="Text 25"/>
          <p:cNvSpPr/>
          <p:nvPr/>
        </p:nvSpPr>
        <p:spPr>
          <a:xfrm>
            <a:off x="3566160" y="3291840"/>
            <a:ext cx="2103120" cy="228600"/>
          </a:xfrm>
          <a:prstGeom prst="rect">
            <a:avLst/>
          </a:prstGeom>
          <a:noFill/>
          <a:ln/>
        </p:spPr>
        <p:txBody>
          <a:bodyPr wrap="square" lIns="0" tIns="0" rIns="0" bIns="0"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View</a:t>
            </a:r>
            <a:endParaRPr lang="en-US" sz="1100" dirty="0"/>
          </a:p>
        </p:txBody>
      </p:sp>
      <p:sp>
        <p:nvSpPr>
          <p:cNvPr id="28" name="Text 26"/>
          <p:cNvSpPr/>
          <p:nvPr/>
        </p:nvSpPr>
        <p:spPr>
          <a:xfrm>
            <a:off x="3566160" y="3511296"/>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AI sidebar on detail page</a:t>
            </a:r>
            <a:endParaRPr lang="en-US" sz="900" dirty="0"/>
          </a:p>
        </p:txBody>
      </p:sp>
      <p:sp>
        <p:nvSpPr>
          <p:cNvPr id="29" name="Shape 27"/>
          <p:cNvSpPr/>
          <p:nvPr/>
        </p:nvSpPr>
        <p:spPr>
          <a:xfrm>
            <a:off x="3429000" y="3931920"/>
            <a:ext cx="2331720" cy="566928"/>
          </a:xfrm>
          <a:prstGeom prst="roundRect">
            <a:avLst>
              <a:gd name="adj" fmla="val 12903"/>
            </a:avLst>
          </a:prstGeom>
          <a:solidFill>
            <a:srgbClr val="DBEAFE"/>
          </a:solidFill>
          <a:ln w="12700">
            <a:solidFill>
              <a:srgbClr val="BFDBFE"/>
            </a:solidFill>
            <a:prstDash val="solid"/>
          </a:ln>
        </p:spPr>
      </p:sp>
      <p:sp>
        <p:nvSpPr>
          <p:cNvPr id="30" name="Text 28"/>
          <p:cNvSpPr/>
          <p:nvPr/>
        </p:nvSpPr>
        <p:spPr>
          <a:xfrm>
            <a:off x="3566160" y="3977640"/>
            <a:ext cx="2103120" cy="228600"/>
          </a:xfrm>
          <a:prstGeom prst="rect">
            <a:avLst/>
          </a:prstGeom>
          <a:noFill/>
          <a:ln/>
        </p:spPr>
        <p:txBody>
          <a:bodyPr wrap="square" lIns="0" tIns="0" rIns="0" bIns="0"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Approve</a:t>
            </a:r>
            <a:endParaRPr lang="en-US" sz="1100" dirty="0"/>
          </a:p>
        </p:txBody>
      </p:sp>
      <p:sp>
        <p:nvSpPr>
          <p:cNvPr id="31" name="Text 29"/>
          <p:cNvSpPr/>
          <p:nvPr/>
        </p:nvSpPr>
        <p:spPr>
          <a:xfrm>
            <a:off x="3566160" y="4197096"/>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Workflow queue + SLA</a:t>
            </a:r>
            <a:endParaRPr lang="en-US" sz="900" dirty="0"/>
          </a:p>
        </p:txBody>
      </p:sp>
      <p:sp>
        <p:nvSpPr>
          <p:cNvPr id="32" name="Shape 30"/>
          <p:cNvSpPr/>
          <p:nvPr/>
        </p:nvSpPr>
        <p:spPr>
          <a:xfrm>
            <a:off x="6126480" y="1097280"/>
            <a:ext cx="2697480" cy="3566160"/>
          </a:xfrm>
          <a:prstGeom prst="roundRect">
            <a:avLst>
              <a:gd name="adj" fmla="val 3390"/>
            </a:avLst>
          </a:prstGeom>
          <a:solidFill>
            <a:srgbClr val="FFFBEB"/>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33" name="Text 31"/>
          <p:cNvSpPr/>
          <p:nvPr/>
        </p:nvSpPr>
        <p:spPr>
          <a:xfrm>
            <a:off x="6263640" y="1170432"/>
            <a:ext cx="2286000" cy="228600"/>
          </a:xfrm>
          <a:prstGeom prst="rect">
            <a:avLst/>
          </a:prstGeom>
          <a:noFill/>
          <a:ln/>
        </p:spPr>
        <p:txBody>
          <a:bodyPr wrap="square" lIns="0" tIns="0" rIns="0" bIns="0" rtlCol="0" anchor="ctr"/>
          <a:lstStyle/>
          <a:p>
            <a:pPr indent="0" marL="0">
              <a:buNone/>
            </a:pPr>
            <a:r>
              <a:rPr lang="en-US" sz="900" b="1" dirty="0">
                <a:solidFill>
                  <a:srgbClr val="D97706"/>
                </a:solidFill>
                <a:latin typeface="Calibri" pitchFamily="34" charset="0"/>
                <a:ea typeface="Calibri" pitchFamily="34" charset="-122"/>
                <a:cs typeface="Calibri" pitchFamily="34" charset="-120"/>
              </a:rPr>
              <a:t>Stage 6</a:t>
            </a:r>
            <a:endParaRPr lang="en-US" sz="900" dirty="0"/>
          </a:p>
        </p:txBody>
      </p:sp>
      <p:sp>
        <p:nvSpPr>
          <p:cNvPr id="34" name="Text 32"/>
          <p:cNvSpPr/>
          <p:nvPr/>
        </p:nvSpPr>
        <p:spPr>
          <a:xfrm>
            <a:off x="6263640" y="1389888"/>
            <a:ext cx="2286000" cy="347472"/>
          </a:xfrm>
          <a:prstGeom prst="rect">
            <a:avLst/>
          </a:prstGeom>
          <a:noFill/>
          <a:ln/>
        </p:spPr>
        <p:txBody>
          <a:bodyPr wrap="square" lIns="0" tIns="0" rIns="0" bIns="0" rtlCol="0" anchor="ctr"/>
          <a:lstStyle/>
          <a:p>
            <a:pPr indent="0" marL="0">
              <a:buNone/>
            </a:pPr>
            <a:r>
              <a:rPr lang="en-US" sz="1800" b="1" dirty="0">
                <a:solidFill>
                  <a:srgbClr val="0F1E3C"/>
                </a:solidFill>
                <a:latin typeface="Calibri" pitchFamily="34" charset="0"/>
                <a:ea typeface="Calibri" pitchFamily="34" charset="-122"/>
                <a:cs typeface="Calibri" pitchFamily="34" charset="-120"/>
              </a:rPr>
              <a:t>Answer</a:t>
            </a:r>
            <a:endParaRPr lang="en-US" sz="1800" dirty="0"/>
          </a:p>
        </p:txBody>
      </p:sp>
      <p:sp>
        <p:nvSpPr>
          <p:cNvPr id="35" name="Text 33"/>
          <p:cNvSpPr/>
          <p:nvPr/>
        </p:nvSpPr>
        <p:spPr>
          <a:xfrm>
            <a:off x="6263640" y="1901952"/>
            <a:ext cx="242316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Search result:</a:t>
            </a:r>
            <a:endParaRPr lang="en-US" sz="1000" dirty="0"/>
          </a:p>
        </p:txBody>
      </p:sp>
      <p:sp>
        <p:nvSpPr>
          <p:cNvPr id="36" name="Text 34"/>
          <p:cNvSpPr/>
          <p:nvPr/>
        </p:nvSpPr>
        <p:spPr>
          <a:xfrm>
            <a:off x="6263640" y="2121408"/>
            <a:ext cx="2423160" cy="3200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Ranked, filterable, excerpt highlighted</a:t>
            </a:r>
            <a:endParaRPr lang="en-US" sz="900" dirty="0"/>
          </a:p>
        </p:txBody>
      </p:sp>
      <p:sp>
        <p:nvSpPr>
          <p:cNvPr id="37" name="Text 35"/>
          <p:cNvSpPr/>
          <p:nvPr/>
        </p:nvSpPr>
        <p:spPr>
          <a:xfrm>
            <a:off x="6263640" y="2587752"/>
            <a:ext cx="242316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RAG answer:</a:t>
            </a:r>
            <a:endParaRPr lang="en-US" sz="1000" dirty="0"/>
          </a:p>
        </p:txBody>
      </p:sp>
      <p:sp>
        <p:nvSpPr>
          <p:cNvPr id="38" name="Text 36"/>
          <p:cNvSpPr/>
          <p:nvPr/>
        </p:nvSpPr>
        <p:spPr>
          <a:xfrm>
            <a:off x="6263640" y="2807208"/>
            <a:ext cx="2423160" cy="3200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Text answer + source citations (doc + page)</a:t>
            </a:r>
            <a:endParaRPr lang="en-US" sz="900" dirty="0"/>
          </a:p>
        </p:txBody>
      </p:sp>
      <p:sp>
        <p:nvSpPr>
          <p:cNvPr id="39" name="Text 37"/>
          <p:cNvSpPr/>
          <p:nvPr/>
        </p:nvSpPr>
        <p:spPr>
          <a:xfrm>
            <a:off x="6263640" y="3273552"/>
            <a:ext cx="242316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ERP action:</a:t>
            </a:r>
            <a:endParaRPr lang="en-US" sz="1000" dirty="0"/>
          </a:p>
        </p:txBody>
      </p:sp>
      <p:sp>
        <p:nvSpPr>
          <p:cNvPr id="40" name="Text 38"/>
          <p:cNvSpPr/>
          <p:nvPr/>
        </p:nvSpPr>
        <p:spPr>
          <a:xfrm>
            <a:off x="6263640" y="3493008"/>
            <a:ext cx="2423160" cy="3200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Auto-link confirmed, fields populated</a:t>
            </a:r>
            <a:endParaRPr lang="en-US" sz="900" dirty="0"/>
          </a:p>
        </p:txBody>
      </p:sp>
      <p:sp>
        <p:nvSpPr>
          <p:cNvPr id="41" name="Text 39"/>
          <p:cNvSpPr/>
          <p:nvPr/>
        </p:nvSpPr>
        <p:spPr>
          <a:xfrm>
            <a:off x="6263640" y="3959352"/>
            <a:ext cx="242316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Workflow:</a:t>
            </a:r>
            <a:endParaRPr lang="en-US" sz="1000" dirty="0"/>
          </a:p>
        </p:txBody>
      </p:sp>
      <p:sp>
        <p:nvSpPr>
          <p:cNvPr id="42" name="Text 40"/>
          <p:cNvSpPr/>
          <p:nvPr/>
        </p:nvSpPr>
        <p:spPr>
          <a:xfrm>
            <a:off x="6263640" y="4178808"/>
            <a:ext cx="2423160" cy="3200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Document approved, ERP record updated</a:t>
            </a:r>
            <a:endParaRPr lang="en-US" sz="900" dirty="0"/>
          </a:p>
        </p:txBody>
      </p:sp>
      <p:sp>
        <p:nvSpPr>
          <p:cNvPr id="43" name="Shape 41"/>
          <p:cNvSpPr/>
          <p:nvPr/>
        </p:nvSpPr>
        <p:spPr>
          <a:xfrm>
            <a:off x="3108960" y="2880360"/>
            <a:ext cx="182880" cy="0"/>
          </a:xfrm>
          <a:prstGeom prst="line">
            <a:avLst/>
          </a:prstGeom>
          <a:noFill/>
          <a:ln w="19050">
            <a:solidFill>
              <a:srgbClr val="E2E8F0"/>
            </a:solidFill>
            <a:prstDash val="solid"/>
          </a:ln>
        </p:spPr>
      </p:sp>
      <p:sp>
        <p:nvSpPr>
          <p:cNvPr id="44" name="Shape 42"/>
          <p:cNvSpPr/>
          <p:nvPr/>
        </p:nvSpPr>
        <p:spPr>
          <a:xfrm>
            <a:off x="5943600" y="2880360"/>
            <a:ext cx="182880" cy="0"/>
          </a:xfrm>
          <a:prstGeom prst="line">
            <a:avLst/>
          </a:prstGeom>
          <a:noFill/>
          <a:ln w="19050">
            <a:solidFill>
              <a:srgbClr val="E2E8F0"/>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Text 1"/>
          <p:cNvSpPr/>
          <p:nvPr/>
        </p:nvSpPr>
        <p:spPr>
          <a:xfrm>
            <a:off x="457200" y="731520"/>
            <a:ext cx="2743200" cy="1645920"/>
          </a:xfrm>
          <a:prstGeom prst="rect">
            <a:avLst/>
          </a:prstGeom>
          <a:noFill/>
          <a:ln/>
        </p:spPr>
        <p:txBody>
          <a:bodyPr wrap="square" rtlCol="0" anchor="ctr"/>
          <a:lstStyle/>
          <a:p>
            <a:pPr indent="0" marL="0">
              <a:buNone/>
            </a:pPr>
            <a:r>
              <a:rPr lang="en-US" sz="9600" b="1" dirty="0">
                <a:solidFill>
                  <a:srgbClr val="1D4ED8">
                    <a:alpha val="40000"/>
                  </a:srgbClr>
                </a:solidFill>
                <a:latin typeface="Calibri" pitchFamily="34" charset="0"/>
                <a:ea typeface="Calibri" pitchFamily="34" charset="-122"/>
                <a:cs typeface="Calibri" pitchFamily="34" charset="-120"/>
              </a:rPr>
              <a:t>03</a:t>
            </a:r>
            <a:endParaRPr lang="en-US" sz="9600" dirty="0"/>
          </a:p>
        </p:txBody>
      </p:sp>
      <p:sp>
        <p:nvSpPr>
          <p:cNvPr id="4" name="Text 2"/>
          <p:cNvSpPr/>
          <p:nvPr/>
        </p:nvSpPr>
        <p:spPr>
          <a:xfrm>
            <a:off x="457200" y="2468880"/>
            <a:ext cx="82296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Feature Matrix</a:t>
            </a:r>
            <a:endParaRPr lang="en-US" sz="3600" dirty="0"/>
          </a:p>
        </p:txBody>
      </p:sp>
      <p:sp>
        <p:nvSpPr>
          <p:cNvPr id="5" name="Text 3"/>
          <p:cNvSpPr/>
          <p:nvPr/>
        </p:nvSpPr>
        <p:spPr>
          <a:xfrm>
            <a:off x="457200" y="3291840"/>
            <a:ext cx="7772400" cy="640080"/>
          </a:xfrm>
          <a:prstGeom prst="rect">
            <a:avLst/>
          </a:prstGeom>
          <a:noFill/>
          <a:ln/>
        </p:spPr>
        <p:txBody>
          <a:bodyPr wrap="square" rtlCol="0" anchor="ctr"/>
          <a:lstStyle/>
          <a:p>
            <a:pPr indent="0" marL="0">
              <a:buNone/>
            </a:pPr>
            <a:r>
              <a:rPr lang="en-US" sz="1600" dirty="0">
                <a:solidFill>
                  <a:srgbClr val="93C5FD"/>
                </a:solidFill>
                <a:latin typeface="Calibri" pitchFamily="34" charset="0"/>
                <a:ea typeface="Calibri" pitchFamily="34" charset="-122"/>
                <a:cs typeface="Calibri" pitchFamily="34" charset="-120"/>
              </a:rPr>
              <a:t>Every feature, its status, and the open source stack that powers it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Feature status overview — 205 features across 14 modules</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97280"/>
            <a:ext cx="2651760" cy="1463040"/>
          </a:xfrm>
          <a:prstGeom prst="roundRect">
            <a:avLst>
              <a:gd name="adj" fmla="val 625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457200" y="1097280"/>
            <a:ext cx="2651760" cy="1463040"/>
          </a:xfrm>
          <a:prstGeom prst="roundRect">
            <a:avLst>
              <a:gd name="adj" fmla="val 6250"/>
            </a:avLst>
          </a:prstGeom>
          <a:solidFill>
            <a:srgbClr val="DCFCE7">
              <a:alpha val="60000"/>
            </a:srgbClr>
          </a:solidFill>
          <a:ln w="12700">
            <a:solidFill>
              <a:srgbClr val="DCFCE7"/>
            </a:solidFill>
            <a:prstDash val="solid"/>
          </a:ln>
        </p:spPr>
      </p:sp>
      <p:sp>
        <p:nvSpPr>
          <p:cNvPr id="6" name="Text 4"/>
          <p:cNvSpPr/>
          <p:nvPr/>
        </p:nvSpPr>
        <p:spPr>
          <a:xfrm>
            <a:off x="594360" y="1188720"/>
            <a:ext cx="2377440" cy="685800"/>
          </a:xfrm>
          <a:prstGeom prst="rect">
            <a:avLst/>
          </a:prstGeom>
          <a:noFill/>
          <a:ln/>
        </p:spPr>
        <p:txBody>
          <a:bodyPr wrap="square" rtlCol="0" anchor="ctr"/>
          <a:lstStyle/>
          <a:p>
            <a:pPr algn="ctr" indent="0" marL="0">
              <a:buNone/>
            </a:pPr>
            <a:r>
              <a:rPr lang="en-US" sz="5200" b="1" dirty="0">
                <a:solidFill>
                  <a:srgbClr val="166534"/>
                </a:solidFill>
                <a:latin typeface="Calibri" pitchFamily="34" charset="0"/>
                <a:ea typeface="Calibri" pitchFamily="34" charset="-122"/>
                <a:cs typeface="Calibri" pitchFamily="34" charset="-120"/>
              </a:rPr>
              <a:t>18</a:t>
            </a:r>
            <a:endParaRPr lang="en-US" sz="5200" dirty="0"/>
          </a:p>
        </p:txBody>
      </p:sp>
      <p:sp>
        <p:nvSpPr>
          <p:cNvPr id="7" name="Text 5"/>
          <p:cNvSpPr/>
          <p:nvPr/>
        </p:nvSpPr>
        <p:spPr>
          <a:xfrm>
            <a:off x="594360" y="1920240"/>
            <a:ext cx="2377440" cy="274320"/>
          </a:xfrm>
          <a:prstGeom prst="rect">
            <a:avLst/>
          </a:prstGeom>
          <a:noFill/>
          <a:ln/>
        </p:spPr>
        <p:txBody>
          <a:bodyPr wrap="square" rtlCol="0" anchor="ctr"/>
          <a:lstStyle/>
          <a:p>
            <a:pPr algn="ctr" indent="0" marL="0">
              <a:buNone/>
            </a:pPr>
            <a:r>
              <a:rPr lang="en-US" sz="1400" b="1" dirty="0">
                <a:solidFill>
                  <a:srgbClr val="166534"/>
                </a:solidFill>
                <a:latin typeface="Calibri" pitchFamily="34" charset="0"/>
                <a:ea typeface="Calibri" pitchFamily="34" charset="-122"/>
                <a:cs typeface="Calibri" pitchFamily="34" charset="-120"/>
              </a:rPr>
              <a:t>Available</a:t>
            </a:r>
            <a:endParaRPr lang="en-US" sz="1400" dirty="0"/>
          </a:p>
        </p:txBody>
      </p:sp>
      <p:sp>
        <p:nvSpPr>
          <p:cNvPr id="8" name="Text 6"/>
          <p:cNvSpPr/>
          <p:nvPr/>
        </p:nvSpPr>
        <p:spPr>
          <a:xfrm>
            <a:off x="594360" y="2194560"/>
            <a:ext cx="2377440" cy="228600"/>
          </a:xfrm>
          <a:prstGeom prst="rect">
            <a:avLst/>
          </a:prstGeom>
          <a:noFill/>
          <a:ln/>
        </p:spPr>
        <p:txBody>
          <a:bodyPr wrap="square" rtlCol="0" anchor="ctr"/>
          <a:lstStyle/>
          <a:p>
            <a:pPr algn="ctr" indent="0" marL="0">
              <a:buNone/>
            </a:pPr>
            <a:r>
              <a:rPr lang="en-US" sz="900" dirty="0">
                <a:solidFill>
                  <a:srgbClr val="166534"/>
                </a:solidFill>
                <a:latin typeface="Calibri" pitchFamily="34" charset="0"/>
                <a:ea typeface="Calibri" pitchFamily="34" charset="-122"/>
                <a:cs typeface="Calibri" pitchFamily="34" charset="-120"/>
              </a:rPr>
              <a:t>Frappe/Drive gives this free</a:t>
            </a:r>
            <a:endParaRPr lang="en-US" sz="900" dirty="0"/>
          </a:p>
        </p:txBody>
      </p:sp>
      <p:sp>
        <p:nvSpPr>
          <p:cNvPr id="9" name="Shape 7"/>
          <p:cNvSpPr/>
          <p:nvPr/>
        </p:nvSpPr>
        <p:spPr>
          <a:xfrm>
            <a:off x="3291840" y="1097280"/>
            <a:ext cx="2651760" cy="1463040"/>
          </a:xfrm>
          <a:prstGeom prst="roundRect">
            <a:avLst>
              <a:gd name="adj" fmla="val 625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0" name="Shape 8"/>
          <p:cNvSpPr/>
          <p:nvPr/>
        </p:nvSpPr>
        <p:spPr>
          <a:xfrm>
            <a:off x="3291840" y="1097280"/>
            <a:ext cx="2651760" cy="1463040"/>
          </a:xfrm>
          <a:prstGeom prst="roundRect">
            <a:avLst>
              <a:gd name="adj" fmla="val 6250"/>
            </a:avLst>
          </a:prstGeom>
          <a:solidFill>
            <a:srgbClr val="DBEAFE">
              <a:alpha val="60000"/>
            </a:srgbClr>
          </a:solidFill>
          <a:ln w="12700">
            <a:solidFill>
              <a:srgbClr val="DBEAFE"/>
            </a:solidFill>
            <a:prstDash val="solid"/>
          </a:ln>
        </p:spPr>
      </p:sp>
      <p:sp>
        <p:nvSpPr>
          <p:cNvPr id="11" name="Text 9"/>
          <p:cNvSpPr/>
          <p:nvPr/>
        </p:nvSpPr>
        <p:spPr>
          <a:xfrm>
            <a:off x="3429000" y="1188720"/>
            <a:ext cx="2377440" cy="685800"/>
          </a:xfrm>
          <a:prstGeom prst="rect">
            <a:avLst/>
          </a:prstGeom>
          <a:noFill/>
          <a:ln/>
        </p:spPr>
        <p:txBody>
          <a:bodyPr wrap="square" rtlCol="0" anchor="ctr"/>
          <a:lstStyle/>
          <a:p>
            <a:pPr algn="ctr" indent="0" marL="0">
              <a:buNone/>
            </a:pPr>
            <a:r>
              <a:rPr lang="en-US" sz="5200" b="1" dirty="0">
                <a:solidFill>
                  <a:srgbClr val="1E40AF"/>
                </a:solidFill>
                <a:latin typeface="Calibri" pitchFamily="34" charset="0"/>
                <a:ea typeface="Calibri" pitchFamily="34" charset="-122"/>
                <a:cs typeface="Calibri" pitchFamily="34" charset="-120"/>
              </a:rPr>
              <a:t>25</a:t>
            </a:r>
            <a:endParaRPr lang="en-US" sz="5200" dirty="0"/>
          </a:p>
        </p:txBody>
      </p:sp>
      <p:sp>
        <p:nvSpPr>
          <p:cNvPr id="12" name="Text 10"/>
          <p:cNvSpPr/>
          <p:nvPr/>
        </p:nvSpPr>
        <p:spPr>
          <a:xfrm>
            <a:off x="3429000" y="1920240"/>
            <a:ext cx="2377440" cy="274320"/>
          </a:xfrm>
          <a:prstGeom prst="rect">
            <a:avLst/>
          </a:prstGeom>
          <a:noFill/>
          <a:ln/>
        </p:spPr>
        <p:txBody>
          <a:bodyPr wrap="square" rtlCol="0" anchor="ctr"/>
          <a:lstStyle/>
          <a:p>
            <a:pPr algn="ctr" indent="0" marL="0">
              <a:buNone/>
            </a:pPr>
            <a:r>
              <a:rPr lang="en-US" sz="1400" b="1" dirty="0">
                <a:solidFill>
                  <a:srgbClr val="1E40AF"/>
                </a:solidFill>
                <a:latin typeface="Calibri" pitchFamily="34" charset="0"/>
                <a:ea typeface="Calibri" pitchFamily="34" charset="-122"/>
                <a:cs typeface="Calibri" pitchFamily="34" charset="-120"/>
              </a:rPr>
              <a:t>Almost There</a:t>
            </a:r>
            <a:endParaRPr lang="en-US" sz="1400" dirty="0"/>
          </a:p>
        </p:txBody>
      </p:sp>
      <p:sp>
        <p:nvSpPr>
          <p:cNvPr id="13" name="Text 11"/>
          <p:cNvSpPr/>
          <p:nvPr/>
        </p:nvSpPr>
        <p:spPr>
          <a:xfrm>
            <a:off x="3429000" y="2194560"/>
            <a:ext cx="2377440" cy="228600"/>
          </a:xfrm>
          <a:prstGeom prst="rect">
            <a:avLst/>
          </a:prstGeom>
          <a:noFill/>
          <a:ln/>
        </p:spPr>
        <p:txBody>
          <a:bodyPr wrap="square" rtlCol="0" anchor="ctr"/>
          <a:lstStyle/>
          <a:p>
            <a:pPr algn="ctr" indent="0" marL="0">
              <a:buNone/>
            </a:pPr>
            <a:r>
              <a:rPr lang="en-US" sz="900" dirty="0">
                <a:solidFill>
                  <a:srgbClr val="1E40AF"/>
                </a:solidFill>
                <a:latin typeface="Calibri" pitchFamily="34" charset="0"/>
                <a:ea typeface="Calibri" pitchFamily="34" charset="-122"/>
                <a:cs typeface="Calibri" pitchFamily="34" charset="-120"/>
              </a:rPr>
              <a:t>Needs wiring or config</a:t>
            </a:r>
            <a:endParaRPr lang="en-US" sz="900" dirty="0"/>
          </a:p>
        </p:txBody>
      </p:sp>
      <p:sp>
        <p:nvSpPr>
          <p:cNvPr id="14" name="Shape 12"/>
          <p:cNvSpPr/>
          <p:nvPr/>
        </p:nvSpPr>
        <p:spPr>
          <a:xfrm>
            <a:off x="6126480" y="1097280"/>
            <a:ext cx="2651760" cy="1463040"/>
          </a:xfrm>
          <a:prstGeom prst="roundRect">
            <a:avLst>
              <a:gd name="adj" fmla="val 625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5" name="Shape 13"/>
          <p:cNvSpPr/>
          <p:nvPr/>
        </p:nvSpPr>
        <p:spPr>
          <a:xfrm>
            <a:off x="6126480" y="1097280"/>
            <a:ext cx="2651760" cy="1463040"/>
          </a:xfrm>
          <a:prstGeom prst="roundRect">
            <a:avLst>
              <a:gd name="adj" fmla="val 6250"/>
            </a:avLst>
          </a:prstGeom>
          <a:solidFill>
            <a:srgbClr val="FEF3C7">
              <a:alpha val="60000"/>
            </a:srgbClr>
          </a:solidFill>
          <a:ln w="12700">
            <a:solidFill>
              <a:srgbClr val="FEF3C7"/>
            </a:solidFill>
            <a:prstDash val="solid"/>
          </a:ln>
        </p:spPr>
      </p:sp>
      <p:sp>
        <p:nvSpPr>
          <p:cNvPr id="16" name="Text 14"/>
          <p:cNvSpPr/>
          <p:nvPr/>
        </p:nvSpPr>
        <p:spPr>
          <a:xfrm>
            <a:off x="6263640" y="1188720"/>
            <a:ext cx="2377440" cy="685800"/>
          </a:xfrm>
          <a:prstGeom prst="rect">
            <a:avLst/>
          </a:prstGeom>
          <a:noFill/>
          <a:ln/>
        </p:spPr>
        <p:txBody>
          <a:bodyPr wrap="square" rtlCol="0" anchor="ctr"/>
          <a:lstStyle/>
          <a:p>
            <a:pPr algn="ctr" indent="0" marL="0">
              <a:buNone/>
            </a:pPr>
            <a:r>
              <a:rPr lang="en-US" sz="5200" b="1" dirty="0">
                <a:solidFill>
                  <a:srgbClr val="92400E"/>
                </a:solidFill>
                <a:latin typeface="Calibri" pitchFamily="34" charset="0"/>
                <a:ea typeface="Calibri" pitchFamily="34" charset="-122"/>
                <a:cs typeface="Calibri" pitchFamily="34" charset="-120"/>
              </a:rPr>
              <a:t>162</a:t>
            </a:r>
            <a:endParaRPr lang="en-US" sz="5200" dirty="0"/>
          </a:p>
        </p:txBody>
      </p:sp>
      <p:sp>
        <p:nvSpPr>
          <p:cNvPr id="17" name="Text 15"/>
          <p:cNvSpPr/>
          <p:nvPr/>
        </p:nvSpPr>
        <p:spPr>
          <a:xfrm>
            <a:off x="6263640" y="1920240"/>
            <a:ext cx="2377440" cy="274320"/>
          </a:xfrm>
          <a:prstGeom prst="rect">
            <a:avLst/>
          </a:prstGeom>
          <a:noFill/>
          <a:ln/>
        </p:spPr>
        <p:txBody>
          <a:bodyPr wrap="square" rtlCol="0" anchor="ctr"/>
          <a:lstStyle/>
          <a:p>
            <a:pPr algn="ctr" indent="0" marL="0">
              <a:buNone/>
            </a:pPr>
            <a:r>
              <a:rPr lang="en-US" sz="1400" b="1" dirty="0">
                <a:solidFill>
                  <a:srgbClr val="92400E"/>
                </a:solidFill>
                <a:latin typeface="Calibri" pitchFamily="34" charset="0"/>
                <a:ea typeface="Calibri" pitchFamily="34" charset="-122"/>
                <a:cs typeface="Calibri" pitchFamily="34" charset="-120"/>
              </a:rPr>
              <a:t>To Build</a:t>
            </a:r>
            <a:endParaRPr lang="en-US" sz="1400" dirty="0"/>
          </a:p>
        </p:txBody>
      </p:sp>
      <p:sp>
        <p:nvSpPr>
          <p:cNvPr id="18" name="Text 16"/>
          <p:cNvSpPr/>
          <p:nvPr/>
        </p:nvSpPr>
        <p:spPr>
          <a:xfrm>
            <a:off x="6263640" y="2194560"/>
            <a:ext cx="2377440" cy="228600"/>
          </a:xfrm>
          <a:prstGeom prst="rect">
            <a:avLst/>
          </a:prstGeom>
          <a:noFill/>
          <a:ln/>
        </p:spPr>
        <p:txBody>
          <a:bodyPr wrap="square" rtlCol="0" anchor="ctr"/>
          <a:lstStyle/>
          <a:p>
            <a:pPr algn="ctr" indent="0" marL="0">
              <a:buNone/>
            </a:pPr>
            <a:r>
              <a:rPr lang="en-US" sz="900" dirty="0">
                <a:solidFill>
                  <a:srgbClr val="92400E"/>
                </a:solidFill>
                <a:latin typeface="Calibri" pitchFamily="34" charset="0"/>
                <a:ea typeface="Calibri" pitchFamily="34" charset="-122"/>
                <a:cs typeface="Calibri" pitchFamily="34" charset="-120"/>
              </a:rPr>
              <a:t>changAI builds from scratch</a:t>
            </a:r>
            <a:endParaRPr lang="en-US" sz="900" dirty="0"/>
          </a:p>
        </p:txBody>
      </p:sp>
      <p:sp>
        <p:nvSpPr>
          <p:cNvPr id="19" name="Text 17"/>
          <p:cNvSpPr/>
          <p:nvPr/>
        </p:nvSpPr>
        <p:spPr>
          <a:xfrm>
            <a:off x="457200" y="2834640"/>
            <a:ext cx="1280160" cy="256032"/>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Status key:</a:t>
            </a:r>
            <a:endParaRPr lang="en-US" sz="1000" dirty="0"/>
          </a:p>
        </p:txBody>
      </p:sp>
      <p:sp>
        <p:nvSpPr>
          <p:cNvPr id="20" name="Shape 18"/>
          <p:cNvSpPr/>
          <p:nvPr/>
        </p:nvSpPr>
        <p:spPr>
          <a:xfrm>
            <a:off x="1783080" y="2834640"/>
            <a:ext cx="2011680" cy="274320"/>
          </a:xfrm>
          <a:prstGeom prst="roundRect">
            <a:avLst>
              <a:gd name="adj" fmla="val 40000"/>
            </a:avLst>
          </a:prstGeom>
          <a:solidFill>
            <a:srgbClr val="DCFCE7"/>
          </a:solidFill>
          <a:ln w="12700">
            <a:solidFill>
              <a:srgbClr val="DCFCE7"/>
            </a:solidFill>
            <a:prstDash val="solid"/>
          </a:ln>
        </p:spPr>
      </p:sp>
      <p:sp>
        <p:nvSpPr>
          <p:cNvPr id="21" name="Text 19"/>
          <p:cNvSpPr/>
          <p:nvPr/>
        </p:nvSpPr>
        <p:spPr>
          <a:xfrm>
            <a:off x="1783080" y="2834640"/>
            <a:ext cx="2011680" cy="274320"/>
          </a:xfrm>
          <a:prstGeom prst="rect">
            <a:avLst/>
          </a:prstGeom>
          <a:noFill/>
          <a:ln/>
        </p:spPr>
        <p:txBody>
          <a:bodyPr wrap="square" rtlCol="0" anchor="ctr"/>
          <a:lstStyle/>
          <a:p>
            <a:pPr algn="ctr" indent="0" marL="0">
              <a:buNone/>
            </a:pPr>
            <a:r>
              <a:rPr lang="en-US" sz="1000" b="1" dirty="0">
                <a:solidFill>
                  <a:srgbClr val="166534"/>
                </a:solidFill>
                <a:latin typeface="Calibri" pitchFamily="34" charset="0"/>
                <a:ea typeface="Calibri" pitchFamily="34" charset="-122"/>
                <a:cs typeface="Calibri" pitchFamily="34" charset="-120"/>
              </a:rPr>
              <a:t>Available</a:t>
            </a:r>
            <a:endParaRPr lang="en-US" sz="1000" dirty="0"/>
          </a:p>
        </p:txBody>
      </p:sp>
      <p:sp>
        <p:nvSpPr>
          <p:cNvPr id="22" name="Shape 20"/>
          <p:cNvSpPr/>
          <p:nvPr/>
        </p:nvSpPr>
        <p:spPr>
          <a:xfrm>
            <a:off x="3977640" y="2834640"/>
            <a:ext cx="2011680" cy="274320"/>
          </a:xfrm>
          <a:prstGeom prst="roundRect">
            <a:avLst>
              <a:gd name="adj" fmla="val 40000"/>
            </a:avLst>
          </a:prstGeom>
          <a:solidFill>
            <a:srgbClr val="DBEAFE"/>
          </a:solidFill>
          <a:ln w="12700">
            <a:solidFill>
              <a:srgbClr val="DBEAFE"/>
            </a:solidFill>
            <a:prstDash val="solid"/>
          </a:ln>
        </p:spPr>
      </p:sp>
      <p:sp>
        <p:nvSpPr>
          <p:cNvPr id="23" name="Text 21"/>
          <p:cNvSpPr/>
          <p:nvPr/>
        </p:nvSpPr>
        <p:spPr>
          <a:xfrm>
            <a:off x="3977640" y="2834640"/>
            <a:ext cx="2011680" cy="274320"/>
          </a:xfrm>
          <a:prstGeom prst="rect">
            <a:avLst/>
          </a:prstGeom>
          <a:noFill/>
          <a:ln/>
        </p:spPr>
        <p:txBody>
          <a:bodyPr wrap="square" rtlCol="0" anchor="ctr"/>
          <a:lstStyle/>
          <a:p>
            <a:pPr algn="ctr" indent="0" marL="0">
              <a:buNone/>
            </a:pPr>
            <a:r>
              <a:rPr lang="en-US" sz="1000" b="1" dirty="0">
                <a:solidFill>
                  <a:srgbClr val="1E40AF"/>
                </a:solidFill>
                <a:latin typeface="Calibri" pitchFamily="34" charset="0"/>
                <a:ea typeface="Calibri" pitchFamily="34" charset="-122"/>
                <a:cs typeface="Calibri" pitchFamily="34" charset="-120"/>
              </a:rPr>
              <a:t>Almost There</a:t>
            </a:r>
            <a:endParaRPr lang="en-US" sz="1000" dirty="0"/>
          </a:p>
        </p:txBody>
      </p:sp>
      <p:sp>
        <p:nvSpPr>
          <p:cNvPr id="24" name="Shape 22"/>
          <p:cNvSpPr/>
          <p:nvPr/>
        </p:nvSpPr>
        <p:spPr>
          <a:xfrm>
            <a:off x="6172200" y="2834640"/>
            <a:ext cx="2011680" cy="274320"/>
          </a:xfrm>
          <a:prstGeom prst="roundRect">
            <a:avLst>
              <a:gd name="adj" fmla="val 40000"/>
            </a:avLst>
          </a:prstGeom>
          <a:solidFill>
            <a:srgbClr val="FEF3C7"/>
          </a:solidFill>
          <a:ln w="12700">
            <a:solidFill>
              <a:srgbClr val="FEF3C7"/>
            </a:solidFill>
            <a:prstDash val="solid"/>
          </a:ln>
        </p:spPr>
      </p:sp>
      <p:sp>
        <p:nvSpPr>
          <p:cNvPr id="25" name="Text 23"/>
          <p:cNvSpPr/>
          <p:nvPr/>
        </p:nvSpPr>
        <p:spPr>
          <a:xfrm>
            <a:off x="6172200" y="2834640"/>
            <a:ext cx="2011680" cy="274320"/>
          </a:xfrm>
          <a:prstGeom prst="rect">
            <a:avLst/>
          </a:prstGeom>
          <a:noFill/>
          <a:ln/>
        </p:spPr>
        <p:txBody>
          <a:bodyPr wrap="square" rtlCol="0" anchor="ctr"/>
          <a:lstStyle/>
          <a:p>
            <a:pPr algn="ctr" indent="0" marL="0">
              <a:buNone/>
            </a:pPr>
            <a:r>
              <a:rPr lang="en-US" sz="1000" b="1" dirty="0">
                <a:solidFill>
                  <a:srgbClr val="92400E"/>
                </a:solidFill>
                <a:latin typeface="Calibri" pitchFamily="34" charset="0"/>
                <a:ea typeface="Calibri" pitchFamily="34" charset="-122"/>
                <a:cs typeface="Calibri" pitchFamily="34" charset="-120"/>
              </a:rPr>
              <a:t>To Build</a:t>
            </a:r>
            <a:endParaRPr lang="en-US" sz="1000" dirty="0"/>
          </a:p>
        </p:txBody>
      </p:sp>
      <p:sp>
        <p:nvSpPr>
          <p:cNvPr id="26" name="Shape 24"/>
          <p:cNvSpPr/>
          <p:nvPr/>
        </p:nvSpPr>
        <p:spPr>
          <a:xfrm>
            <a:off x="457200" y="3291840"/>
            <a:ext cx="8366760" cy="1463040"/>
          </a:xfrm>
          <a:prstGeom prst="roundRect">
            <a:avLst>
              <a:gd name="adj" fmla="val 6250"/>
            </a:avLst>
          </a:prstGeom>
          <a:solidFill>
            <a:srgbClr val="F8FAFC"/>
          </a:solidFill>
          <a:ln w="6350">
            <a:solidFill>
              <a:srgbClr val="E2E8F0"/>
            </a:solidFill>
            <a:prstDash val="solid"/>
          </a:ln>
        </p:spPr>
      </p:sp>
      <p:sp>
        <p:nvSpPr>
          <p:cNvPr id="27" name="Text 25"/>
          <p:cNvSpPr/>
          <p:nvPr/>
        </p:nvSpPr>
        <p:spPr>
          <a:xfrm>
            <a:off x="640080" y="3383280"/>
            <a:ext cx="7772400" cy="292608"/>
          </a:xfrm>
          <a:prstGeom prst="rect">
            <a:avLst/>
          </a:prstGeom>
          <a:noFill/>
          <a:ln/>
        </p:spPr>
        <p:txBody>
          <a:bodyPr wrap="square" lIns="0" tIns="0" rIns="0" bIns="0" rtlCol="0" anchor="ctr"/>
          <a:lstStyle/>
          <a:p>
            <a:pPr indent="0" marL="0">
              <a:buNone/>
            </a:pPr>
            <a:r>
              <a:rPr lang="en-US" sz="1200" b="1" dirty="0">
                <a:solidFill>
                  <a:srgbClr val="0F1E3C"/>
                </a:solidFill>
                <a:latin typeface="Calibri" pitchFamily="34" charset="0"/>
                <a:ea typeface="Calibri" pitchFamily="34" charset="-122"/>
                <a:cs typeface="Calibri" pitchFamily="34" charset="-120"/>
              </a:rPr>
              <a:t>What this means for the project</a:t>
            </a:r>
            <a:endParaRPr lang="en-US" sz="1200" dirty="0"/>
          </a:p>
        </p:txBody>
      </p:sp>
      <p:sp>
        <p:nvSpPr>
          <p:cNvPr id="28" name="Shape 26"/>
          <p:cNvSpPr/>
          <p:nvPr/>
        </p:nvSpPr>
        <p:spPr>
          <a:xfrm>
            <a:off x="640080" y="3749040"/>
            <a:ext cx="201168" cy="201168"/>
          </a:xfrm>
          <a:prstGeom prst="ellipse">
            <a:avLst/>
          </a:prstGeom>
          <a:solidFill>
            <a:srgbClr val="15803D"/>
          </a:solidFill>
          <a:ln w="12700">
            <a:solidFill>
              <a:srgbClr val="15803D"/>
            </a:solidFill>
            <a:prstDash val="solid"/>
          </a:ln>
        </p:spPr>
      </p:sp>
      <p:sp>
        <p:nvSpPr>
          <p:cNvPr id="29" name="Text 27"/>
          <p:cNvSpPr/>
          <p:nvPr/>
        </p:nvSpPr>
        <p:spPr>
          <a:xfrm>
            <a:off x="914400" y="3730752"/>
            <a:ext cx="2423160" cy="237744"/>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Frappe/Drive gives us 9% for free</a:t>
            </a:r>
            <a:endParaRPr lang="en-US" sz="950" dirty="0"/>
          </a:p>
        </p:txBody>
      </p:sp>
      <p:sp>
        <p:nvSpPr>
          <p:cNvPr id="30" name="Text 28"/>
          <p:cNvSpPr/>
          <p:nvPr/>
        </p:nvSpPr>
        <p:spPr>
          <a:xfrm>
            <a:off x="914400" y="3977640"/>
            <a:ext cx="242316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Storage, permissions, workflows, background jobs, REST API — all the infrastructure is handled.</a:t>
            </a:r>
            <a:endParaRPr lang="en-US" sz="850" dirty="0"/>
          </a:p>
        </p:txBody>
      </p:sp>
      <p:sp>
        <p:nvSpPr>
          <p:cNvPr id="31" name="Shape 29"/>
          <p:cNvSpPr/>
          <p:nvPr/>
        </p:nvSpPr>
        <p:spPr>
          <a:xfrm>
            <a:off x="3456432" y="3749040"/>
            <a:ext cx="201168" cy="201168"/>
          </a:xfrm>
          <a:prstGeom prst="ellipse">
            <a:avLst/>
          </a:prstGeom>
          <a:solidFill>
            <a:srgbClr val="1D4ED8"/>
          </a:solidFill>
          <a:ln w="12700">
            <a:solidFill>
              <a:srgbClr val="1D4ED8"/>
            </a:solidFill>
            <a:prstDash val="solid"/>
          </a:ln>
        </p:spPr>
      </p:sp>
      <p:sp>
        <p:nvSpPr>
          <p:cNvPr id="32" name="Text 30"/>
          <p:cNvSpPr/>
          <p:nvPr/>
        </p:nvSpPr>
        <p:spPr>
          <a:xfrm>
            <a:off x="3730752" y="3730752"/>
            <a:ext cx="2423160" cy="237744"/>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12% just needs configuration</a:t>
            </a:r>
            <a:endParaRPr lang="en-US" sz="950" dirty="0"/>
          </a:p>
        </p:txBody>
      </p:sp>
      <p:sp>
        <p:nvSpPr>
          <p:cNvPr id="33" name="Text 31"/>
          <p:cNvSpPr/>
          <p:nvPr/>
        </p:nvSpPr>
        <p:spPr>
          <a:xfrm>
            <a:off x="3730752" y="3977640"/>
            <a:ext cx="242316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Features like webhooks, report templates, and share links exist but need GDoc-specific setup.</a:t>
            </a:r>
            <a:endParaRPr lang="en-US" sz="850" dirty="0"/>
          </a:p>
        </p:txBody>
      </p:sp>
      <p:sp>
        <p:nvSpPr>
          <p:cNvPr id="34" name="Shape 32"/>
          <p:cNvSpPr/>
          <p:nvPr/>
        </p:nvSpPr>
        <p:spPr>
          <a:xfrm>
            <a:off x="6272784" y="3749040"/>
            <a:ext cx="201168" cy="201168"/>
          </a:xfrm>
          <a:prstGeom prst="ellipse">
            <a:avLst/>
          </a:prstGeom>
          <a:solidFill>
            <a:srgbClr val="D97706"/>
          </a:solidFill>
          <a:ln w="12700">
            <a:solidFill>
              <a:srgbClr val="D97706"/>
            </a:solidFill>
            <a:prstDash val="solid"/>
          </a:ln>
        </p:spPr>
      </p:sp>
      <p:sp>
        <p:nvSpPr>
          <p:cNvPr id="35" name="Text 33"/>
          <p:cNvSpPr/>
          <p:nvPr/>
        </p:nvSpPr>
        <p:spPr>
          <a:xfrm>
            <a:off x="6547104" y="3730752"/>
            <a:ext cx="2423160" cy="237744"/>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79% is what changAI actually builds</a:t>
            </a:r>
            <a:endParaRPr lang="en-US" sz="950" dirty="0"/>
          </a:p>
        </p:txBody>
      </p:sp>
      <p:sp>
        <p:nvSpPr>
          <p:cNvPr id="36" name="Text 34"/>
          <p:cNvSpPr/>
          <p:nvPr/>
        </p:nvSpPr>
        <p:spPr>
          <a:xfrm>
            <a:off x="6547104" y="3977640"/>
            <a:ext cx="242316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The entire OCR pipeline, AI engine, RAG chat, document intelligence, and ERP matching is net-new.</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Feature count by module</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graphicFrame>
        <p:nvGraphicFramePr>
          <p:cNvPr id="4" name="Chart 0" descr=""/>
          <p:cNvGraphicFramePr/>
          <p:nvPr/>
        </p:nvGraphicFramePr>
        <p:xfrm>
          <a:off x="457200" y="1005840"/>
          <a:ext cx="566928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09360" y="1143000"/>
            <a:ext cx="2514600" cy="804672"/>
          </a:xfrm>
          <a:prstGeom prst="roundRect">
            <a:avLst>
              <a:gd name="adj" fmla="val 11364"/>
            </a:avLst>
          </a:prstGeom>
          <a:solidFill>
            <a:srgbClr val="FFFFFF"/>
          </a:solidFill>
          <a:ln w="6350">
            <a:solidFill>
              <a:srgbClr val="E2E8F0"/>
            </a:solidFill>
            <a:prstDash val="solid"/>
          </a:ln>
        </p:spPr>
      </p:sp>
      <p:sp>
        <p:nvSpPr>
          <p:cNvPr id="6" name="Text 3"/>
          <p:cNvSpPr/>
          <p:nvPr/>
        </p:nvSpPr>
        <p:spPr>
          <a:xfrm>
            <a:off x="6446520" y="1216152"/>
            <a:ext cx="2240280" cy="237744"/>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RAG Chat</a:t>
            </a:r>
            <a:endParaRPr lang="en-US" sz="1000" dirty="0"/>
          </a:p>
        </p:txBody>
      </p:sp>
      <p:sp>
        <p:nvSpPr>
          <p:cNvPr id="7" name="Text 4"/>
          <p:cNvSpPr/>
          <p:nvPr/>
        </p:nvSpPr>
        <p:spPr>
          <a:xfrm>
            <a:off x="6446520" y="1463040"/>
            <a:ext cx="2240280" cy="237744"/>
          </a:xfrm>
          <a:prstGeom prst="rect">
            <a:avLst/>
          </a:prstGeom>
          <a:noFill/>
          <a:ln/>
        </p:spPr>
        <p:txBody>
          <a:bodyPr wrap="square" lIns="0" tIns="0" rIns="0" bIns="0" rtlCol="0" anchor="ctr"/>
          <a:lstStyle/>
          <a:p>
            <a:pPr indent="0" marL="0">
              <a:buNone/>
            </a:pPr>
            <a:r>
              <a:rPr lang="en-US" sz="1200" b="1" dirty="0">
                <a:solidFill>
                  <a:srgbClr val="1D4ED8"/>
                </a:solidFill>
                <a:latin typeface="Calibri" pitchFamily="34" charset="0"/>
                <a:ea typeface="Calibri" pitchFamily="34" charset="-122"/>
                <a:cs typeface="Calibri" pitchFamily="34" charset="-120"/>
              </a:rPr>
              <a:t>27 features</a:t>
            </a:r>
            <a:endParaRPr lang="en-US" sz="1200" dirty="0"/>
          </a:p>
        </p:txBody>
      </p:sp>
      <p:sp>
        <p:nvSpPr>
          <p:cNvPr id="8" name="Text 5"/>
          <p:cNvSpPr/>
          <p:nvPr/>
        </p:nvSpPr>
        <p:spPr>
          <a:xfrm>
            <a:off x="6446520" y="1691640"/>
            <a:ext cx="2240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Largest module — entirely net-new</a:t>
            </a:r>
            <a:endParaRPr lang="en-US" sz="850" dirty="0"/>
          </a:p>
        </p:txBody>
      </p:sp>
      <p:sp>
        <p:nvSpPr>
          <p:cNvPr id="9" name="Shape 6"/>
          <p:cNvSpPr/>
          <p:nvPr/>
        </p:nvSpPr>
        <p:spPr>
          <a:xfrm>
            <a:off x="6309360" y="2148840"/>
            <a:ext cx="2514600" cy="804672"/>
          </a:xfrm>
          <a:prstGeom prst="roundRect">
            <a:avLst>
              <a:gd name="adj" fmla="val 11364"/>
            </a:avLst>
          </a:prstGeom>
          <a:solidFill>
            <a:srgbClr val="FFFFFF"/>
          </a:solidFill>
          <a:ln w="6350">
            <a:solidFill>
              <a:srgbClr val="E2E8F0"/>
            </a:solidFill>
            <a:prstDash val="solid"/>
          </a:ln>
        </p:spPr>
      </p:sp>
      <p:sp>
        <p:nvSpPr>
          <p:cNvPr id="10" name="Text 7"/>
          <p:cNvSpPr/>
          <p:nvPr/>
        </p:nvSpPr>
        <p:spPr>
          <a:xfrm>
            <a:off x="6446520" y="2221992"/>
            <a:ext cx="2240280" cy="237744"/>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GDoc DocType</a:t>
            </a:r>
            <a:endParaRPr lang="en-US" sz="1000" dirty="0"/>
          </a:p>
        </p:txBody>
      </p:sp>
      <p:sp>
        <p:nvSpPr>
          <p:cNvPr id="11" name="Text 8"/>
          <p:cNvSpPr/>
          <p:nvPr/>
        </p:nvSpPr>
        <p:spPr>
          <a:xfrm>
            <a:off x="6446520" y="2468880"/>
            <a:ext cx="2240280" cy="237744"/>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25 features</a:t>
            </a:r>
            <a:endParaRPr lang="en-US" sz="1200" dirty="0"/>
          </a:p>
        </p:txBody>
      </p:sp>
      <p:sp>
        <p:nvSpPr>
          <p:cNvPr id="12" name="Text 9"/>
          <p:cNvSpPr/>
          <p:nvPr/>
        </p:nvSpPr>
        <p:spPr>
          <a:xfrm>
            <a:off x="6446520" y="2697480"/>
            <a:ext cx="2240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The changAI column schema</a:t>
            </a:r>
            <a:endParaRPr lang="en-US" sz="850" dirty="0"/>
          </a:p>
        </p:txBody>
      </p:sp>
      <p:sp>
        <p:nvSpPr>
          <p:cNvPr id="13" name="Shape 10"/>
          <p:cNvSpPr/>
          <p:nvPr/>
        </p:nvSpPr>
        <p:spPr>
          <a:xfrm>
            <a:off x="6309360" y="3154680"/>
            <a:ext cx="2514600" cy="804672"/>
          </a:xfrm>
          <a:prstGeom prst="roundRect">
            <a:avLst>
              <a:gd name="adj" fmla="val 11364"/>
            </a:avLst>
          </a:prstGeom>
          <a:solidFill>
            <a:srgbClr val="FFFFFF"/>
          </a:solidFill>
          <a:ln w="6350">
            <a:solidFill>
              <a:srgbClr val="E2E8F0"/>
            </a:solidFill>
            <a:prstDash val="solid"/>
          </a:ln>
        </p:spPr>
      </p:sp>
      <p:sp>
        <p:nvSpPr>
          <p:cNvPr id="14" name="Text 11"/>
          <p:cNvSpPr/>
          <p:nvPr/>
        </p:nvSpPr>
        <p:spPr>
          <a:xfrm>
            <a:off x="6446520" y="3227832"/>
            <a:ext cx="2240280" cy="237744"/>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Workflow</a:t>
            </a:r>
            <a:endParaRPr lang="en-US" sz="1000" dirty="0"/>
          </a:p>
        </p:txBody>
      </p:sp>
      <p:sp>
        <p:nvSpPr>
          <p:cNvPr id="15" name="Text 12"/>
          <p:cNvSpPr/>
          <p:nvPr/>
        </p:nvSpPr>
        <p:spPr>
          <a:xfrm>
            <a:off x="6446520" y="3474720"/>
            <a:ext cx="2240280" cy="237744"/>
          </a:xfrm>
          <a:prstGeom prst="rect">
            <a:avLst/>
          </a:prstGeom>
          <a:noFill/>
          <a:ln/>
        </p:spPr>
        <p:txBody>
          <a:bodyPr wrap="square" lIns="0" tIns="0" rIns="0" bIns="0" rtlCol="0" anchor="ctr"/>
          <a:lstStyle/>
          <a:p>
            <a:pPr indent="0" marL="0">
              <a:buNone/>
            </a:pPr>
            <a:r>
              <a:rPr lang="en-US" sz="1200" b="1" dirty="0">
                <a:solidFill>
                  <a:srgbClr val="15803D"/>
                </a:solidFill>
                <a:latin typeface="Calibri" pitchFamily="34" charset="0"/>
                <a:ea typeface="Calibri" pitchFamily="34" charset="-122"/>
                <a:cs typeface="Calibri" pitchFamily="34" charset="-120"/>
              </a:rPr>
              <a:t>4 available</a:t>
            </a:r>
            <a:endParaRPr lang="en-US" sz="1200" dirty="0"/>
          </a:p>
        </p:txBody>
      </p:sp>
      <p:sp>
        <p:nvSpPr>
          <p:cNvPr id="16" name="Text 13"/>
          <p:cNvSpPr/>
          <p:nvPr/>
        </p:nvSpPr>
        <p:spPr>
          <a:xfrm>
            <a:off x="6446520" y="3703320"/>
            <a:ext cx="2240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Frappe coverage</a:t>
            </a:r>
            <a:endParaRPr lang="en-US" sz="850" dirty="0"/>
          </a:p>
        </p:txBody>
      </p:sp>
      <p:sp>
        <p:nvSpPr>
          <p:cNvPr id="17" name="Shape 14"/>
          <p:cNvSpPr/>
          <p:nvPr/>
        </p:nvSpPr>
        <p:spPr>
          <a:xfrm>
            <a:off x="6309360" y="4160520"/>
            <a:ext cx="2514600" cy="804672"/>
          </a:xfrm>
          <a:prstGeom prst="roundRect">
            <a:avLst>
              <a:gd name="adj" fmla="val 11364"/>
            </a:avLst>
          </a:prstGeom>
          <a:solidFill>
            <a:srgbClr val="FFFFFF"/>
          </a:solidFill>
          <a:ln w="6350">
            <a:solidFill>
              <a:srgbClr val="E2E8F0"/>
            </a:solidFill>
            <a:prstDash val="solid"/>
          </a:ln>
        </p:spPr>
      </p:sp>
      <p:sp>
        <p:nvSpPr>
          <p:cNvPr id="18" name="Text 15"/>
          <p:cNvSpPr/>
          <p:nvPr/>
        </p:nvSpPr>
        <p:spPr>
          <a:xfrm>
            <a:off x="6446520" y="4233672"/>
            <a:ext cx="2240280" cy="237744"/>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AI Pipeline</a:t>
            </a:r>
            <a:endParaRPr lang="en-US" sz="1000" dirty="0"/>
          </a:p>
        </p:txBody>
      </p:sp>
      <p:sp>
        <p:nvSpPr>
          <p:cNvPr id="19" name="Text 16"/>
          <p:cNvSpPr/>
          <p:nvPr/>
        </p:nvSpPr>
        <p:spPr>
          <a:xfrm>
            <a:off x="6446520" y="4480560"/>
            <a:ext cx="2240280" cy="237744"/>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18 to build</a:t>
            </a:r>
            <a:endParaRPr lang="en-US" sz="1200" dirty="0"/>
          </a:p>
        </p:txBody>
      </p:sp>
      <p:sp>
        <p:nvSpPr>
          <p:cNvPr id="20" name="Text 17"/>
          <p:cNvSpPr/>
          <p:nvPr/>
        </p:nvSpPr>
        <p:spPr>
          <a:xfrm>
            <a:off x="6446520" y="4709160"/>
            <a:ext cx="2240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Zero free — pure changAI</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Selected feature details — Frappe coverage vs build</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58200" cy="3840480"/>
        </p:xfrm>
        <a:graphic>
          <a:graphicData uri="http://schemas.openxmlformats.org/drawingml/2006/table">
            <a:tbl>
              <a:tblPr/>
              <a:tblGrid>
                <a:gridCol w="2560320"/>
                <a:gridCol w="1325880"/>
                <a:gridCol w="1188720"/>
                <a:gridCol w="1828800"/>
                <a:gridCol w="1554480"/>
              </a:tblGrid>
              <a:tr h="295422">
                <a:tc>
                  <a:txBody>
                    <a:bodyPr/>
                    <a:lstStyle/>
                    <a:p>
                      <a:pPr indent="0" marL="0">
                        <a:buNone/>
                      </a:pPr>
                      <a:r>
                        <a:rPr lang="en-US" sz="1200" b="1" dirty="0">
                          <a:solidFill>
                            <a:srgbClr val="FFFFFF"/>
                          </a:solidFill>
                        </a:rPr>
                        <a:t>Feature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C"/>
                    </a:solidFill>
                  </a:tcPr>
                </a:tc>
                <a:tc>
                  <a:txBody>
                    <a:bodyPr/>
                    <a:lstStyle/>
                    <a:p>
                      <a:pPr indent="0" marL="0">
                        <a:buNone/>
                      </a:pPr>
                      <a:r>
                        <a:rPr lang="en-US" sz="1200" b="1" dirty="0">
                          <a:solidFill>
                            <a:srgbClr val="FFFFFF"/>
                          </a:solidFill>
                        </a:rPr>
                        <a:t>Frappe Framework</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C"/>
                    </a:solidFill>
                  </a:tcPr>
                </a:tc>
                <a:tc>
                  <a:txBody>
                    <a:bodyPr/>
                    <a:lstStyle/>
                    <a:p>
                      <a:pPr indent="0" marL="0">
                        <a:buNone/>
                      </a:pPr>
                      <a:r>
                        <a:rPr lang="en-US" sz="1200" b="1" dirty="0">
                          <a:solidFill>
                            <a:srgbClr val="FFFFFF"/>
                          </a:solidFill>
                        </a:rPr>
                        <a:t>Frappe Drive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C"/>
                    </a:solidFill>
                  </a:tcPr>
                </a:tc>
                <a:tc>
                  <a:txBody>
                    <a:bodyPr/>
                    <a:lstStyle/>
                    <a:p>
                      <a:pPr indent="0" marL="0">
                        <a:buNone/>
                      </a:pPr>
                      <a:r>
                        <a:rPr lang="en-US" sz="1200" b="1" dirty="0">
                          <a:solidFill>
                            <a:srgbClr val="FFFFFF"/>
                          </a:solidFill>
                        </a:rPr>
                        <a:t>Other OSS</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C"/>
                    </a:solidFill>
                  </a:tcPr>
                </a:tc>
                <a:tc>
                  <a:txBody>
                    <a:bodyPr/>
                    <a:lstStyle/>
                    <a:p>
                      <a:pPr indent="0" marL="0">
                        <a:buNone/>
                      </a:pPr>
                      <a:r>
                        <a:rPr lang="en-US" sz="1200" b="1" dirty="0">
                          <a:solidFill>
                            <a:srgbClr val="FFFFFF"/>
                          </a:solidFill>
                        </a:rPr>
                        <a:t>Status</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E3C"/>
                    </a:solidFill>
                  </a:tcPr>
                </a:tc>
              </a:tr>
              <a:tr h="295422">
                <a:tc>
                  <a:txBody>
                    <a:bodyPr/>
                    <a:lstStyle/>
                    <a:p>
                      <a:pPr indent="0" marL="0">
                        <a:buNone/>
                      </a:pPr>
                      <a:r>
                        <a:rPr lang="en-US" sz="1200" dirty="0">
                          <a:solidFill>
                            <a:srgbClr val="000000"/>
                          </a:solidFill>
                        </a:rPr>
                        <a:t>File storage &amp; upload</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Y — native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Y — native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66534"/>
                          </a:solidFill>
                        </a:rPr>
                        <a:t>Available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95422">
                <a:tc>
                  <a:txBody>
                    <a:bodyPr/>
                    <a:lstStyle/>
                    <a:p>
                      <a:pPr indent="0" marL="0">
                        <a:buNone/>
                      </a:pPr>
                      <a:r>
                        <a:rPr lang="en-US" sz="1200" dirty="0">
                          <a:solidFill>
                            <a:srgbClr val="000000"/>
                          </a:solidFill>
                        </a:rPr>
                        <a:t>OCR text extraction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Tesseract 5 / OCRmyPDF</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92400E"/>
                          </a:solidFill>
                        </a:rPr>
                        <a:t>To Build</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295422">
                <a:tc>
                  <a:txBody>
                    <a:bodyPr/>
                    <a:lstStyle/>
                    <a:p>
                      <a:pPr indent="0" marL="0">
                        <a:buNone/>
                      </a:pPr>
                      <a:r>
                        <a:rPr lang="en-US" sz="1200" dirty="0">
                          <a:solidFill>
                            <a:srgbClr val="000000"/>
                          </a:solidFill>
                        </a:rPr>
                        <a:t>Vector embeddings</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pgvector + OpenAI / Ollama</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92400E"/>
                          </a:solidFill>
                        </a:rPr>
                        <a:t>To Build</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295422">
                <a:tc>
                  <a:txBody>
                    <a:bodyPr/>
                    <a:lstStyle/>
                    <a:p>
                      <a:pPr indent="0" marL="0">
                        <a:buNone/>
                      </a:pPr>
                      <a:r>
                        <a:rPr lang="en-US" sz="1200" dirty="0">
                          <a:solidFill>
                            <a:srgbClr val="000000"/>
                          </a:solidFill>
                        </a:rPr>
                        <a:t>changai_indexed column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92400E"/>
                          </a:solidFill>
                        </a:rPr>
                        <a:t>To Build</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295422">
                <a:tc>
                  <a:txBody>
                    <a:bodyPr/>
                    <a:lstStyle/>
                    <a:p>
                      <a:pPr indent="0" marL="0">
                        <a:buNone/>
                      </a:pPr>
                      <a:r>
                        <a:rPr lang="en-US" sz="1200" dirty="0">
                          <a:solidFill>
                            <a:srgbClr val="000000"/>
                          </a:solidFill>
                        </a:rPr>
                        <a:t>Semantic search</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pgvector · MeiliSearch</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92400E"/>
                          </a:solidFill>
                        </a:rPr>
                        <a:t>To Build</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295422">
                <a:tc>
                  <a:txBody>
                    <a:bodyPr/>
                    <a:lstStyle/>
                    <a:p>
                      <a:pPr indent="0" marL="0">
                        <a:buNone/>
                      </a:pPr>
                      <a:r>
                        <a:rPr lang="en-US" sz="1200" dirty="0">
                          <a:solidFill>
                            <a:srgbClr val="000000"/>
                          </a:solidFill>
                        </a:rPr>
                        <a:t>RAG chat engine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LLM (OpenAI / Ollama)</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92400E"/>
                          </a:solidFill>
                        </a:rPr>
                        <a:t>To Build</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295422">
                <a:tc>
                  <a:txBody>
                    <a:bodyPr/>
                    <a:lstStyle/>
                    <a:p>
                      <a:pPr indent="0" marL="0">
                        <a:buNone/>
                      </a:pPr>
                      <a:r>
                        <a:rPr lang="en-US" sz="1200" dirty="0">
                          <a:solidFill>
                            <a:srgbClr val="000000"/>
                          </a:solidFill>
                        </a:rPr>
                        <a:t>Workflow states</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Y — native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66534"/>
                          </a:solidFill>
                        </a:rPr>
                        <a:t>Available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95422">
                <a:tc>
                  <a:txBody>
                    <a:bodyPr/>
                    <a:lstStyle/>
                    <a:p>
                      <a:pPr indent="0" marL="0">
                        <a:buNone/>
                      </a:pPr>
                      <a:r>
                        <a:rPr lang="en-US" sz="1200" dirty="0">
                          <a:solidFill>
                            <a:srgbClr val="000000"/>
                          </a:solidFill>
                        </a:rPr>
                        <a:t>REST API + webhooks</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Y — native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E40AF"/>
                          </a:solidFill>
                        </a:rPr>
                        <a:t>Almost There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295422">
                <a:tc>
                  <a:txBody>
                    <a:bodyPr/>
                    <a:lstStyle/>
                    <a:p>
                      <a:pPr indent="0" marL="0">
                        <a:buNone/>
                      </a:pPr>
                      <a:r>
                        <a:rPr lang="en-US" sz="1200" dirty="0">
                          <a:solidFill>
                            <a:srgbClr val="000000"/>
                          </a:solidFill>
                        </a:rPr>
                        <a:t>RBAC permissions</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Y — native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Y — native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66534"/>
                          </a:solidFill>
                        </a:rPr>
                        <a:t>Available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295422">
                <a:tc>
                  <a:txBody>
                    <a:bodyPr/>
                    <a:lstStyle/>
                    <a:p>
                      <a:pPr indent="0" marL="0">
                        <a:buNone/>
                      </a:pPr>
                      <a:r>
                        <a:rPr lang="en-US" sz="1200" dirty="0">
                          <a:solidFill>
                            <a:srgbClr val="000000"/>
                          </a:solidFill>
                        </a:rPr>
                        <a:t>ERP entity matching</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spaCy / LLM prompt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92400E"/>
                          </a:solidFill>
                        </a:rPr>
                        <a:t>To Build</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295422">
                <a:tc>
                  <a:txBody>
                    <a:bodyPr/>
                    <a:lstStyle/>
                    <a:p>
                      <a:pPr indent="0" marL="0">
                        <a:buNone/>
                      </a:pPr>
                      <a:r>
                        <a:rPr lang="en-US" sz="1200" dirty="0">
                          <a:solidFill>
                            <a:srgbClr val="000000"/>
                          </a:solidFill>
                        </a:rPr>
                        <a:t>Retention policies</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92400E"/>
                          </a:solidFill>
                        </a:rPr>
                        <a:t>To Build</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295422">
                <a:tc>
                  <a:txBody>
                    <a:bodyPr/>
                    <a:lstStyle/>
                    <a:p>
                      <a:pPr indent="0" marL="0">
                        <a:buNone/>
                      </a:pPr>
                      <a:r>
                        <a:rPr lang="en-US" sz="1200" dirty="0">
                          <a:solidFill>
                            <a:srgbClr val="000000"/>
                          </a:solidFill>
                        </a:rPr>
                        <a:t>Audit logs</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Y — native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P — partial</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E40AF"/>
                          </a:solidFill>
                        </a:rPr>
                        <a:t>Almost There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F1E3C"/>
                </a:solidFill>
                <a:latin typeface="Calibri" pitchFamily="34" charset="0"/>
                <a:ea typeface="Calibri" pitchFamily="34" charset="-122"/>
                <a:cs typeface="Calibri" pitchFamily="34" charset="-120"/>
              </a:rPr>
              <a:t>Open source stack — what changAI is built on</a:t>
            </a:r>
            <a:endParaRPr lang="en-US" sz="2200" dirty="0"/>
          </a:p>
        </p:txBody>
      </p:sp>
      <p:sp>
        <p:nvSpPr>
          <p:cNvPr id="3" name="Shape 1"/>
          <p:cNvSpPr/>
          <p:nvPr/>
        </p:nvSpPr>
        <p:spPr>
          <a:xfrm>
            <a:off x="457200" y="804672"/>
            <a:ext cx="8229600" cy="0"/>
          </a:xfrm>
          <a:prstGeom prst="line">
            <a:avLst/>
          </a:prstGeom>
          <a:noFill/>
          <a:ln w="12700">
            <a:solidFill>
              <a:srgbClr val="E2E8F0"/>
            </a:solidFill>
            <a:prstDash val="solid"/>
          </a:ln>
        </p:spPr>
      </p:sp>
      <p:sp>
        <p:nvSpPr>
          <p:cNvPr id="4" name="Shape 2"/>
          <p:cNvSpPr/>
          <p:nvPr/>
        </p:nvSpPr>
        <p:spPr>
          <a:xfrm>
            <a:off x="457200" y="1097280"/>
            <a:ext cx="2697480" cy="1828800"/>
          </a:xfrm>
          <a:prstGeom prst="roundRect">
            <a:avLst>
              <a:gd name="adj" fmla="val 5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594360" y="1280160"/>
            <a:ext cx="320040" cy="320040"/>
          </a:xfrm>
          <a:prstGeom prst="ellipse">
            <a:avLst/>
          </a:prstGeom>
          <a:solidFill>
            <a:srgbClr val="0D9488"/>
          </a:solidFill>
          <a:ln w="12700">
            <a:solidFill>
              <a:srgbClr val="0D9488"/>
            </a:solidFill>
            <a:prstDash val="solid"/>
          </a:ln>
        </p:spPr>
      </p:sp>
      <p:sp>
        <p:nvSpPr>
          <p:cNvPr id="6" name="Text 4"/>
          <p:cNvSpPr/>
          <p:nvPr/>
        </p:nvSpPr>
        <p:spPr>
          <a:xfrm>
            <a:off x="1005840" y="1298448"/>
            <a:ext cx="2057400"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OCR &amp; Extraction</a:t>
            </a:r>
            <a:endParaRPr lang="en-US" sz="1100" dirty="0"/>
          </a:p>
        </p:txBody>
      </p:sp>
      <p:sp>
        <p:nvSpPr>
          <p:cNvPr id="7" name="Shape 5"/>
          <p:cNvSpPr/>
          <p:nvPr/>
        </p:nvSpPr>
        <p:spPr>
          <a:xfrm>
            <a:off x="594360" y="1737360"/>
            <a:ext cx="1188720" cy="256032"/>
          </a:xfrm>
          <a:prstGeom prst="roundRect">
            <a:avLst>
              <a:gd name="adj" fmla="val 25000"/>
            </a:avLst>
          </a:prstGeom>
          <a:solidFill>
            <a:srgbClr val="F8FAFC"/>
          </a:solidFill>
          <a:ln w="12700">
            <a:solidFill>
              <a:srgbClr val="E2E8F0"/>
            </a:solidFill>
            <a:prstDash val="solid"/>
          </a:ln>
        </p:spPr>
      </p:sp>
      <p:sp>
        <p:nvSpPr>
          <p:cNvPr id="8" name="Text 6"/>
          <p:cNvSpPr/>
          <p:nvPr/>
        </p:nvSpPr>
        <p:spPr>
          <a:xfrm>
            <a:off x="594360" y="173736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Tesseract 5</a:t>
            </a:r>
            <a:endParaRPr lang="en-US" sz="850" dirty="0"/>
          </a:p>
        </p:txBody>
      </p:sp>
      <p:sp>
        <p:nvSpPr>
          <p:cNvPr id="9" name="Shape 7"/>
          <p:cNvSpPr/>
          <p:nvPr/>
        </p:nvSpPr>
        <p:spPr>
          <a:xfrm>
            <a:off x="1892808" y="1737360"/>
            <a:ext cx="1188720" cy="256032"/>
          </a:xfrm>
          <a:prstGeom prst="roundRect">
            <a:avLst>
              <a:gd name="adj" fmla="val 25000"/>
            </a:avLst>
          </a:prstGeom>
          <a:solidFill>
            <a:srgbClr val="F8FAFC"/>
          </a:solidFill>
          <a:ln w="12700">
            <a:solidFill>
              <a:srgbClr val="E2E8F0"/>
            </a:solidFill>
            <a:prstDash val="solid"/>
          </a:ln>
        </p:spPr>
      </p:sp>
      <p:sp>
        <p:nvSpPr>
          <p:cNvPr id="10" name="Text 8"/>
          <p:cNvSpPr/>
          <p:nvPr/>
        </p:nvSpPr>
        <p:spPr>
          <a:xfrm>
            <a:off x="1892808" y="173736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OCRmyPDF</a:t>
            </a:r>
            <a:endParaRPr lang="en-US" sz="850" dirty="0"/>
          </a:p>
        </p:txBody>
      </p:sp>
      <p:sp>
        <p:nvSpPr>
          <p:cNvPr id="11" name="Shape 9"/>
          <p:cNvSpPr/>
          <p:nvPr/>
        </p:nvSpPr>
        <p:spPr>
          <a:xfrm>
            <a:off x="594360" y="2066544"/>
            <a:ext cx="1188720" cy="256032"/>
          </a:xfrm>
          <a:prstGeom prst="roundRect">
            <a:avLst>
              <a:gd name="adj" fmla="val 25000"/>
            </a:avLst>
          </a:prstGeom>
          <a:solidFill>
            <a:srgbClr val="F8FAFC"/>
          </a:solidFill>
          <a:ln w="12700">
            <a:solidFill>
              <a:srgbClr val="E2E8F0"/>
            </a:solidFill>
            <a:prstDash val="solid"/>
          </a:ln>
        </p:spPr>
      </p:sp>
      <p:sp>
        <p:nvSpPr>
          <p:cNvPr id="12" name="Text 10"/>
          <p:cNvSpPr/>
          <p:nvPr/>
        </p:nvSpPr>
        <p:spPr>
          <a:xfrm>
            <a:off x="594360" y="2066544"/>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pymupdf</a:t>
            </a:r>
            <a:endParaRPr lang="en-US" sz="850" dirty="0"/>
          </a:p>
        </p:txBody>
      </p:sp>
      <p:sp>
        <p:nvSpPr>
          <p:cNvPr id="13" name="Shape 11"/>
          <p:cNvSpPr/>
          <p:nvPr/>
        </p:nvSpPr>
        <p:spPr>
          <a:xfrm>
            <a:off x="1892808" y="2066544"/>
            <a:ext cx="1188720" cy="256032"/>
          </a:xfrm>
          <a:prstGeom prst="roundRect">
            <a:avLst>
              <a:gd name="adj" fmla="val 25000"/>
            </a:avLst>
          </a:prstGeom>
          <a:solidFill>
            <a:srgbClr val="F8FAFC"/>
          </a:solidFill>
          <a:ln w="12700">
            <a:solidFill>
              <a:srgbClr val="E2E8F0"/>
            </a:solidFill>
            <a:prstDash val="solid"/>
          </a:ln>
        </p:spPr>
      </p:sp>
      <p:sp>
        <p:nvSpPr>
          <p:cNvPr id="14" name="Text 12"/>
          <p:cNvSpPr/>
          <p:nvPr/>
        </p:nvSpPr>
        <p:spPr>
          <a:xfrm>
            <a:off x="1892808" y="2066544"/>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python-docx</a:t>
            </a:r>
            <a:endParaRPr lang="en-US" sz="850" dirty="0"/>
          </a:p>
        </p:txBody>
      </p:sp>
      <p:sp>
        <p:nvSpPr>
          <p:cNvPr id="15" name="Shape 13"/>
          <p:cNvSpPr/>
          <p:nvPr/>
        </p:nvSpPr>
        <p:spPr>
          <a:xfrm>
            <a:off x="594360" y="2395728"/>
            <a:ext cx="1188720" cy="256032"/>
          </a:xfrm>
          <a:prstGeom prst="roundRect">
            <a:avLst>
              <a:gd name="adj" fmla="val 25000"/>
            </a:avLst>
          </a:prstGeom>
          <a:solidFill>
            <a:srgbClr val="F8FAFC"/>
          </a:solidFill>
          <a:ln w="12700">
            <a:solidFill>
              <a:srgbClr val="E2E8F0"/>
            </a:solidFill>
            <a:prstDash val="solid"/>
          </a:ln>
        </p:spPr>
      </p:sp>
      <p:sp>
        <p:nvSpPr>
          <p:cNvPr id="16" name="Text 14"/>
          <p:cNvSpPr/>
          <p:nvPr/>
        </p:nvSpPr>
        <p:spPr>
          <a:xfrm>
            <a:off x="594360" y="2395728"/>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openpyxl</a:t>
            </a:r>
            <a:endParaRPr lang="en-US" sz="850" dirty="0"/>
          </a:p>
        </p:txBody>
      </p:sp>
      <p:sp>
        <p:nvSpPr>
          <p:cNvPr id="17" name="Shape 15"/>
          <p:cNvSpPr/>
          <p:nvPr/>
        </p:nvSpPr>
        <p:spPr>
          <a:xfrm>
            <a:off x="1892808" y="2395728"/>
            <a:ext cx="1188720" cy="256032"/>
          </a:xfrm>
          <a:prstGeom prst="roundRect">
            <a:avLst>
              <a:gd name="adj" fmla="val 25000"/>
            </a:avLst>
          </a:prstGeom>
          <a:solidFill>
            <a:srgbClr val="F8FAFC"/>
          </a:solidFill>
          <a:ln w="12700">
            <a:solidFill>
              <a:srgbClr val="E2E8F0"/>
            </a:solidFill>
            <a:prstDash val="solid"/>
          </a:ln>
        </p:spPr>
      </p:sp>
      <p:sp>
        <p:nvSpPr>
          <p:cNvPr id="18" name="Text 16"/>
          <p:cNvSpPr/>
          <p:nvPr/>
        </p:nvSpPr>
        <p:spPr>
          <a:xfrm>
            <a:off x="1892808" y="2395728"/>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mailparser</a:t>
            </a:r>
            <a:endParaRPr lang="en-US" sz="850" dirty="0"/>
          </a:p>
        </p:txBody>
      </p:sp>
      <p:sp>
        <p:nvSpPr>
          <p:cNvPr id="19" name="Shape 17"/>
          <p:cNvSpPr/>
          <p:nvPr/>
        </p:nvSpPr>
        <p:spPr>
          <a:xfrm>
            <a:off x="3310128" y="1097280"/>
            <a:ext cx="2697480" cy="1828800"/>
          </a:xfrm>
          <a:prstGeom prst="roundRect">
            <a:avLst>
              <a:gd name="adj" fmla="val 5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20" name="Shape 18"/>
          <p:cNvSpPr/>
          <p:nvPr/>
        </p:nvSpPr>
        <p:spPr>
          <a:xfrm>
            <a:off x="3447288" y="1280160"/>
            <a:ext cx="320040" cy="320040"/>
          </a:xfrm>
          <a:prstGeom prst="ellipse">
            <a:avLst/>
          </a:prstGeom>
          <a:solidFill>
            <a:srgbClr val="7C3AED"/>
          </a:solidFill>
          <a:ln w="12700">
            <a:solidFill>
              <a:srgbClr val="7C3AED"/>
            </a:solidFill>
            <a:prstDash val="solid"/>
          </a:ln>
        </p:spPr>
      </p:sp>
      <p:sp>
        <p:nvSpPr>
          <p:cNvPr id="21" name="Text 19"/>
          <p:cNvSpPr/>
          <p:nvPr/>
        </p:nvSpPr>
        <p:spPr>
          <a:xfrm>
            <a:off x="3858768" y="1298448"/>
            <a:ext cx="2057400"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AI &amp; Embeddings</a:t>
            </a:r>
            <a:endParaRPr lang="en-US" sz="1100" dirty="0"/>
          </a:p>
        </p:txBody>
      </p:sp>
      <p:sp>
        <p:nvSpPr>
          <p:cNvPr id="22" name="Shape 20"/>
          <p:cNvSpPr/>
          <p:nvPr/>
        </p:nvSpPr>
        <p:spPr>
          <a:xfrm>
            <a:off x="3447288" y="1737360"/>
            <a:ext cx="1188720" cy="256032"/>
          </a:xfrm>
          <a:prstGeom prst="roundRect">
            <a:avLst>
              <a:gd name="adj" fmla="val 25000"/>
            </a:avLst>
          </a:prstGeom>
          <a:solidFill>
            <a:srgbClr val="F8FAFC"/>
          </a:solidFill>
          <a:ln w="12700">
            <a:solidFill>
              <a:srgbClr val="E2E8F0"/>
            </a:solidFill>
            <a:prstDash val="solid"/>
          </a:ln>
        </p:spPr>
      </p:sp>
      <p:sp>
        <p:nvSpPr>
          <p:cNvPr id="23" name="Text 21"/>
          <p:cNvSpPr/>
          <p:nvPr/>
        </p:nvSpPr>
        <p:spPr>
          <a:xfrm>
            <a:off x="3447288" y="173736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pgvector</a:t>
            </a:r>
            <a:endParaRPr lang="en-US" sz="850" dirty="0"/>
          </a:p>
        </p:txBody>
      </p:sp>
      <p:sp>
        <p:nvSpPr>
          <p:cNvPr id="24" name="Shape 22"/>
          <p:cNvSpPr/>
          <p:nvPr/>
        </p:nvSpPr>
        <p:spPr>
          <a:xfrm>
            <a:off x="4745736" y="1737360"/>
            <a:ext cx="1188720" cy="256032"/>
          </a:xfrm>
          <a:prstGeom prst="roundRect">
            <a:avLst>
              <a:gd name="adj" fmla="val 25000"/>
            </a:avLst>
          </a:prstGeom>
          <a:solidFill>
            <a:srgbClr val="F8FAFC"/>
          </a:solidFill>
          <a:ln w="12700">
            <a:solidFill>
              <a:srgbClr val="E2E8F0"/>
            </a:solidFill>
            <a:prstDash val="solid"/>
          </a:ln>
        </p:spPr>
      </p:sp>
      <p:sp>
        <p:nvSpPr>
          <p:cNvPr id="25" name="Text 23"/>
          <p:cNvSpPr/>
          <p:nvPr/>
        </p:nvSpPr>
        <p:spPr>
          <a:xfrm>
            <a:off x="4745736" y="173736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Ollama</a:t>
            </a:r>
            <a:endParaRPr lang="en-US" sz="850" dirty="0"/>
          </a:p>
        </p:txBody>
      </p:sp>
      <p:sp>
        <p:nvSpPr>
          <p:cNvPr id="26" name="Shape 24"/>
          <p:cNvSpPr/>
          <p:nvPr/>
        </p:nvSpPr>
        <p:spPr>
          <a:xfrm>
            <a:off x="3447288" y="2066544"/>
            <a:ext cx="1188720" cy="256032"/>
          </a:xfrm>
          <a:prstGeom prst="roundRect">
            <a:avLst>
              <a:gd name="adj" fmla="val 25000"/>
            </a:avLst>
          </a:prstGeom>
          <a:solidFill>
            <a:srgbClr val="F8FAFC"/>
          </a:solidFill>
          <a:ln w="12700">
            <a:solidFill>
              <a:srgbClr val="E2E8F0"/>
            </a:solidFill>
            <a:prstDash val="solid"/>
          </a:ln>
        </p:spPr>
      </p:sp>
      <p:sp>
        <p:nvSpPr>
          <p:cNvPr id="27" name="Text 25"/>
          <p:cNvSpPr/>
          <p:nvPr/>
        </p:nvSpPr>
        <p:spPr>
          <a:xfrm>
            <a:off x="3447288" y="2066544"/>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spaCy</a:t>
            </a:r>
            <a:endParaRPr lang="en-US" sz="850" dirty="0"/>
          </a:p>
        </p:txBody>
      </p:sp>
      <p:sp>
        <p:nvSpPr>
          <p:cNvPr id="28" name="Shape 26"/>
          <p:cNvSpPr/>
          <p:nvPr/>
        </p:nvSpPr>
        <p:spPr>
          <a:xfrm>
            <a:off x="4745736" y="2066544"/>
            <a:ext cx="1188720" cy="256032"/>
          </a:xfrm>
          <a:prstGeom prst="roundRect">
            <a:avLst>
              <a:gd name="adj" fmla="val 25000"/>
            </a:avLst>
          </a:prstGeom>
          <a:solidFill>
            <a:srgbClr val="F8FAFC"/>
          </a:solidFill>
          <a:ln w="12700">
            <a:solidFill>
              <a:srgbClr val="E2E8F0"/>
            </a:solidFill>
            <a:prstDash val="solid"/>
          </a:ln>
        </p:spPr>
      </p:sp>
      <p:sp>
        <p:nvSpPr>
          <p:cNvPr id="29" name="Text 27"/>
          <p:cNvSpPr/>
          <p:nvPr/>
        </p:nvSpPr>
        <p:spPr>
          <a:xfrm>
            <a:off x="4745736" y="2066544"/>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sentence-transformers</a:t>
            </a:r>
            <a:endParaRPr lang="en-US" sz="850" dirty="0"/>
          </a:p>
        </p:txBody>
      </p:sp>
      <p:sp>
        <p:nvSpPr>
          <p:cNvPr id="30" name="Shape 28"/>
          <p:cNvSpPr/>
          <p:nvPr/>
        </p:nvSpPr>
        <p:spPr>
          <a:xfrm>
            <a:off x="3447288" y="2395728"/>
            <a:ext cx="1188720" cy="256032"/>
          </a:xfrm>
          <a:prstGeom prst="roundRect">
            <a:avLst>
              <a:gd name="adj" fmla="val 25000"/>
            </a:avLst>
          </a:prstGeom>
          <a:solidFill>
            <a:srgbClr val="F8FAFC"/>
          </a:solidFill>
          <a:ln w="12700">
            <a:solidFill>
              <a:srgbClr val="E2E8F0"/>
            </a:solidFill>
            <a:prstDash val="solid"/>
          </a:ln>
        </p:spPr>
      </p:sp>
      <p:sp>
        <p:nvSpPr>
          <p:cNvPr id="31" name="Text 29"/>
          <p:cNvSpPr/>
          <p:nvPr/>
        </p:nvSpPr>
        <p:spPr>
          <a:xfrm>
            <a:off x="3447288" y="2395728"/>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langchain (opt.)</a:t>
            </a:r>
            <a:endParaRPr lang="en-US" sz="850" dirty="0"/>
          </a:p>
        </p:txBody>
      </p:sp>
      <p:sp>
        <p:nvSpPr>
          <p:cNvPr id="32" name="Shape 30"/>
          <p:cNvSpPr/>
          <p:nvPr/>
        </p:nvSpPr>
        <p:spPr>
          <a:xfrm>
            <a:off x="6163056" y="1097280"/>
            <a:ext cx="2697480" cy="1828800"/>
          </a:xfrm>
          <a:prstGeom prst="roundRect">
            <a:avLst>
              <a:gd name="adj" fmla="val 5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33" name="Shape 31"/>
          <p:cNvSpPr/>
          <p:nvPr/>
        </p:nvSpPr>
        <p:spPr>
          <a:xfrm>
            <a:off x="6300216" y="1280160"/>
            <a:ext cx="320040" cy="320040"/>
          </a:xfrm>
          <a:prstGeom prst="ellipse">
            <a:avLst/>
          </a:prstGeom>
          <a:solidFill>
            <a:srgbClr val="1D4ED8"/>
          </a:solidFill>
          <a:ln w="12700">
            <a:solidFill>
              <a:srgbClr val="1D4ED8"/>
            </a:solidFill>
            <a:prstDash val="solid"/>
          </a:ln>
        </p:spPr>
      </p:sp>
      <p:sp>
        <p:nvSpPr>
          <p:cNvPr id="34" name="Text 32"/>
          <p:cNvSpPr/>
          <p:nvPr/>
        </p:nvSpPr>
        <p:spPr>
          <a:xfrm>
            <a:off x="6711696" y="1298448"/>
            <a:ext cx="2057400"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Search</a:t>
            </a:r>
            <a:endParaRPr lang="en-US" sz="1100" dirty="0"/>
          </a:p>
        </p:txBody>
      </p:sp>
      <p:sp>
        <p:nvSpPr>
          <p:cNvPr id="35" name="Shape 33"/>
          <p:cNvSpPr/>
          <p:nvPr/>
        </p:nvSpPr>
        <p:spPr>
          <a:xfrm>
            <a:off x="6300216" y="1737360"/>
            <a:ext cx="1188720" cy="256032"/>
          </a:xfrm>
          <a:prstGeom prst="roundRect">
            <a:avLst>
              <a:gd name="adj" fmla="val 25000"/>
            </a:avLst>
          </a:prstGeom>
          <a:solidFill>
            <a:srgbClr val="F8FAFC"/>
          </a:solidFill>
          <a:ln w="12700">
            <a:solidFill>
              <a:srgbClr val="E2E8F0"/>
            </a:solidFill>
            <a:prstDash val="solid"/>
          </a:ln>
        </p:spPr>
      </p:sp>
      <p:sp>
        <p:nvSpPr>
          <p:cNvPr id="36" name="Text 34"/>
          <p:cNvSpPr/>
          <p:nvPr/>
        </p:nvSpPr>
        <p:spPr>
          <a:xfrm>
            <a:off x="6300216" y="173736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MeiliSearch</a:t>
            </a:r>
            <a:endParaRPr lang="en-US" sz="850" dirty="0"/>
          </a:p>
        </p:txBody>
      </p:sp>
      <p:sp>
        <p:nvSpPr>
          <p:cNvPr id="37" name="Shape 35"/>
          <p:cNvSpPr/>
          <p:nvPr/>
        </p:nvSpPr>
        <p:spPr>
          <a:xfrm>
            <a:off x="7598664" y="1737360"/>
            <a:ext cx="1188720" cy="256032"/>
          </a:xfrm>
          <a:prstGeom prst="roundRect">
            <a:avLst>
              <a:gd name="adj" fmla="val 25000"/>
            </a:avLst>
          </a:prstGeom>
          <a:solidFill>
            <a:srgbClr val="F8FAFC"/>
          </a:solidFill>
          <a:ln w="12700">
            <a:solidFill>
              <a:srgbClr val="E2E8F0"/>
            </a:solidFill>
            <a:prstDash val="solid"/>
          </a:ln>
        </p:spPr>
      </p:sp>
      <p:sp>
        <p:nvSpPr>
          <p:cNvPr id="38" name="Text 36"/>
          <p:cNvSpPr/>
          <p:nvPr/>
        </p:nvSpPr>
        <p:spPr>
          <a:xfrm>
            <a:off x="7598664" y="173736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Elasticsearch (alt.)</a:t>
            </a:r>
            <a:endParaRPr lang="en-US" sz="850" dirty="0"/>
          </a:p>
        </p:txBody>
      </p:sp>
      <p:sp>
        <p:nvSpPr>
          <p:cNvPr id="39" name="Shape 37"/>
          <p:cNvSpPr/>
          <p:nvPr/>
        </p:nvSpPr>
        <p:spPr>
          <a:xfrm>
            <a:off x="457200" y="3200400"/>
            <a:ext cx="2816352" cy="1828800"/>
          </a:xfrm>
          <a:prstGeom prst="roundRect">
            <a:avLst>
              <a:gd name="adj" fmla="val 5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40" name="Shape 38"/>
          <p:cNvSpPr/>
          <p:nvPr/>
        </p:nvSpPr>
        <p:spPr>
          <a:xfrm>
            <a:off x="594360" y="3383280"/>
            <a:ext cx="320040" cy="320040"/>
          </a:xfrm>
          <a:prstGeom prst="ellipse">
            <a:avLst/>
          </a:prstGeom>
          <a:solidFill>
            <a:srgbClr val="D97706"/>
          </a:solidFill>
          <a:ln w="12700">
            <a:solidFill>
              <a:srgbClr val="D97706"/>
            </a:solidFill>
            <a:prstDash val="solid"/>
          </a:ln>
        </p:spPr>
      </p:sp>
      <p:sp>
        <p:nvSpPr>
          <p:cNvPr id="41" name="Text 39"/>
          <p:cNvSpPr/>
          <p:nvPr/>
        </p:nvSpPr>
        <p:spPr>
          <a:xfrm>
            <a:off x="1005840" y="3401568"/>
            <a:ext cx="2176272"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Infrastructure</a:t>
            </a:r>
            <a:endParaRPr lang="en-US" sz="1100" dirty="0"/>
          </a:p>
        </p:txBody>
      </p:sp>
      <p:sp>
        <p:nvSpPr>
          <p:cNvPr id="42" name="Shape 40"/>
          <p:cNvSpPr/>
          <p:nvPr/>
        </p:nvSpPr>
        <p:spPr>
          <a:xfrm>
            <a:off x="594360" y="3840480"/>
            <a:ext cx="1188720" cy="256032"/>
          </a:xfrm>
          <a:prstGeom prst="roundRect">
            <a:avLst>
              <a:gd name="adj" fmla="val 25000"/>
            </a:avLst>
          </a:prstGeom>
          <a:solidFill>
            <a:srgbClr val="F8FAFC"/>
          </a:solidFill>
          <a:ln w="12700">
            <a:solidFill>
              <a:srgbClr val="E2E8F0"/>
            </a:solidFill>
            <a:prstDash val="solid"/>
          </a:ln>
        </p:spPr>
      </p:sp>
      <p:sp>
        <p:nvSpPr>
          <p:cNvPr id="43" name="Text 41"/>
          <p:cNvSpPr/>
          <p:nvPr/>
        </p:nvSpPr>
        <p:spPr>
          <a:xfrm>
            <a:off x="594360" y="384048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inotify-tools</a:t>
            </a:r>
            <a:endParaRPr lang="en-US" sz="850" dirty="0"/>
          </a:p>
        </p:txBody>
      </p:sp>
      <p:sp>
        <p:nvSpPr>
          <p:cNvPr id="44" name="Shape 42"/>
          <p:cNvSpPr/>
          <p:nvPr/>
        </p:nvSpPr>
        <p:spPr>
          <a:xfrm>
            <a:off x="1892808" y="3840480"/>
            <a:ext cx="1188720" cy="256032"/>
          </a:xfrm>
          <a:prstGeom prst="roundRect">
            <a:avLst>
              <a:gd name="adj" fmla="val 25000"/>
            </a:avLst>
          </a:prstGeom>
          <a:solidFill>
            <a:srgbClr val="F8FAFC"/>
          </a:solidFill>
          <a:ln w="12700">
            <a:solidFill>
              <a:srgbClr val="E2E8F0"/>
            </a:solidFill>
            <a:prstDash val="solid"/>
          </a:ln>
        </p:spPr>
      </p:sp>
      <p:sp>
        <p:nvSpPr>
          <p:cNvPr id="45" name="Text 43"/>
          <p:cNvSpPr/>
          <p:nvPr/>
        </p:nvSpPr>
        <p:spPr>
          <a:xfrm>
            <a:off x="1892808" y="384048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wsgidav</a:t>
            </a:r>
            <a:endParaRPr lang="en-US" sz="850" dirty="0"/>
          </a:p>
        </p:txBody>
      </p:sp>
      <p:sp>
        <p:nvSpPr>
          <p:cNvPr id="46" name="Shape 44"/>
          <p:cNvSpPr/>
          <p:nvPr/>
        </p:nvSpPr>
        <p:spPr>
          <a:xfrm>
            <a:off x="594360" y="4169664"/>
            <a:ext cx="1188720" cy="256032"/>
          </a:xfrm>
          <a:prstGeom prst="roundRect">
            <a:avLst>
              <a:gd name="adj" fmla="val 25000"/>
            </a:avLst>
          </a:prstGeom>
          <a:solidFill>
            <a:srgbClr val="F8FAFC"/>
          </a:solidFill>
          <a:ln w="12700">
            <a:solidFill>
              <a:srgbClr val="E2E8F0"/>
            </a:solidFill>
            <a:prstDash val="solid"/>
          </a:ln>
        </p:spPr>
      </p:sp>
      <p:sp>
        <p:nvSpPr>
          <p:cNvPr id="47" name="Text 45"/>
          <p:cNvSpPr/>
          <p:nvPr/>
        </p:nvSpPr>
        <p:spPr>
          <a:xfrm>
            <a:off x="594360" y="4169664"/>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WebAuthn</a:t>
            </a:r>
            <a:endParaRPr lang="en-US" sz="850" dirty="0"/>
          </a:p>
        </p:txBody>
      </p:sp>
      <p:sp>
        <p:nvSpPr>
          <p:cNvPr id="48" name="Shape 46"/>
          <p:cNvSpPr/>
          <p:nvPr/>
        </p:nvSpPr>
        <p:spPr>
          <a:xfrm>
            <a:off x="1892808" y="4169664"/>
            <a:ext cx="1188720" cy="256032"/>
          </a:xfrm>
          <a:prstGeom prst="roundRect">
            <a:avLst>
              <a:gd name="adj" fmla="val 25000"/>
            </a:avLst>
          </a:prstGeom>
          <a:solidFill>
            <a:srgbClr val="F8FAFC"/>
          </a:solidFill>
          <a:ln w="12700">
            <a:solidFill>
              <a:srgbClr val="E2E8F0"/>
            </a:solidFill>
            <a:prstDash val="solid"/>
          </a:ln>
        </p:spPr>
      </p:sp>
      <p:sp>
        <p:nvSpPr>
          <p:cNvPr id="49" name="Text 47"/>
          <p:cNvSpPr/>
          <p:nvPr/>
        </p:nvSpPr>
        <p:spPr>
          <a:xfrm>
            <a:off x="1892808" y="4169664"/>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Jinja2</a:t>
            </a:r>
            <a:endParaRPr lang="en-US" sz="850" dirty="0"/>
          </a:p>
        </p:txBody>
      </p:sp>
      <p:sp>
        <p:nvSpPr>
          <p:cNvPr id="50" name="Shape 48"/>
          <p:cNvSpPr/>
          <p:nvPr/>
        </p:nvSpPr>
        <p:spPr>
          <a:xfrm>
            <a:off x="594360" y="4498848"/>
            <a:ext cx="1188720" cy="256032"/>
          </a:xfrm>
          <a:prstGeom prst="roundRect">
            <a:avLst>
              <a:gd name="adj" fmla="val 25000"/>
            </a:avLst>
          </a:prstGeom>
          <a:solidFill>
            <a:srgbClr val="F8FAFC"/>
          </a:solidFill>
          <a:ln w="12700">
            <a:solidFill>
              <a:srgbClr val="E2E8F0"/>
            </a:solidFill>
            <a:prstDash val="solid"/>
          </a:ln>
        </p:spPr>
      </p:sp>
      <p:sp>
        <p:nvSpPr>
          <p:cNvPr id="51" name="Text 49"/>
          <p:cNvSpPr/>
          <p:nvPr/>
        </p:nvSpPr>
        <p:spPr>
          <a:xfrm>
            <a:off x="594360" y="4498848"/>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sharp</a:t>
            </a:r>
            <a:endParaRPr lang="en-US" sz="850" dirty="0"/>
          </a:p>
        </p:txBody>
      </p:sp>
      <p:sp>
        <p:nvSpPr>
          <p:cNvPr id="52" name="Shape 50"/>
          <p:cNvSpPr/>
          <p:nvPr/>
        </p:nvSpPr>
        <p:spPr>
          <a:xfrm>
            <a:off x="3383280" y="3200400"/>
            <a:ext cx="2651760" cy="1828800"/>
          </a:xfrm>
          <a:prstGeom prst="roundRect">
            <a:avLst>
              <a:gd name="adj" fmla="val 5000"/>
            </a:avLst>
          </a:prstGeom>
          <a:solidFill>
            <a:srgbClr val="FFFF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53" name="Shape 51"/>
          <p:cNvSpPr/>
          <p:nvPr/>
        </p:nvSpPr>
        <p:spPr>
          <a:xfrm>
            <a:off x="3520440" y="3383280"/>
            <a:ext cx="320040" cy="320040"/>
          </a:xfrm>
          <a:prstGeom prst="ellipse">
            <a:avLst/>
          </a:prstGeom>
          <a:solidFill>
            <a:srgbClr val="15803D"/>
          </a:solidFill>
          <a:ln w="12700">
            <a:solidFill>
              <a:srgbClr val="15803D"/>
            </a:solidFill>
            <a:prstDash val="solid"/>
          </a:ln>
        </p:spPr>
      </p:sp>
      <p:sp>
        <p:nvSpPr>
          <p:cNvPr id="54" name="Text 52"/>
          <p:cNvSpPr/>
          <p:nvPr/>
        </p:nvSpPr>
        <p:spPr>
          <a:xfrm>
            <a:off x="3931920" y="3401568"/>
            <a:ext cx="2011680" cy="274320"/>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Frontend / Viewer</a:t>
            </a:r>
            <a:endParaRPr lang="en-US" sz="1100" dirty="0"/>
          </a:p>
        </p:txBody>
      </p:sp>
      <p:sp>
        <p:nvSpPr>
          <p:cNvPr id="55" name="Shape 53"/>
          <p:cNvSpPr/>
          <p:nvPr/>
        </p:nvSpPr>
        <p:spPr>
          <a:xfrm>
            <a:off x="3520440" y="3840480"/>
            <a:ext cx="1188720" cy="256032"/>
          </a:xfrm>
          <a:prstGeom prst="roundRect">
            <a:avLst>
              <a:gd name="adj" fmla="val 25000"/>
            </a:avLst>
          </a:prstGeom>
          <a:solidFill>
            <a:srgbClr val="F8FAFC"/>
          </a:solidFill>
          <a:ln w="12700">
            <a:solidFill>
              <a:srgbClr val="E2E8F0"/>
            </a:solidFill>
            <a:prstDash val="solid"/>
          </a:ln>
        </p:spPr>
      </p:sp>
      <p:sp>
        <p:nvSpPr>
          <p:cNvPr id="56" name="Text 54"/>
          <p:cNvSpPr/>
          <p:nvPr/>
        </p:nvSpPr>
        <p:spPr>
          <a:xfrm>
            <a:off x="3520440" y="384048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PDF.js</a:t>
            </a:r>
            <a:endParaRPr lang="en-US" sz="850" dirty="0"/>
          </a:p>
        </p:txBody>
      </p:sp>
      <p:sp>
        <p:nvSpPr>
          <p:cNvPr id="57" name="Shape 55"/>
          <p:cNvSpPr/>
          <p:nvPr/>
        </p:nvSpPr>
        <p:spPr>
          <a:xfrm>
            <a:off x="4818888" y="3840480"/>
            <a:ext cx="1188720" cy="256032"/>
          </a:xfrm>
          <a:prstGeom prst="roundRect">
            <a:avLst>
              <a:gd name="adj" fmla="val 25000"/>
            </a:avLst>
          </a:prstGeom>
          <a:solidFill>
            <a:srgbClr val="F8FAFC"/>
          </a:solidFill>
          <a:ln w="12700">
            <a:solidFill>
              <a:srgbClr val="E2E8F0"/>
            </a:solidFill>
            <a:prstDash val="solid"/>
          </a:ln>
        </p:spPr>
      </p:sp>
      <p:sp>
        <p:nvSpPr>
          <p:cNvPr id="58" name="Text 56"/>
          <p:cNvSpPr/>
          <p:nvPr/>
        </p:nvSpPr>
        <p:spPr>
          <a:xfrm>
            <a:off x="4818888" y="3840480"/>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Annotorious</a:t>
            </a:r>
            <a:endParaRPr lang="en-US" sz="850" dirty="0"/>
          </a:p>
        </p:txBody>
      </p:sp>
      <p:sp>
        <p:nvSpPr>
          <p:cNvPr id="59" name="Shape 57"/>
          <p:cNvSpPr/>
          <p:nvPr/>
        </p:nvSpPr>
        <p:spPr>
          <a:xfrm>
            <a:off x="3520440" y="4169664"/>
            <a:ext cx="1188720" cy="256032"/>
          </a:xfrm>
          <a:prstGeom prst="roundRect">
            <a:avLst>
              <a:gd name="adj" fmla="val 25000"/>
            </a:avLst>
          </a:prstGeom>
          <a:solidFill>
            <a:srgbClr val="F8FAFC"/>
          </a:solidFill>
          <a:ln w="12700">
            <a:solidFill>
              <a:srgbClr val="E2E8F0"/>
            </a:solidFill>
            <a:prstDash val="solid"/>
          </a:ln>
        </p:spPr>
      </p:sp>
      <p:sp>
        <p:nvSpPr>
          <p:cNvPr id="60" name="Text 58"/>
          <p:cNvSpPr/>
          <p:nvPr/>
        </p:nvSpPr>
        <p:spPr>
          <a:xfrm>
            <a:off x="3520440" y="4169664"/>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Office.js</a:t>
            </a:r>
            <a:endParaRPr lang="en-US" sz="850" dirty="0"/>
          </a:p>
        </p:txBody>
      </p:sp>
      <p:sp>
        <p:nvSpPr>
          <p:cNvPr id="61" name="Shape 59"/>
          <p:cNvSpPr/>
          <p:nvPr/>
        </p:nvSpPr>
        <p:spPr>
          <a:xfrm>
            <a:off x="4818888" y="4169664"/>
            <a:ext cx="1188720" cy="256032"/>
          </a:xfrm>
          <a:prstGeom prst="roundRect">
            <a:avLst>
              <a:gd name="adj" fmla="val 25000"/>
            </a:avLst>
          </a:prstGeom>
          <a:solidFill>
            <a:srgbClr val="F8FAFC"/>
          </a:solidFill>
          <a:ln w="12700">
            <a:solidFill>
              <a:srgbClr val="E2E8F0"/>
            </a:solidFill>
            <a:prstDash val="solid"/>
          </a:ln>
        </p:spPr>
      </p:sp>
      <p:sp>
        <p:nvSpPr>
          <p:cNvPr id="62" name="Text 60"/>
          <p:cNvSpPr/>
          <p:nvPr/>
        </p:nvSpPr>
        <p:spPr>
          <a:xfrm>
            <a:off x="4818888" y="4169664"/>
            <a:ext cx="1188720" cy="256032"/>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slack-bolt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1D4ED8">
              <a:alpha val="18000"/>
            </a:srgbClr>
          </a:solidFill>
          <a:ln w="12700">
            <a:solidFill>
              <a:srgbClr val="1D4ED8">
                <a:alpha val="18000"/>
              </a:srgbClr>
            </a:solidFill>
            <a:prstDash val="solid"/>
          </a:ln>
        </p:spPr>
      </p:sp>
      <p:sp>
        <p:nvSpPr>
          <p:cNvPr id="3" name="Shape 1"/>
          <p:cNvSpPr/>
          <p:nvPr/>
        </p:nvSpPr>
        <p:spPr>
          <a:xfrm>
            <a:off x="7132320" y="3474720"/>
            <a:ext cx="2743200" cy="2743200"/>
          </a:xfrm>
          <a:prstGeom prst="ellipse">
            <a:avLst/>
          </a:prstGeom>
          <a:solidFill>
            <a:srgbClr val="0D9488">
              <a:alpha val="15000"/>
            </a:srgbClr>
          </a:solidFill>
          <a:ln w="12700">
            <a:solidFill>
              <a:srgbClr val="0D9488">
                <a:alpha val="15000"/>
              </a:srgbClr>
            </a:solidFill>
            <a:prstDash val="solid"/>
          </a:ln>
        </p:spPr>
      </p:sp>
      <p:sp>
        <p:nvSpPr>
          <p:cNvPr id="4" name="Text 2"/>
          <p:cNvSpPr/>
          <p:nvPr/>
        </p:nvSpPr>
        <p:spPr>
          <a:xfrm>
            <a:off x="548640" y="640080"/>
            <a:ext cx="77724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Recommended build order</a:t>
            </a:r>
            <a:endParaRPr lang="en-US" sz="3000" dirty="0"/>
          </a:p>
        </p:txBody>
      </p:sp>
      <p:sp>
        <p:nvSpPr>
          <p:cNvPr id="5" name="Shape 3"/>
          <p:cNvSpPr/>
          <p:nvPr/>
        </p:nvSpPr>
        <p:spPr>
          <a:xfrm>
            <a:off x="457200" y="1417320"/>
            <a:ext cx="4160520" cy="987552"/>
          </a:xfrm>
          <a:prstGeom prst="roundRect">
            <a:avLst>
              <a:gd name="adj" fmla="val 9259"/>
            </a:avLst>
          </a:prstGeom>
          <a:solidFill>
            <a:srgbClr val="FFFFFF">
              <a:alpha val="8000"/>
            </a:srgbClr>
          </a:solidFill>
          <a:ln w="12700">
            <a:solidFill>
              <a:srgbClr val="FFFFFF">
                <a:alpha val="25000"/>
              </a:srgbClr>
            </a:solidFill>
            <a:prstDash val="solid"/>
          </a:ln>
        </p:spPr>
      </p:sp>
      <p:sp>
        <p:nvSpPr>
          <p:cNvPr id="6" name="Shape 4"/>
          <p:cNvSpPr/>
          <p:nvPr/>
        </p:nvSpPr>
        <p:spPr>
          <a:xfrm>
            <a:off x="594360" y="1691640"/>
            <a:ext cx="402336" cy="402336"/>
          </a:xfrm>
          <a:prstGeom prst="ellipse">
            <a:avLst/>
          </a:prstGeom>
          <a:solidFill>
            <a:srgbClr val="0D9488"/>
          </a:solidFill>
          <a:ln w="12700">
            <a:solidFill>
              <a:srgbClr val="0D9488"/>
            </a:solidFill>
            <a:prstDash val="solid"/>
          </a:ln>
        </p:spPr>
      </p:sp>
      <p:sp>
        <p:nvSpPr>
          <p:cNvPr id="7" name="Text 5"/>
          <p:cNvSpPr/>
          <p:nvPr/>
        </p:nvSpPr>
        <p:spPr>
          <a:xfrm>
            <a:off x="594360" y="1709928"/>
            <a:ext cx="402336"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15568" y="1527048"/>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GDoc Document DocType</a:t>
            </a:r>
            <a:endParaRPr lang="en-US" sz="1100" dirty="0"/>
          </a:p>
        </p:txBody>
      </p:sp>
      <p:sp>
        <p:nvSpPr>
          <p:cNvPr id="9" name="Text 7"/>
          <p:cNvSpPr/>
          <p:nvPr/>
        </p:nvSpPr>
        <p:spPr>
          <a:xfrm>
            <a:off x="1115568" y="1819656"/>
            <a:ext cx="3337560" cy="457200"/>
          </a:xfrm>
          <a:prstGeom prst="rect">
            <a:avLst/>
          </a:prstGeom>
          <a:noFill/>
          <a:ln/>
        </p:spPr>
        <p:txBody>
          <a:bodyPr wrap="square" lIns="0" tIns="0" rIns="0" bIns="0" rtlCol="0" anchor="ctr"/>
          <a:lstStyle/>
          <a:p>
            <a:pPr indent="0" marL="0">
              <a:buNone/>
            </a:pPr>
            <a:r>
              <a:rPr lang="en-US" sz="900" dirty="0">
                <a:solidFill>
                  <a:srgbClr val="93C5FD"/>
                </a:solidFill>
                <a:latin typeface="Calibri" pitchFamily="34" charset="0"/>
                <a:ea typeface="Calibri" pitchFamily="34" charset="-122"/>
                <a:cs typeface="Calibri" pitchFamily="34" charset="-120"/>
              </a:rPr>
              <a:t>The changAI column schema — unblocks everything downstream</a:t>
            </a:r>
            <a:endParaRPr lang="en-US" sz="900" dirty="0"/>
          </a:p>
        </p:txBody>
      </p:sp>
      <p:sp>
        <p:nvSpPr>
          <p:cNvPr id="10" name="Shape 8"/>
          <p:cNvSpPr/>
          <p:nvPr/>
        </p:nvSpPr>
        <p:spPr>
          <a:xfrm>
            <a:off x="4800600" y="1417320"/>
            <a:ext cx="4160520" cy="987552"/>
          </a:xfrm>
          <a:prstGeom prst="roundRect">
            <a:avLst>
              <a:gd name="adj" fmla="val 9259"/>
            </a:avLst>
          </a:prstGeom>
          <a:solidFill>
            <a:srgbClr val="FFFFFF">
              <a:alpha val="8000"/>
            </a:srgbClr>
          </a:solidFill>
          <a:ln w="12700">
            <a:solidFill>
              <a:srgbClr val="FFFFFF">
                <a:alpha val="25000"/>
              </a:srgbClr>
            </a:solidFill>
            <a:prstDash val="solid"/>
          </a:ln>
        </p:spPr>
      </p:sp>
      <p:sp>
        <p:nvSpPr>
          <p:cNvPr id="11" name="Shape 9"/>
          <p:cNvSpPr/>
          <p:nvPr/>
        </p:nvSpPr>
        <p:spPr>
          <a:xfrm>
            <a:off x="4937760" y="1691640"/>
            <a:ext cx="402336" cy="402336"/>
          </a:xfrm>
          <a:prstGeom prst="ellipse">
            <a:avLst/>
          </a:prstGeom>
          <a:solidFill>
            <a:srgbClr val="1D4ED8"/>
          </a:solidFill>
          <a:ln w="12700">
            <a:solidFill>
              <a:srgbClr val="1D4ED8"/>
            </a:solidFill>
            <a:prstDash val="solid"/>
          </a:ln>
        </p:spPr>
      </p:sp>
      <p:sp>
        <p:nvSpPr>
          <p:cNvPr id="12" name="Text 10"/>
          <p:cNvSpPr/>
          <p:nvPr/>
        </p:nvSpPr>
        <p:spPr>
          <a:xfrm>
            <a:off x="4937760" y="1709928"/>
            <a:ext cx="402336"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5458968" y="1527048"/>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OCR &amp; extraction pipeline</a:t>
            </a:r>
            <a:endParaRPr lang="en-US" sz="1100" dirty="0"/>
          </a:p>
        </p:txBody>
      </p:sp>
      <p:sp>
        <p:nvSpPr>
          <p:cNvPr id="14" name="Text 12"/>
          <p:cNvSpPr/>
          <p:nvPr/>
        </p:nvSpPr>
        <p:spPr>
          <a:xfrm>
            <a:off x="5458968" y="1819656"/>
            <a:ext cx="3337560" cy="457200"/>
          </a:xfrm>
          <a:prstGeom prst="rect">
            <a:avLst/>
          </a:prstGeom>
          <a:noFill/>
          <a:ln/>
        </p:spPr>
        <p:txBody>
          <a:bodyPr wrap="square" lIns="0" tIns="0" rIns="0" bIns="0" rtlCol="0" anchor="ctr"/>
          <a:lstStyle/>
          <a:p>
            <a:pPr indent="0" marL="0">
              <a:buNone/>
            </a:pPr>
            <a:r>
              <a:rPr lang="en-US" sz="900" dirty="0">
                <a:solidFill>
                  <a:srgbClr val="93C5FD"/>
                </a:solidFill>
                <a:latin typeface="Calibri" pitchFamily="34" charset="0"/>
                <a:ea typeface="Calibri" pitchFamily="34" charset="-122"/>
                <a:cs typeface="Calibri" pitchFamily="34" charset="-120"/>
              </a:rPr>
              <a:t>Tesseract + native extractors + quality gate + RQ job</a:t>
            </a:r>
            <a:endParaRPr lang="en-US" sz="900" dirty="0"/>
          </a:p>
        </p:txBody>
      </p:sp>
      <p:sp>
        <p:nvSpPr>
          <p:cNvPr id="15" name="Shape 13"/>
          <p:cNvSpPr/>
          <p:nvPr/>
        </p:nvSpPr>
        <p:spPr>
          <a:xfrm>
            <a:off x="457200" y="2532888"/>
            <a:ext cx="4160520" cy="987552"/>
          </a:xfrm>
          <a:prstGeom prst="roundRect">
            <a:avLst>
              <a:gd name="adj" fmla="val 9259"/>
            </a:avLst>
          </a:prstGeom>
          <a:solidFill>
            <a:srgbClr val="FFFFFF">
              <a:alpha val="8000"/>
            </a:srgbClr>
          </a:solidFill>
          <a:ln w="12700">
            <a:solidFill>
              <a:srgbClr val="FFFFFF">
                <a:alpha val="25000"/>
              </a:srgbClr>
            </a:solidFill>
            <a:prstDash val="solid"/>
          </a:ln>
        </p:spPr>
      </p:sp>
      <p:sp>
        <p:nvSpPr>
          <p:cNvPr id="16" name="Shape 14"/>
          <p:cNvSpPr/>
          <p:nvPr/>
        </p:nvSpPr>
        <p:spPr>
          <a:xfrm>
            <a:off x="594360" y="2807208"/>
            <a:ext cx="402336" cy="402336"/>
          </a:xfrm>
          <a:prstGeom prst="ellipse">
            <a:avLst/>
          </a:prstGeom>
          <a:solidFill>
            <a:srgbClr val="7C3AED"/>
          </a:solidFill>
          <a:ln w="12700">
            <a:solidFill>
              <a:srgbClr val="7C3AED"/>
            </a:solidFill>
            <a:prstDash val="solid"/>
          </a:ln>
        </p:spPr>
      </p:sp>
      <p:sp>
        <p:nvSpPr>
          <p:cNvPr id="17" name="Text 15"/>
          <p:cNvSpPr/>
          <p:nvPr/>
        </p:nvSpPr>
        <p:spPr>
          <a:xfrm>
            <a:off x="594360" y="2825496"/>
            <a:ext cx="402336"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15568" y="2642616"/>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Embedding + pgvector store</a:t>
            </a:r>
            <a:endParaRPr lang="en-US" sz="1100" dirty="0"/>
          </a:p>
        </p:txBody>
      </p:sp>
      <p:sp>
        <p:nvSpPr>
          <p:cNvPr id="19" name="Text 17"/>
          <p:cNvSpPr/>
          <p:nvPr/>
        </p:nvSpPr>
        <p:spPr>
          <a:xfrm>
            <a:off x="1115568" y="2935224"/>
            <a:ext cx="3337560" cy="457200"/>
          </a:xfrm>
          <a:prstGeom prst="rect">
            <a:avLst/>
          </a:prstGeom>
          <a:noFill/>
          <a:ln/>
        </p:spPr>
        <p:txBody>
          <a:bodyPr wrap="square" lIns="0" tIns="0" rIns="0" bIns="0" rtlCol="0" anchor="ctr"/>
          <a:lstStyle/>
          <a:p>
            <a:pPr indent="0" marL="0">
              <a:buNone/>
            </a:pPr>
            <a:r>
              <a:rPr lang="en-US" sz="900" dirty="0">
                <a:solidFill>
                  <a:srgbClr val="93C5FD"/>
                </a:solidFill>
                <a:latin typeface="Calibri" pitchFamily="34" charset="0"/>
                <a:ea typeface="Calibri" pitchFamily="34" charset="-122"/>
                <a:cs typeface="Calibri" pitchFamily="34" charset="-120"/>
              </a:rPr>
              <a:t>Chunking, embedding, vector storage, incremental re-index</a:t>
            </a:r>
            <a:endParaRPr lang="en-US" sz="900" dirty="0"/>
          </a:p>
        </p:txBody>
      </p:sp>
      <p:sp>
        <p:nvSpPr>
          <p:cNvPr id="20" name="Shape 18"/>
          <p:cNvSpPr/>
          <p:nvPr/>
        </p:nvSpPr>
        <p:spPr>
          <a:xfrm>
            <a:off x="4800600" y="2532888"/>
            <a:ext cx="4160520" cy="987552"/>
          </a:xfrm>
          <a:prstGeom prst="roundRect">
            <a:avLst>
              <a:gd name="adj" fmla="val 9259"/>
            </a:avLst>
          </a:prstGeom>
          <a:solidFill>
            <a:srgbClr val="FFFFFF">
              <a:alpha val="8000"/>
            </a:srgbClr>
          </a:solidFill>
          <a:ln w="12700">
            <a:solidFill>
              <a:srgbClr val="FFFFFF">
                <a:alpha val="25000"/>
              </a:srgbClr>
            </a:solidFill>
            <a:prstDash val="solid"/>
          </a:ln>
        </p:spPr>
      </p:sp>
      <p:sp>
        <p:nvSpPr>
          <p:cNvPr id="21" name="Shape 19"/>
          <p:cNvSpPr/>
          <p:nvPr/>
        </p:nvSpPr>
        <p:spPr>
          <a:xfrm>
            <a:off x="4937760" y="2807208"/>
            <a:ext cx="402336" cy="402336"/>
          </a:xfrm>
          <a:prstGeom prst="ellipse">
            <a:avLst/>
          </a:prstGeom>
          <a:solidFill>
            <a:srgbClr val="D97706"/>
          </a:solidFill>
          <a:ln w="12700">
            <a:solidFill>
              <a:srgbClr val="D97706"/>
            </a:solidFill>
            <a:prstDash val="solid"/>
          </a:ln>
        </p:spPr>
      </p:sp>
      <p:sp>
        <p:nvSpPr>
          <p:cNvPr id="22" name="Text 20"/>
          <p:cNvSpPr/>
          <p:nvPr/>
        </p:nvSpPr>
        <p:spPr>
          <a:xfrm>
            <a:off x="4937760" y="2825496"/>
            <a:ext cx="402336"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5458968" y="2642616"/>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Search (full-text + semantic)</a:t>
            </a:r>
            <a:endParaRPr lang="en-US" sz="1100" dirty="0"/>
          </a:p>
        </p:txBody>
      </p:sp>
      <p:sp>
        <p:nvSpPr>
          <p:cNvPr id="24" name="Text 22"/>
          <p:cNvSpPr/>
          <p:nvPr/>
        </p:nvSpPr>
        <p:spPr>
          <a:xfrm>
            <a:off x="5458968" y="2935224"/>
            <a:ext cx="3337560" cy="457200"/>
          </a:xfrm>
          <a:prstGeom prst="rect">
            <a:avLst/>
          </a:prstGeom>
          <a:noFill/>
          <a:ln/>
        </p:spPr>
        <p:txBody>
          <a:bodyPr wrap="square" lIns="0" tIns="0" rIns="0" bIns="0" rtlCol="0" anchor="ctr"/>
          <a:lstStyle/>
          <a:p>
            <a:pPr indent="0" marL="0">
              <a:buNone/>
            </a:pPr>
            <a:r>
              <a:rPr lang="en-US" sz="900" dirty="0">
                <a:solidFill>
                  <a:srgbClr val="93C5FD"/>
                </a:solidFill>
                <a:latin typeface="Calibri" pitchFamily="34" charset="0"/>
                <a:ea typeface="Calibri" pitchFamily="34" charset="-122"/>
                <a:cs typeface="Calibri" pitchFamily="34" charset="-120"/>
              </a:rPr>
              <a:t>MeiliSearch indexer + pgvector ANN + hybrid fusion</a:t>
            </a:r>
            <a:endParaRPr lang="en-US" sz="900" dirty="0"/>
          </a:p>
        </p:txBody>
      </p:sp>
      <p:sp>
        <p:nvSpPr>
          <p:cNvPr id="25" name="Shape 23"/>
          <p:cNvSpPr/>
          <p:nvPr/>
        </p:nvSpPr>
        <p:spPr>
          <a:xfrm>
            <a:off x="457200" y="3648456"/>
            <a:ext cx="4160520" cy="987552"/>
          </a:xfrm>
          <a:prstGeom prst="roundRect">
            <a:avLst>
              <a:gd name="adj" fmla="val 9259"/>
            </a:avLst>
          </a:prstGeom>
          <a:solidFill>
            <a:srgbClr val="FFFFFF">
              <a:alpha val="8000"/>
            </a:srgbClr>
          </a:solidFill>
          <a:ln w="12700">
            <a:solidFill>
              <a:srgbClr val="FFFFFF">
                <a:alpha val="25000"/>
              </a:srgbClr>
            </a:solidFill>
            <a:prstDash val="solid"/>
          </a:ln>
        </p:spPr>
      </p:sp>
      <p:sp>
        <p:nvSpPr>
          <p:cNvPr id="26" name="Shape 24"/>
          <p:cNvSpPr/>
          <p:nvPr/>
        </p:nvSpPr>
        <p:spPr>
          <a:xfrm>
            <a:off x="594360" y="3922776"/>
            <a:ext cx="402336" cy="402336"/>
          </a:xfrm>
          <a:prstGeom prst="ellipse">
            <a:avLst/>
          </a:prstGeom>
          <a:solidFill>
            <a:srgbClr val="15803D"/>
          </a:solidFill>
          <a:ln w="12700">
            <a:solidFill>
              <a:srgbClr val="15803D"/>
            </a:solidFill>
            <a:prstDash val="solid"/>
          </a:ln>
        </p:spPr>
      </p:sp>
      <p:sp>
        <p:nvSpPr>
          <p:cNvPr id="27" name="Text 25"/>
          <p:cNvSpPr/>
          <p:nvPr/>
        </p:nvSpPr>
        <p:spPr>
          <a:xfrm>
            <a:off x="594360" y="3941064"/>
            <a:ext cx="402336"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115568" y="3758184"/>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RAG chat engine + UI</a:t>
            </a:r>
            <a:endParaRPr lang="en-US" sz="1100" dirty="0"/>
          </a:p>
        </p:txBody>
      </p:sp>
      <p:sp>
        <p:nvSpPr>
          <p:cNvPr id="29" name="Text 27"/>
          <p:cNvSpPr/>
          <p:nvPr/>
        </p:nvSpPr>
        <p:spPr>
          <a:xfrm>
            <a:off x="1115568" y="4050792"/>
            <a:ext cx="3337560" cy="457200"/>
          </a:xfrm>
          <a:prstGeom prst="rect">
            <a:avLst/>
          </a:prstGeom>
          <a:noFill/>
          <a:ln/>
        </p:spPr>
        <p:txBody>
          <a:bodyPr wrap="square" lIns="0" tIns="0" rIns="0" bIns="0" rtlCol="0" anchor="ctr"/>
          <a:lstStyle/>
          <a:p>
            <a:pPr indent="0" marL="0">
              <a:buNone/>
            </a:pPr>
            <a:r>
              <a:rPr lang="en-US" sz="900" dirty="0">
                <a:solidFill>
                  <a:srgbClr val="93C5FD"/>
                </a:solidFill>
                <a:latin typeface="Calibri" pitchFamily="34" charset="0"/>
                <a:ea typeface="Calibri" pitchFamily="34" charset="-122"/>
                <a:cs typeface="Calibri" pitchFamily="34" charset="-120"/>
              </a:rPr>
              <a:t>Query expansion, retrieval, LLM call, citation, chat thread</a:t>
            </a:r>
            <a:endParaRPr lang="en-US" sz="900" dirty="0"/>
          </a:p>
        </p:txBody>
      </p:sp>
      <p:sp>
        <p:nvSpPr>
          <p:cNvPr id="30" name="Shape 28"/>
          <p:cNvSpPr/>
          <p:nvPr/>
        </p:nvSpPr>
        <p:spPr>
          <a:xfrm>
            <a:off x="4800600" y="3648456"/>
            <a:ext cx="4160520" cy="987552"/>
          </a:xfrm>
          <a:prstGeom prst="roundRect">
            <a:avLst>
              <a:gd name="adj" fmla="val 9259"/>
            </a:avLst>
          </a:prstGeom>
          <a:solidFill>
            <a:srgbClr val="FFFFFF">
              <a:alpha val="8000"/>
            </a:srgbClr>
          </a:solidFill>
          <a:ln w="12700">
            <a:solidFill>
              <a:srgbClr val="FFFFFF">
                <a:alpha val="25000"/>
              </a:srgbClr>
            </a:solidFill>
            <a:prstDash val="solid"/>
          </a:ln>
        </p:spPr>
      </p:sp>
      <p:sp>
        <p:nvSpPr>
          <p:cNvPr id="31" name="Shape 29"/>
          <p:cNvSpPr/>
          <p:nvPr/>
        </p:nvSpPr>
        <p:spPr>
          <a:xfrm>
            <a:off x="4937760" y="3922776"/>
            <a:ext cx="402336" cy="402336"/>
          </a:xfrm>
          <a:prstGeom prst="ellipse">
            <a:avLst/>
          </a:prstGeom>
          <a:solidFill>
            <a:srgbClr val="E11D48"/>
          </a:solidFill>
          <a:ln w="12700">
            <a:solidFill>
              <a:srgbClr val="E11D48"/>
            </a:solidFill>
            <a:prstDash val="solid"/>
          </a:ln>
        </p:spPr>
      </p:sp>
      <p:sp>
        <p:nvSpPr>
          <p:cNvPr id="32" name="Text 30"/>
          <p:cNvSpPr/>
          <p:nvPr/>
        </p:nvSpPr>
        <p:spPr>
          <a:xfrm>
            <a:off x="4937760" y="3941064"/>
            <a:ext cx="402336"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5458968" y="3758184"/>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Workflow + ERP extensions</a:t>
            </a:r>
            <a:endParaRPr lang="en-US" sz="1100" dirty="0"/>
          </a:p>
        </p:txBody>
      </p:sp>
      <p:sp>
        <p:nvSpPr>
          <p:cNvPr id="34" name="Text 32"/>
          <p:cNvSpPr/>
          <p:nvPr/>
        </p:nvSpPr>
        <p:spPr>
          <a:xfrm>
            <a:off x="5458968" y="4050792"/>
            <a:ext cx="3337560" cy="457200"/>
          </a:xfrm>
          <a:prstGeom prst="rect">
            <a:avLst/>
          </a:prstGeom>
          <a:noFill/>
          <a:ln/>
        </p:spPr>
        <p:txBody>
          <a:bodyPr wrap="square" lIns="0" tIns="0" rIns="0" bIns="0" rtlCol="0" anchor="ctr"/>
          <a:lstStyle/>
          <a:p>
            <a:pPr indent="0" marL="0">
              <a:buNone/>
            </a:pPr>
            <a:r>
              <a:rPr lang="en-US" sz="900" dirty="0">
                <a:solidFill>
                  <a:srgbClr val="93C5FD"/>
                </a:solidFill>
                <a:latin typeface="Calibri" pitchFamily="34" charset="0"/>
                <a:ea typeface="Calibri" pitchFamily="34" charset="-122"/>
                <a:cs typeface="Calibri" pitchFamily="34" charset="-120"/>
              </a:rPr>
              <a:t>AI routing, SLA timers, ERP matching, mandatory gate</a:t>
            </a:r>
            <a:endParaRPr lang="en-US" sz="900" dirty="0"/>
          </a:p>
        </p:txBody>
      </p:sp>
      <p:sp>
        <p:nvSpPr>
          <p:cNvPr id="35" name="Text 33"/>
          <p:cNvSpPr/>
          <p:nvPr/>
        </p:nvSpPr>
        <p:spPr>
          <a:xfrm>
            <a:off x="548640" y="4663440"/>
            <a:ext cx="8046720" cy="274320"/>
          </a:xfrm>
          <a:prstGeom prst="rect">
            <a:avLst/>
          </a:prstGeom>
          <a:noFill/>
          <a:ln/>
        </p:spPr>
        <p:txBody>
          <a:bodyPr wrap="square" rtlCol="0" anchor="ctr"/>
          <a:lstStyle/>
          <a:p>
            <a:pPr indent="0" marL="0">
              <a:buNone/>
            </a:pPr>
            <a:r>
              <a:rPr lang="en-US" sz="1000" i="1" dirty="0">
                <a:solidFill>
                  <a:srgbClr val="7DD3FC"/>
                </a:solidFill>
                <a:latin typeface="Calibri" pitchFamily="34" charset="0"/>
                <a:ea typeface="Calibri" pitchFamily="34" charset="-122"/>
                <a:cs typeface="Calibri" pitchFamily="34" charset="-120"/>
              </a:rPr>
              <a:t>Full feature matrix + OSS inventory in the Excel file delivered alongside this deck.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GDoc AI — System Overview</dc:title>
  <dc:subject>PptxGenJS Presentation</dc:subject>
  <dc:creator>changAI Team</dc:creator>
  <cp:lastModifiedBy>changAI Team</cp:lastModifiedBy>
  <cp:revision>1</cp:revision>
  <dcterms:created xsi:type="dcterms:W3CDTF">2026-06-12T14:56:32Z</dcterms:created>
  <dcterms:modified xsi:type="dcterms:W3CDTF">2026-06-12T14:56:32Z</dcterms:modified>
</cp:coreProperties>
</file>